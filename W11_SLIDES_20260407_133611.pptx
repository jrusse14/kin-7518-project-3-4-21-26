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759" y="5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6976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Welcome to W11. Tonight we are online via Zoom so I can demo directly from my daily setup. This session is entirely about Git and GitHub as a collaboration tool for your P3 project. By the end of tonight, you will know the full workflow your group needs.</a:t>
            </a:r>
          </a:p>
          <a:p>
            <a:endParaRPr lang="zh-CN" dirty="0"/>
          </a:p>
          <a:p>
            <a:r>
              <a:rPr lang="zh-CN" dirty="0"/>
              <a:t>Key points: ① Session is online, ~90-105 min ② Focused entirely on Git/GitHub for P3 ③ Deliverable: public repo link by Friday April 10</a:t>
            </a:r>
          </a:p>
          <a:p>
            <a:r>
              <a:rPr lang="zh-CN" dirty="0"/>
              <a:t>Duration: 1 minute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Let me show you what we are covering tonight.</a:t>
            </a:r>
          </a:p>
          <a:p>
            <a:endParaRPr lang="zh-CN" dirty="0"/>
          </a:p>
          <a:p>
            <a:r>
              <a:rPr lang="zh-CN" dirty="0"/>
              <a:t>You watched a 17-minute video before class. We will start by debriefing that, then move through the concepts, see the collaboration workflow, watch me build a P3 repo live, and end with what your group needs to do this week. Six blocks total.</a:t>
            </a:r>
          </a:p>
          <a:p>
            <a:endParaRPr lang="zh-CN" dirty="0"/>
          </a:p>
          <a:p>
            <a:r>
              <a:rPr lang="zh-CN" dirty="0"/>
              <a:t>On the right side you can see the learning progression. W9 gave you the concepts. The video showed you individual workflows. Tonight we add the team layer: branching, pull requests, and a public repo as your portfolio.</a:t>
            </a:r>
          </a:p>
          <a:p>
            <a:endParaRPr lang="zh-CN" dirty="0"/>
          </a:p>
          <a:p>
            <a:r>
              <a:rPr lang="zh-CN" dirty="0"/>
              <a:t>Key points: ① Builds on W9 concepts and pre-watch video ② Tonight = team collaboration layer ③ Six blocks, demo-heavy</a:t>
            </a:r>
          </a:p>
          <a:p>
            <a:r>
              <a:rPr lang="zh-CN" dirty="0"/>
              <a:t>Duration: 2 minutes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Let's start with a quick refresh. What is Git?</a:t>
            </a:r>
          </a:p>
          <a:p>
            <a:endParaRPr lang="zh-CN" dirty="0"/>
          </a:p>
          <a:p>
            <a:r>
              <a:rPr lang="zh-CN" dirty="0"/>
              <a:t>Git is game film for your projects. We used this analogy in Week 9. Every change is recorded, like every play on tape. You can rewind to any version. Commit messages are coaching notes. And just like game film, old versions are never erased; you just add new footage.</a:t>
            </a:r>
          </a:p>
          <a:p>
            <a:endParaRPr lang="zh-CN" dirty="0"/>
          </a:p>
          <a:p>
            <a:r>
              <a:rPr lang="zh-CN" dirty="0"/>
              <a:t>[Interactive] Quick check in the chat: what is one thing from the video that stuck with you?</a:t>
            </a:r>
          </a:p>
          <a:p>
            <a:endParaRPr lang="zh-CN" dirty="0"/>
          </a:p>
          <a:p>
            <a:r>
              <a:rPr lang="zh-CN" dirty="0"/>
              <a:t>Key points: ① Git tracks every change ② Nothing is ever lost ③ Game film analogy from W9</a:t>
            </a:r>
          </a:p>
          <a:p>
            <a:r>
              <a:rPr lang="zh-CN" dirty="0"/>
              <a:t>Duration: 3 minutes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Git runs on your computer. GitHub puts it online.</a:t>
            </a:r>
          </a:p>
          <a:p>
            <a:endParaRPr lang="zh-CN" dirty="0"/>
          </a:p>
          <a:p>
            <a:r>
              <a:rPr lang="zh-CN" dirty="0"/>
              <a:t>GitHub is the platform that hosts your repos so your whole team can see them. It is not just for developers. 300 million repositories worldwide include datasets, documentation, websites, and portfolios. The three things it gives your group: collaboration without conflicts, review before merging, and a public presence you can show anyone.</a:t>
            </a:r>
          </a:p>
          <a:p>
            <a:endParaRPr lang="zh-CN" dirty="0"/>
          </a:p>
          <a:p>
            <a:r>
              <a:rPr lang="zh-CN" dirty="0"/>
              <a:t>One important distinction: Git is the tool, GitHub is the platform. Git runs locally. GitHub lives online. You will use both.</a:t>
            </a:r>
          </a:p>
          <a:p>
            <a:endParaRPr lang="zh-CN" dirty="0"/>
          </a:p>
          <a:p>
            <a:r>
              <a:rPr lang="zh-CN" dirty="0"/>
              <a:t>Key points: ① GitHub = online platform for repos ② Not just for developers ③ Git (local tool) vs GitHub (online platform)</a:t>
            </a:r>
          </a:p>
          <a:p>
            <a:r>
              <a:rPr lang="zh-CN" dirty="0"/>
              <a:t>Duration: 3 minutes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The video gave you four concepts. Let me map them to what you already know.</a:t>
            </a:r>
          </a:p>
          <a:p>
            <a:endParaRPr lang="zh-CN" dirty="0"/>
          </a:p>
          <a:p>
            <a:r>
              <a:rPr lang="zh-CN" dirty="0"/>
              <a:t>Init is creating a project folder. Commit is saving a checkpoint. Branch is copying something to try a new idea. Push is uploading to share. These are the same four things you do on every project, just with different names. And you do not need to memorize commands. Your IDE handles the commands. You just need to know when to use each one.</a:t>
            </a:r>
          </a:p>
          <a:p>
            <a:endParaRPr lang="zh-CN" dirty="0"/>
          </a:p>
          <a:p>
            <a:r>
              <a:rPr lang="zh-CN" dirty="0"/>
              <a:t>Key points: ① Init, Commit, Branch, Push ② Maps to familiar workflows ③ IDE handles commands</a:t>
            </a:r>
          </a:p>
          <a:p>
            <a:r>
              <a:rPr lang="zh-CN" dirty="0"/>
              <a:t>Duration: 2 minutes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So why does this matter for your P3 project?</a:t>
            </a:r>
          </a:p>
          <a:p>
            <a:endParaRPr lang="zh-CN" dirty="0"/>
          </a:p>
          <a:p>
            <a:r>
              <a:rPr lang="zh-CN" dirty="0"/>
              <a:t>[Pause] Look at the left side. This is what happens without Git. Final Report v3 REAL FINAL dot docx. Four copies, nobody knows which is current. One person does all the editing because it is too risky to let multiple people touch the same file. Someone accidentally overwrites your section.</a:t>
            </a:r>
          </a:p>
          <a:p>
            <a:endParaRPr lang="zh-CN" dirty="0"/>
          </a:p>
          <a:p>
            <a:r>
              <a:rPr lang="zh-CN" dirty="0"/>
              <a:t>Now look at the right side. With Git, there is one repo, one history. Everyone works simultaneously on their own branches. Changes are reviewed before merging. Nothing is ever lost. This is the difference between chaos and control.</a:t>
            </a:r>
          </a:p>
          <a:p>
            <a:endParaRPr lang="zh-CN" dirty="0"/>
          </a:p>
          <a:p>
            <a:r>
              <a:rPr lang="zh-CN" dirty="0"/>
              <a:t>Key points: ① Without Git = version chaos ② With Git = one history, everyone works in parallel ③ P3 has 3-4 people; you need this</a:t>
            </a:r>
          </a:p>
          <a:p>
            <a:r>
              <a:rPr lang="zh-CN" dirty="0"/>
              <a:t>Duration: 3 minutes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Here is exactly how your group will work on P3.</a:t>
            </a:r>
          </a:p>
          <a:p>
            <a:endParaRPr lang="zh-CN" dirty="0"/>
          </a:p>
          <a:p>
            <a:r>
              <a:rPr lang="zh-CN" dirty="0"/>
              <a:t>Two roles. The Manager owns the main branch, reviews pull requests, and merges approved work. Think of the manager as the head coach deciding what goes into the game plan. Everyone else, including the manager, works on their own branch. You push to GitHub and create a pull request when your work is ready.</a:t>
            </a:r>
          </a:p>
          <a:p>
            <a:endParaRPr lang="zh-CN" dirty="0"/>
          </a:p>
          <a:p>
            <a:r>
              <a:rPr lang="zh-CN" dirty="0"/>
              <a:t>Look at the diagram. Main stays stable. Feature branches diverge, do work, and merge back through PR gates. That is the pattern.</a:t>
            </a:r>
          </a:p>
          <a:p>
            <a:endParaRPr lang="zh-CN" dirty="0"/>
          </a:p>
          <a:p>
            <a:r>
              <a:rPr lang="zh-CN" dirty="0"/>
              <a:t>Key points: ① Manager = gatekeeper of main ② Members work on branches ③ PRs are the merge gate</a:t>
            </a:r>
          </a:p>
          <a:p>
            <a:r>
              <a:rPr lang="zh-CN" dirty="0"/>
              <a:t>Duration: 3 minutes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is the one rule I need you to remember.</a:t>
            </a:r>
          </a:p>
          <a:p>
            <a:endParaRPr lang="zh-CN" dirty="0"/>
          </a:p>
          <a:p>
            <a:r>
              <a:rPr lang="zh-CN" dirty="0"/>
              <a:t>[Pause] Never commit directly to main.</a:t>
            </a:r>
          </a:p>
          <a:p>
            <a:endParaRPr lang="zh-CN" dirty="0"/>
          </a:p>
          <a:p>
            <a:r>
              <a:rPr lang="zh-CN" dirty="0"/>
              <a:t>Main is the game plan. Branches are practice. You do not put an untested play into the game plan. Always create a branch first. Do your work there. Then submit a pull request for the manager to review and merge. This keeps main in a trustworthy state at all times.</a:t>
            </a:r>
          </a:p>
          <a:p>
            <a:endParaRPr lang="zh-CN" dirty="0"/>
          </a:p>
          <a:p>
            <a:r>
              <a:rPr lang="zh-CN" dirty="0"/>
              <a:t>Key points: ① Never commit directly to main ② Branch first, then PR ③ Main = game plan, branches = practice</a:t>
            </a:r>
          </a:p>
          <a:p>
            <a:r>
              <a:rPr lang="zh-CN" dirty="0"/>
              <a:t>Duration: 2 minutes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Let me show you what branching actually looks like.</a:t>
            </a:r>
          </a:p>
          <a:p>
            <a:endParaRPr lang="zh-CN" dirty="0"/>
          </a:p>
          <a:p>
            <a:r>
              <a:rPr lang="zh-CN" dirty="0"/>
              <a:t>On main, you have your README and gitignore. Clean, minimal. When someone creates a branch, they can add files, like an analysis markdown or a visualization, without touching main at all. Look at the comparison: main has two files, the branch has four. Main is untouched.</a:t>
            </a:r>
          </a:p>
          <a:p>
            <a:endParaRPr lang="zh-CN" dirty="0"/>
          </a:p>
          <a:p>
            <a:r>
              <a:rPr lang="zh-CN" dirty="0"/>
              <a:t>If something goes wrong on the branch, you delete it and start over. Main is safe. That is the whole point.</a:t>
            </a:r>
          </a:p>
          <a:p>
            <a:endParaRPr lang="zh-CN" dirty="0"/>
          </a:p>
          <a:p>
            <a:r>
              <a:rPr lang="zh-CN" dirty="0"/>
              <a:t>[Interactive] I am about to demo this live. Any questions before we switch to my IDE?</a:t>
            </a:r>
          </a:p>
          <a:p>
            <a:endParaRPr lang="zh-CN" dirty="0"/>
          </a:p>
          <a:p>
            <a:r>
              <a:rPr lang="zh-CN" dirty="0"/>
              <a:t>Key points: ① Branch adds files without touching main ② If the branch goes wrong, main is safe ③ Dashed line = PR merge path</a:t>
            </a:r>
          </a:p>
          <a:p>
            <a:r>
              <a:rPr lang="zh-CN" dirty="0"/>
              <a:t>Duration: 3 minutes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When the branch work is ready, you do not just merge it yourself. You create a Pull Request.</a:t>
            </a:r>
          </a:p>
          <a:p>
            <a:endParaRPr lang="zh-CN" dirty="0"/>
          </a:p>
          <a:p>
            <a:r>
              <a:rPr lang="zh-CN" dirty="0"/>
              <a:t>Three steps. First, you push your branch and open a PR on GitHub. You describe what you did. Second, the manager reads the diff. Green lines are additions, red lines are removals. They can add comments asking questions. Third, the manager approves and merges. Now the branch work is part of main.</a:t>
            </a:r>
          </a:p>
          <a:p>
            <a:endParaRPr lang="zh-CN" dirty="0"/>
          </a:p>
          <a:p>
            <a:r>
              <a:rPr lang="zh-CN" dirty="0"/>
              <a:t>No one merges their own work without review. The manager is the gatekeeper. And because everything happens on GitHub, there is a written record of every decision.</a:t>
            </a:r>
          </a:p>
          <a:p>
            <a:endParaRPr lang="zh-CN" dirty="0"/>
          </a:p>
          <a:p>
            <a:r>
              <a:rPr lang="zh-CN" dirty="0"/>
              <a:t>Key points: ① Create PR → Review diff → Merge ② Green = added, red = removed ③ Manager is gatekeeper</a:t>
            </a:r>
          </a:p>
          <a:p>
            <a:r>
              <a:rPr lang="zh-CN" dirty="0"/>
              <a:t>Duration: 3 minutes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Let me put the whole cycle together.</a:t>
            </a:r>
          </a:p>
          <a:p>
            <a:endParaRPr lang="zh-CN" dirty="0"/>
          </a:p>
          <a:p>
            <a:r>
              <a:rPr lang="zh-CN" dirty="0"/>
              <a:t>Seven steps. Pull to get the latest. Branch to create your workspace. Work to do your edits. Commit to save checkpoints. Push to send your branch to GitHub. PR to request a review. Merge when the manager approves.</a:t>
            </a:r>
          </a:p>
          <a:p>
            <a:endParaRPr lang="zh-CN" dirty="0"/>
          </a:p>
          <a:p>
            <a:r>
              <a:rPr lang="zh-CN" dirty="0"/>
              <a:t>Steps one through six are everyone's job. Step seven is manager only.</a:t>
            </a:r>
          </a:p>
          <a:p>
            <a:endParaRPr lang="zh-CN" dirty="0"/>
          </a:p>
          <a:p>
            <a:r>
              <a:rPr lang="zh-CN" dirty="0"/>
              <a:t>Two things to remember: start every session with Pull. End every session with Push. That keeps everyone in sync.</a:t>
            </a:r>
          </a:p>
          <a:p>
            <a:endParaRPr lang="zh-CN" dirty="0"/>
          </a:p>
          <a:p>
            <a:r>
              <a:rPr lang="zh-CN" dirty="0"/>
              <a:t>Key points: ① 7-step cycle: pull, branch, work, commit, push, PR, merge ② Start with Pull, end with Push ③ Steps 1-6 everyone, step 7 manager</a:t>
            </a:r>
          </a:p>
          <a:p>
            <a:r>
              <a:rPr lang="zh-CN" dirty="0"/>
              <a:t>Duration: 3 minutes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Now let's talk about what actually goes in your repo.</a:t>
            </a:r>
          </a:p>
          <a:p>
            <a:endParaRPr lang="zh-CN" dirty="0"/>
          </a:p>
          <a:p>
            <a:r>
              <a:rPr lang="zh-CN" dirty="0"/>
              <a:t>Left side: do commit code, markdown, images, and report drafts. These are text-based files where git can show you line-by-line changes. Right side: do not commit data files. No Excel, no CSV, no JSON. A 50 megabyte spreadsheet bloats the repo and does not show a useful diff. Data stays on your local machine or shared drive.</a:t>
            </a:r>
          </a:p>
          <a:p>
            <a:endParaRPr lang="zh-CN" dirty="0"/>
          </a:p>
          <a:p>
            <a:r>
              <a:rPr lang="zh-CN" dirty="0"/>
              <a:t>Your gitignore file handles this automatically. You set it up once and it blocks excluded file types from ever being committed by accident.</a:t>
            </a:r>
          </a:p>
          <a:p>
            <a:endParaRPr lang="zh-CN" dirty="0"/>
          </a:p>
          <a:p>
            <a:r>
              <a:rPr lang="zh-CN" dirty="0"/>
              <a:t>Key points: ① Commit: code, markdown, images ② Do not commit: data files ③ .gitignore blocks excluded types automatically</a:t>
            </a:r>
          </a:p>
          <a:p>
            <a:r>
              <a:rPr lang="zh-CN" dirty="0"/>
              <a:t>Duration: 3 minutes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Here is what I recommend for your folder structure.</a:t>
            </a:r>
          </a:p>
          <a:p>
            <a:endParaRPr lang="zh-CN" dirty="0"/>
          </a:p>
          <a:p>
            <a:r>
              <a:rPr lang="zh-CN" dirty="0"/>
              <a:t>Five items. README at the root. Code folder. Visualizations folder. Report folder. And the gitignore. Keep it simple. The README is the front page. Anyone who visits your repo sees it first. The code folder holds your analysis. Visualizations holds your figures. Report holds your drafts.</a:t>
            </a:r>
          </a:p>
          <a:p>
            <a:endParaRPr lang="zh-CN" dirty="0"/>
          </a:p>
          <a:p>
            <a:r>
              <a:rPr lang="zh-CN" dirty="0"/>
              <a:t>This repo is public. Treat it like a portfolio piece. Not because it needs to be perfect, but because it should be organized, documented, and honest about what you did.</a:t>
            </a:r>
          </a:p>
          <a:p>
            <a:endParaRPr lang="zh-CN" dirty="0"/>
          </a:p>
          <a:p>
            <a:r>
              <a:rPr lang="zh-CN" dirty="0"/>
              <a:t>Key points: ① Simple structure: README, code, visualizations, report, .gitignore ② README is the front page ③ Public repo = professional portfolio</a:t>
            </a:r>
          </a:p>
          <a:p>
            <a:r>
              <a:rPr lang="zh-CN" dirty="0"/>
              <a:t>Duration: 3 minutes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When I open your repo on Friday, here is what I am looking at.</a:t>
            </a:r>
          </a:p>
          <a:p>
            <a:endParaRPr lang="zh-CN" dirty="0"/>
          </a:p>
          <a:p>
            <a:r>
              <a:rPr lang="zh-CN" dirty="0"/>
              <a:t>Four things. First, the README: does it clearly state your project, team, and research questions? Second, the analysis: is the code documented and are the outputs interpretable? Third, commit history: can I see contributions from multiple team members with meaningful messages? And fourth, organization: is it clean enough that someone outside your group could navigate it?</a:t>
            </a:r>
          </a:p>
          <a:p>
            <a:endParaRPr lang="zh-CN" dirty="0"/>
          </a:p>
          <a:p>
            <a:r>
              <a:rPr lang="zh-CN" dirty="0"/>
              <a:t>Your repo link is what I receive on Friday. Make it count.</a:t>
            </a:r>
          </a:p>
          <a:p>
            <a:endParaRPr lang="zh-CN" dirty="0"/>
          </a:p>
          <a:p>
            <a:r>
              <a:rPr lang="zh-CN" dirty="0"/>
              <a:t>Key points: ① README clarity ② Analysis documentation ③ Multi-member commit history ④ Clean organization</a:t>
            </a:r>
          </a:p>
          <a:p>
            <a:r>
              <a:rPr lang="zh-CN" dirty="0"/>
              <a:t>Duration: 2 minutes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Let me leave you with the deliverable and some resources.</a:t>
            </a:r>
          </a:p>
          <a:p>
            <a:endParaRPr lang="zh-CN" dirty="0"/>
          </a:p>
          <a:p>
            <a:r>
              <a:rPr lang="zh-CN" dirty="0"/>
              <a:t>By Friday, April 10, email me your public GitHub repo link. CC all group members. Your P3 plan lives in the repo, not as a separate email attachment. Do not upload data files.</a:t>
            </a:r>
          </a:p>
          <a:p>
            <a:endParaRPr lang="zh-CN" dirty="0"/>
          </a:p>
          <a:p>
            <a:r>
              <a:rPr lang="zh-CN" dirty="0"/>
              <a:t>Three resources if you want to go deeper. Re-watch the Aniket Panjwani video. Read the first three chapters of the Pro Git book, which is free online. And check GitHub Docs for step-by-step guides on anything specific.</a:t>
            </a:r>
          </a:p>
          <a:p>
            <a:endParaRPr lang="zh-CN" dirty="0"/>
          </a:p>
          <a:p>
            <a:r>
              <a:rPr lang="zh-CN" dirty="0"/>
              <a:t>One last thing. If you found the tools and skills we use in this class useful, I built a public skills repo on GitHub. Star it if you want to support the project. The link is on screen.</a:t>
            </a:r>
          </a:p>
          <a:p>
            <a:endParaRPr lang="zh-CN" dirty="0"/>
          </a:p>
          <a:p>
            <a:r>
              <a:rPr lang="zh-CN" dirty="0"/>
              <a:t>Key points: ① Repo link by Friday April 10 ② Plan lives in the repo ③ Star github.com/TyrealQ/q-skills</a:t>
            </a:r>
          </a:p>
          <a:p>
            <a:r>
              <a:rPr lang="zh-CN" dirty="0"/>
              <a:t>Duration: 2 minutes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A1A2E"/>
              </a:gs>
              <a:gs pos="50000">
                <a:srgbClr val="16213E"/>
              </a:gs>
              <a:gs pos="100000">
                <a:srgbClr val="0F0F1A"/>
              </a:gs>
            </a:gsLst>
            <a:lin ang="2700000" scaled="1"/>
          </a:gradFill>
          <a:ln>
            <a:noFill/>
          </a:ln>
        </p:spPr>
        <p:txBody>
          <a:bodyPr/>
          <a:lstStyle/>
          <a:p>
            <a:endParaRPr lang="en-US"/>
          </a:p>
        </p:txBody>
      </p:sp>
      <p:sp>
        <p:nvSpPr>
          <p:cNvPr id="3" name="Line 3"/>
          <p:cNvSpPr/>
          <p:nvPr/>
        </p:nvSpPr>
        <p:spPr>
          <a:xfrm>
            <a:off x="0" y="1714500"/>
            <a:ext cx="12192000" cy="9525"/>
          </a:xfrm>
          <a:custGeom>
            <a:avLst/>
            <a:gdLst/>
            <a:ahLst/>
            <a:cxnLst/>
            <a:rect l="l" t="t" r="r" b="b"/>
            <a:pathLst>
              <a:path w="12192000" h="9525">
                <a:moveTo>
                  <a:pt x="0" y="0"/>
                </a:moveTo>
                <a:lnTo>
                  <a:pt x="12192000" y="0"/>
                </a:lnTo>
              </a:path>
            </a:pathLst>
          </a:custGeom>
          <a:noFill/>
          <a:ln w="9525">
            <a:solidFill>
              <a:srgbClr val="FFFFFF">
                <a:alpha val="3000"/>
              </a:srgbClr>
            </a:solidFill>
          </a:ln>
        </p:spPr>
        <p:txBody>
          <a:bodyPr/>
          <a:lstStyle/>
          <a:p>
            <a:endParaRPr lang="en-US"/>
          </a:p>
        </p:txBody>
      </p:sp>
      <p:sp>
        <p:nvSpPr>
          <p:cNvPr id="4" name="Line 4"/>
          <p:cNvSpPr/>
          <p:nvPr/>
        </p:nvSpPr>
        <p:spPr>
          <a:xfrm>
            <a:off x="0" y="3429000"/>
            <a:ext cx="12192000" cy="9525"/>
          </a:xfrm>
          <a:custGeom>
            <a:avLst/>
            <a:gdLst/>
            <a:ahLst/>
            <a:cxnLst/>
            <a:rect l="l" t="t" r="r" b="b"/>
            <a:pathLst>
              <a:path w="12192000" h="9525">
                <a:moveTo>
                  <a:pt x="0" y="0"/>
                </a:moveTo>
                <a:lnTo>
                  <a:pt x="12192000" y="0"/>
                </a:lnTo>
              </a:path>
            </a:pathLst>
          </a:custGeom>
          <a:noFill/>
          <a:ln w="9525">
            <a:solidFill>
              <a:srgbClr val="FFFFFF">
                <a:alpha val="3000"/>
              </a:srgbClr>
            </a:solidFill>
          </a:ln>
        </p:spPr>
        <p:txBody>
          <a:bodyPr/>
          <a:lstStyle/>
          <a:p>
            <a:endParaRPr lang="en-US"/>
          </a:p>
        </p:txBody>
      </p:sp>
      <p:sp>
        <p:nvSpPr>
          <p:cNvPr id="5" name="Line 5"/>
          <p:cNvSpPr/>
          <p:nvPr/>
        </p:nvSpPr>
        <p:spPr>
          <a:xfrm>
            <a:off x="0" y="5143500"/>
            <a:ext cx="12192000" cy="9525"/>
          </a:xfrm>
          <a:custGeom>
            <a:avLst/>
            <a:gdLst/>
            <a:ahLst/>
            <a:cxnLst/>
            <a:rect l="l" t="t" r="r" b="b"/>
            <a:pathLst>
              <a:path w="12192000" h="9525">
                <a:moveTo>
                  <a:pt x="0" y="0"/>
                </a:moveTo>
                <a:lnTo>
                  <a:pt x="12192000" y="0"/>
                </a:lnTo>
              </a:path>
            </a:pathLst>
          </a:custGeom>
          <a:noFill/>
          <a:ln w="9525">
            <a:solidFill>
              <a:srgbClr val="FFFFFF">
                <a:alpha val="3000"/>
              </a:srgbClr>
            </a:solidFill>
          </a:ln>
        </p:spPr>
        <p:txBody>
          <a:bodyPr/>
          <a:lstStyle/>
          <a:p>
            <a:endParaRPr lang="en-US"/>
          </a:p>
        </p:txBody>
      </p:sp>
      <p:sp>
        <p:nvSpPr>
          <p:cNvPr id="6" name="Line 6"/>
          <p:cNvSpPr/>
          <p:nvPr/>
        </p:nvSpPr>
        <p:spPr>
          <a:xfrm>
            <a:off x="3048000" y="0"/>
            <a:ext cx="9525" cy="6858000"/>
          </a:xfrm>
          <a:custGeom>
            <a:avLst/>
            <a:gdLst/>
            <a:ahLst/>
            <a:cxnLst/>
            <a:rect l="l" t="t" r="r" b="b"/>
            <a:pathLst>
              <a:path w="9525" h="6858000">
                <a:moveTo>
                  <a:pt x="0" y="0"/>
                </a:moveTo>
                <a:lnTo>
                  <a:pt x="0" y="6858000"/>
                </a:lnTo>
              </a:path>
            </a:pathLst>
          </a:custGeom>
          <a:noFill/>
          <a:ln w="9525">
            <a:solidFill>
              <a:srgbClr val="FFFFFF">
                <a:alpha val="3000"/>
              </a:srgbClr>
            </a:solidFill>
          </a:ln>
        </p:spPr>
        <p:txBody>
          <a:bodyPr/>
          <a:lstStyle/>
          <a:p>
            <a:endParaRPr lang="en-US"/>
          </a:p>
        </p:txBody>
      </p:sp>
      <p:sp>
        <p:nvSpPr>
          <p:cNvPr id="7" name="Line 7"/>
          <p:cNvSpPr/>
          <p:nvPr/>
        </p:nvSpPr>
        <p:spPr>
          <a:xfrm>
            <a:off x="6096000" y="0"/>
            <a:ext cx="9525" cy="6858000"/>
          </a:xfrm>
          <a:custGeom>
            <a:avLst/>
            <a:gdLst/>
            <a:ahLst/>
            <a:cxnLst/>
            <a:rect l="l" t="t" r="r" b="b"/>
            <a:pathLst>
              <a:path w="9525" h="6858000">
                <a:moveTo>
                  <a:pt x="0" y="0"/>
                </a:moveTo>
                <a:lnTo>
                  <a:pt x="0" y="6858000"/>
                </a:lnTo>
              </a:path>
            </a:pathLst>
          </a:custGeom>
          <a:noFill/>
          <a:ln w="9525">
            <a:solidFill>
              <a:srgbClr val="FFFFFF">
                <a:alpha val="3000"/>
              </a:srgbClr>
            </a:solidFill>
          </a:ln>
        </p:spPr>
        <p:txBody>
          <a:bodyPr/>
          <a:lstStyle/>
          <a:p>
            <a:endParaRPr lang="en-US"/>
          </a:p>
        </p:txBody>
      </p:sp>
      <p:sp>
        <p:nvSpPr>
          <p:cNvPr id="8" name="Line 8"/>
          <p:cNvSpPr/>
          <p:nvPr/>
        </p:nvSpPr>
        <p:spPr>
          <a:xfrm>
            <a:off x="9144000" y="0"/>
            <a:ext cx="9525" cy="6858000"/>
          </a:xfrm>
          <a:custGeom>
            <a:avLst/>
            <a:gdLst/>
            <a:ahLst/>
            <a:cxnLst/>
            <a:rect l="l" t="t" r="r" b="b"/>
            <a:pathLst>
              <a:path w="9525" h="6858000">
                <a:moveTo>
                  <a:pt x="0" y="0"/>
                </a:moveTo>
                <a:lnTo>
                  <a:pt x="0" y="6858000"/>
                </a:lnTo>
              </a:path>
            </a:pathLst>
          </a:custGeom>
          <a:noFill/>
          <a:ln w="9525">
            <a:solidFill>
              <a:srgbClr val="FFFFFF">
                <a:alpha val="3000"/>
              </a:srgbClr>
            </a:solidFill>
          </a:ln>
        </p:spPr>
        <p:txBody>
          <a:bodyPr/>
          <a:lstStyle/>
          <a:p>
            <a:endParaRPr lang="en-US"/>
          </a:p>
        </p:txBody>
      </p:sp>
      <p:sp>
        <p:nvSpPr>
          <p:cNvPr id="9" name="Ellipse 9"/>
          <p:cNvSpPr/>
          <p:nvPr/>
        </p:nvSpPr>
        <p:spPr>
          <a:xfrm>
            <a:off x="7620000" y="-476250"/>
            <a:ext cx="5715000" cy="3810000"/>
          </a:xfrm>
          <a:prstGeom prst="ellipse">
            <a:avLst/>
          </a:prstGeom>
          <a:gradFill>
            <a:gsLst>
              <a:gs pos="0">
                <a:srgbClr val="D97757">
                  <a:alpha val="30000"/>
                </a:srgbClr>
              </a:gs>
              <a:gs pos="100000">
                <a:srgbClr val="D97757">
                  <a:alpha val="0"/>
                </a:srgbClr>
              </a:gs>
            </a:gsLst>
            <a:path path="circle">
              <a:fillToRect l="50000" t="50000" r="50000" b="50000"/>
            </a:path>
          </a:gradFill>
          <a:ln>
            <a:noFill/>
          </a:ln>
        </p:spPr>
        <p:txBody>
          <a:bodyPr/>
          <a:lstStyle/>
          <a:p>
            <a:endParaRPr lang="en-US"/>
          </a:p>
        </p:txBody>
      </p:sp>
      <p:sp>
        <p:nvSpPr>
          <p:cNvPr id="10" name="Ellipse 10"/>
          <p:cNvSpPr/>
          <p:nvPr/>
        </p:nvSpPr>
        <p:spPr>
          <a:xfrm>
            <a:off x="-476250" y="3524250"/>
            <a:ext cx="4762500" cy="3429000"/>
          </a:xfrm>
          <a:prstGeom prst="ellipse">
            <a:avLst/>
          </a:prstGeom>
          <a:gradFill>
            <a:gsLst>
              <a:gs pos="0">
                <a:srgbClr val="4A90D9">
                  <a:alpha val="20000"/>
                </a:srgbClr>
              </a:gs>
              <a:gs pos="100000">
                <a:srgbClr val="4A90D9">
                  <a:alpha val="0"/>
                </a:srgbClr>
              </a:gs>
            </a:gsLst>
            <a:path path="circle">
              <a:fillToRect l="50000" t="50000" r="50000" b="50000"/>
            </a:path>
          </a:gradFill>
          <a:ln>
            <a:noFill/>
          </a:ln>
        </p:spPr>
        <p:txBody>
          <a:bodyPr/>
          <a:lstStyle/>
          <a:p>
            <a:endParaRPr lang="en-US"/>
          </a:p>
        </p:txBody>
      </p:sp>
      <p:sp>
        <p:nvSpPr>
          <p:cNvPr id="11" name="Freeform 11"/>
          <p:cNvSpPr/>
          <p:nvPr/>
        </p:nvSpPr>
        <p:spPr>
          <a:xfrm>
            <a:off x="952500" y="1587500"/>
            <a:ext cx="2381250" cy="508000"/>
          </a:xfrm>
          <a:custGeom>
            <a:avLst/>
            <a:gdLst/>
            <a:ahLst/>
            <a:cxnLst/>
            <a:rect l="l" t="t" r="r" b="b"/>
            <a:pathLst>
              <a:path w="2381250" h="508000">
                <a:moveTo>
                  <a:pt x="0" y="317500"/>
                </a:moveTo>
                <a:cubicBezTo>
                  <a:pt x="952500" y="0"/>
                  <a:pt x="1746250" y="63500"/>
                  <a:pt x="2381250" y="508000"/>
                </a:cubicBezTo>
              </a:path>
            </a:pathLst>
          </a:custGeom>
          <a:noFill/>
          <a:ln w="9525">
            <a:solidFill>
              <a:srgbClr val="4A90D9">
                <a:alpha val="40000"/>
              </a:srgbClr>
            </a:solidFill>
          </a:ln>
        </p:spPr>
        <p:txBody>
          <a:bodyPr/>
          <a:lstStyle/>
          <a:p>
            <a:endParaRPr lang="en-US"/>
          </a:p>
        </p:txBody>
      </p:sp>
      <p:sp>
        <p:nvSpPr>
          <p:cNvPr id="12" name="Freeform 12"/>
          <p:cNvSpPr/>
          <p:nvPr/>
        </p:nvSpPr>
        <p:spPr>
          <a:xfrm>
            <a:off x="3333750" y="1905000"/>
            <a:ext cx="1428750" cy="571500"/>
          </a:xfrm>
          <a:custGeom>
            <a:avLst/>
            <a:gdLst/>
            <a:ahLst/>
            <a:cxnLst/>
            <a:rect l="l" t="t" r="r" b="b"/>
            <a:pathLst>
              <a:path w="1428750" h="571500">
                <a:moveTo>
                  <a:pt x="0" y="190500"/>
                </a:moveTo>
                <a:cubicBezTo>
                  <a:pt x="635000" y="571500"/>
                  <a:pt x="1111250" y="508000"/>
                  <a:pt x="1428750" y="0"/>
                </a:cubicBezTo>
              </a:path>
            </a:pathLst>
          </a:custGeom>
          <a:noFill/>
          <a:ln w="9525">
            <a:solidFill>
              <a:srgbClr val="4A90D9">
                <a:alpha val="40000"/>
              </a:srgbClr>
            </a:solidFill>
          </a:ln>
        </p:spPr>
        <p:txBody>
          <a:bodyPr/>
          <a:lstStyle/>
          <a:p>
            <a:endParaRPr lang="en-US"/>
          </a:p>
        </p:txBody>
      </p:sp>
      <p:sp>
        <p:nvSpPr>
          <p:cNvPr id="13" name="Freeform 13"/>
          <p:cNvSpPr/>
          <p:nvPr/>
        </p:nvSpPr>
        <p:spPr>
          <a:xfrm>
            <a:off x="8572500" y="4191000"/>
            <a:ext cx="1905000" cy="381000"/>
          </a:xfrm>
          <a:custGeom>
            <a:avLst/>
            <a:gdLst/>
            <a:ahLst/>
            <a:cxnLst/>
            <a:rect l="l" t="t" r="r" b="b"/>
            <a:pathLst>
              <a:path w="1905000" h="381000">
                <a:moveTo>
                  <a:pt x="0" y="381000"/>
                </a:moveTo>
                <a:cubicBezTo>
                  <a:pt x="635000" y="0"/>
                  <a:pt x="1270000" y="0"/>
                  <a:pt x="1905000" y="381000"/>
                </a:cubicBezTo>
              </a:path>
            </a:pathLst>
          </a:custGeom>
          <a:noFill/>
          <a:ln w="9525">
            <a:solidFill>
              <a:srgbClr val="4A90D9">
                <a:alpha val="40000"/>
              </a:srgbClr>
            </a:solidFill>
          </a:ln>
        </p:spPr>
        <p:txBody>
          <a:bodyPr/>
          <a:lstStyle/>
          <a:p>
            <a:endParaRPr lang="en-US"/>
          </a:p>
        </p:txBody>
      </p:sp>
      <p:sp>
        <p:nvSpPr>
          <p:cNvPr id="14" name="Freeform 14"/>
          <p:cNvSpPr/>
          <p:nvPr/>
        </p:nvSpPr>
        <p:spPr>
          <a:xfrm>
            <a:off x="10477500" y="4572000"/>
            <a:ext cx="952500" cy="508000"/>
          </a:xfrm>
          <a:custGeom>
            <a:avLst/>
            <a:gdLst/>
            <a:ahLst/>
            <a:cxnLst/>
            <a:rect l="l" t="t" r="r" b="b"/>
            <a:pathLst>
              <a:path w="952500" h="508000">
                <a:moveTo>
                  <a:pt x="0" y="0"/>
                </a:moveTo>
                <a:cubicBezTo>
                  <a:pt x="317500" y="444500"/>
                  <a:pt x="635000" y="508000"/>
                  <a:pt x="952500" y="190500"/>
                </a:cubicBezTo>
              </a:path>
            </a:pathLst>
          </a:custGeom>
          <a:noFill/>
          <a:ln w="9525">
            <a:solidFill>
              <a:srgbClr val="4A90D9">
                <a:alpha val="40000"/>
              </a:srgbClr>
            </a:solidFill>
          </a:ln>
        </p:spPr>
        <p:txBody>
          <a:bodyPr/>
          <a:lstStyle/>
          <a:p>
            <a:endParaRPr lang="en-US"/>
          </a:p>
        </p:txBody>
      </p:sp>
      <p:sp>
        <p:nvSpPr>
          <p:cNvPr id="15" name="Freeform 15"/>
          <p:cNvSpPr/>
          <p:nvPr/>
        </p:nvSpPr>
        <p:spPr>
          <a:xfrm>
            <a:off x="1714500" y="3016250"/>
            <a:ext cx="2667000" cy="635000"/>
          </a:xfrm>
          <a:custGeom>
            <a:avLst/>
            <a:gdLst/>
            <a:ahLst/>
            <a:cxnLst/>
            <a:rect l="l" t="t" r="r" b="b"/>
            <a:pathLst>
              <a:path w="2667000" h="635000">
                <a:moveTo>
                  <a:pt x="0" y="317500"/>
                </a:moveTo>
                <a:cubicBezTo>
                  <a:pt x="444500" y="0"/>
                  <a:pt x="889000" y="0"/>
                  <a:pt x="1333500" y="317500"/>
                </a:cubicBezTo>
                <a:cubicBezTo>
                  <a:pt x="1778000" y="635000"/>
                  <a:pt x="2222500" y="635000"/>
                  <a:pt x="2667000" y="317500"/>
                </a:cubicBezTo>
              </a:path>
            </a:pathLst>
          </a:custGeom>
          <a:noFill/>
          <a:ln w="19050">
            <a:solidFill>
              <a:srgbClr val="10B981">
                <a:alpha val="25000"/>
              </a:srgbClr>
            </a:solidFill>
          </a:ln>
        </p:spPr>
        <p:txBody>
          <a:bodyPr/>
          <a:lstStyle/>
          <a:p>
            <a:endParaRPr lang="en-US"/>
          </a:p>
        </p:txBody>
      </p:sp>
      <p:sp>
        <p:nvSpPr>
          <p:cNvPr id="16" name="Freeform 16"/>
          <p:cNvSpPr/>
          <p:nvPr/>
        </p:nvSpPr>
        <p:spPr>
          <a:xfrm>
            <a:off x="7810500" y="2540000"/>
            <a:ext cx="1333500" cy="317500"/>
          </a:xfrm>
          <a:custGeom>
            <a:avLst/>
            <a:gdLst/>
            <a:ahLst/>
            <a:cxnLst/>
            <a:rect l="l" t="t" r="r" b="b"/>
            <a:pathLst>
              <a:path w="1333500" h="317500">
                <a:moveTo>
                  <a:pt x="0" y="317500"/>
                </a:moveTo>
                <a:cubicBezTo>
                  <a:pt x="444500" y="0"/>
                  <a:pt x="889000" y="0"/>
                  <a:pt x="1333500" y="317500"/>
                </a:cubicBezTo>
              </a:path>
            </a:pathLst>
          </a:custGeom>
          <a:noFill/>
          <a:ln w="19050">
            <a:solidFill>
              <a:srgbClr val="D97757">
                <a:alpha val="30000"/>
              </a:srgbClr>
            </a:solidFill>
          </a:ln>
        </p:spPr>
        <p:txBody>
          <a:bodyPr/>
          <a:lstStyle/>
          <a:p>
            <a:endParaRPr lang="en-US"/>
          </a:p>
        </p:txBody>
      </p:sp>
      <p:sp>
        <p:nvSpPr>
          <p:cNvPr id="17" name="Ellipse 17"/>
          <p:cNvSpPr/>
          <p:nvPr/>
        </p:nvSpPr>
        <p:spPr>
          <a:xfrm>
            <a:off x="914400" y="1866900"/>
            <a:ext cx="76200" cy="76200"/>
          </a:xfrm>
          <a:prstGeom prst="ellipse">
            <a:avLst/>
          </a:prstGeom>
          <a:solidFill>
            <a:srgbClr val="4A90D9">
              <a:alpha val="60000"/>
            </a:srgbClr>
          </a:solidFill>
          <a:ln>
            <a:noFill/>
          </a:ln>
        </p:spPr>
        <p:txBody>
          <a:bodyPr/>
          <a:lstStyle/>
          <a:p>
            <a:endParaRPr lang="en-US"/>
          </a:p>
        </p:txBody>
      </p:sp>
      <p:sp>
        <p:nvSpPr>
          <p:cNvPr id="18" name="Ellipse 18"/>
          <p:cNvSpPr/>
          <p:nvPr/>
        </p:nvSpPr>
        <p:spPr>
          <a:xfrm>
            <a:off x="3276600" y="2038350"/>
            <a:ext cx="114300" cy="114300"/>
          </a:xfrm>
          <a:prstGeom prst="ellipse">
            <a:avLst/>
          </a:prstGeom>
          <a:solidFill>
            <a:srgbClr val="4A90D9">
              <a:alpha val="60000"/>
            </a:srgbClr>
          </a:solidFill>
          <a:ln>
            <a:noFill/>
          </a:ln>
        </p:spPr>
        <p:txBody>
          <a:bodyPr/>
          <a:lstStyle/>
          <a:p>
            <a:endParaRPr lang="en-US"/>
          </a:p>
        </p:txBody>
      </p:sp>
      <p:sp>
        <p:nvSpPr>
          <p:cNvPr id="19" name="Ellipse 19"/>
          <p:cNvSpPr/>
          <p:nvPr/>
        </p:nvSpPr>
        <p:spPr>
          <a:xfrm>
            <a:off x="4724400" y="1866900"/>
            <a:ext cx="76200" cy="76200"/>
          </a:xfrm>
          <a:prstGeom prst="ellipse">
            <a:avLst/>
          </a:prstGeom>
          <a:solidFill>
            <a:srgbClr val="4A90D9">
              <a:alpha val="60000"/>
            </a:srgbClr>
          </a:solidFill>
          <a:ln>
            <a:noFill/>
          </a:ln>
        </p:spPr>
        <p:txBody>
          <a:bodyPr/>
          <a:lstStyle/>
          <a:p>
            <a:endParaRPr lang="en-US"/>
          </a:p>
        </p:txBody>
      </p:sp>
      <p:sp>
        <p:nvSpPr>
          <p:cNvPr id="20" name="Ellipse 20"/>
          <p:cNvSpPr/>
          <p:nvPr/>
        </p:nvSpPr>
        <p:spPr>
          <a:xfrm>
            <a:off x="8524875" y="4524375"/>
            <a:ext cx="95250" cy="95250"/>
          </a:xfrm>
          <a:prstGeom prst="ellipse">
            <a:avLst/>
          </a:prstGeom>
          <a:solidFill>
            <a:srgbClr val="4A90D9">
              <a:alpha val="60000"/>
            </a:srgbClr>
          </a:solidFill>
          <a:ln>
            <a:noFill/>
          </a:ln>
        </p:spPr>
        <p:txBody>
          <a:bodyPr/>
          <a:lstStyle/>
          <a:p>
            <a:endParaRPr lang="en-US"/>
          </a:p>
        </p:txBody>
      </p:sp>
      <p:sp>
        <p:nvSpPr>
          <p:cNvPr id="21" name="Ellipse 21"/>
          <p:cNvSpPr/>
          <p:nvPr/>
        </p:nvSpPr>
        <p:spPr>
          <a:xfrm>
            <a:off x="10410825" y="4505325"/>
            <a:ext cx="133350" cy="133350"/>
          </a:xfrm>
          <a:prstGeom prst="ellipse">
            <a:avLst/>
          </a:prstGeom>
          <a:solidFill>
            <a:srgbClr val="4A90D9">
              <a:alpha val="60000"/>
            </a:srgbClr>
          </a:solidFill>
          <a:ln>
            <a:noFill/>
          </a:ln>
        </p:spPr>
        <p:txBody>
          <a:bodyPr/>
          <a:lstStyle/>
          <a:p>
            <a:endParaRPr lang="en-US"/>
          </a:p>
        </p:txBody>
      </p:sp>
      <p:sp>
        <p:nvSpPr>
          <p:cNvPr id="22" name="Ellipse 22"/>
          <p:cNvSpPr/>
          <p:nvPr/>
        </p:nvSpPr>
        <p:spPr>
          <a:xfrm>
            <a:off x="9925050" y="1638300"/>
            <a:ext cx="152400" cy="152400"/>
          </a:xfrm>
          <a:prstGeom prst="ellipse">
            <a:avLst/>
          </a:prstGeom>
          <a:solidFill>
            <a:srgbClr val="D97757">
              <a:alpha val="70000"/>
            </a:srgbClr>
          </a:solidFill>
          <a:ln>
            <a:noFill/>
          </a:ln>
        </p:spPr>
        <p:txBody>
          <a:bodyPr/>
          <a:lstStyle/>
          <a:p>
            <a:endParaRPr lang="en-US"/>
          </a:p>
        </p:txBody>
      </p:sp>
      <p:sp>
        <p:nvSpPr>
          <p:cNvPr id="23" name="Ellipse 23"/>
          <p:cNvSpPr/>
          <p:nvPr/>
        </p:nvSpPr>
        <p:spPr>
          <a:xfrm>
            <a:off x="1657350" y="4895850"/>
            <a:ext cx="114300" cy="114300"/>
          </a:xfrm>
          <a:prstGeom prst="ellipse">
            <a:avLst/>
          </a:prstGeom>
          <a:solidFill>
            <a:srgbClr val="D97757">
              <a:alpha val="70000"/>
            </a:srgbClr>
          </a:solidFill>
          <a:ln>
            <a:noFill/>
          </a:ln>
        </p:spPr>
        <p:txBody>
          <a:bodyPr/>
          <a:lstStyle/>
          <a:p>
            <a:endParaRPr lang="en-US"/>
          </a:p>
        </p:txBody>
      </p:sp>
      <p:sp>
        <p:nvSpPr>
          <p:cNvPr id="24" name="Rectangle 24"/>
          <p:cNvSpPr/>
          <p:nvPr/>
        </p:nvSpPr>
        <p:spPr>
          <a:xfrm>
            <a:off x="571500" y="571500"/>
            <a:ext cx="762000" cy="38100"/>
          </a:xfrm>
          <a:prstGeom prst="rect">
            <a:avLst/>
          </a:prstGeom>
          <a:gradFill>
            <a:gsLst>
              <a:gs pos="0">
                <a:srgbClr val="D97757"/>
              </a:gs>
              <a:gs pos="100000">
                <a:srgbClr val="E8956F"/>
              </a:gs>
            </a:gsLst>
            <a:lin ang="0" scaled="1"/>
          </a:gradFill>
          <a:ln>
            <a:noFill/>
          </a:ln>
        </p:spPr>
        <p:txBody>
          <a:bodyPr/>
          <a:lstStyle/>
          <a:p>
            <a:endParaRPr lang="en-US"/>
          </a:p>
        </p:txBody>
      </p:sp>
      <p:sp>
        <p:nvSpPr>
          <p:cNvPr id="25" name="TextBox 25"/>
          <p:cNvSpPr txBox="1"/>
          <p:nvPr/>
        </p:nvSpPr>
        <p:spPr>
          <a:xfrm>
            <a:off x="558165" y="839152"/>
            <a:ext cx="2319290" cy="213360"/>
          </a:xfrm>
          <a:prstGeom prst="rect">
            <a:avLst/>
          </a:prstGeom>
          <a:noFill/>
          <a:ln>
            <a:noFill/>
          </a:ln>
        </p:spPr>
        <p:txBody>
          <a:bodyPr wrap="none" lIns="0" tIns="0" rIns="0" bIns="0" anchor="t" anchorCtr="0">
            <a:spAutoFit/>
          </a:bodyPr>
          <a:lstStyle/>
          <a:p>
            <a:pPr algn="l"/>
            <a:r>
              <a:rPr lang="zh-CN" sz="1050" dirty="0">
                <a:solidFill>
                  <a:srgbClr val="D97757"/>
                </a:solidFill>
                <a:latin typeface="Arial"/>
                <a:ea typeface="Microsoft YaHei"/>
                <a:cs typeface="Arial"/>
              </a:rPr>
              <a:t>KIN 7518 SOCIAL ISSUES IN SPORT</a:t>
            </a:r>
          </a:p>
        </p:txBody>
      </p:sp>
      <p:sp>
        <p:nvSpPr>
          <p:cNvPr id="26" name="TextBox 26"/>
          <p:cNvSpPr txBox="1"/>
          <p:nvPr/>
        </p:nvSpPr>
        <p:spPr>
          <a:xfrm>
            <a:off x="4371861" y="2341245"/>
            <a:ext cx="3448279" cy="792480"/>
          </a:xfrm>
          <a:prstGeom prst="rect">
            <a:avLst/>
          </a:prstGeom>
          <a:noFill/>
          <a:ln>
            <a:noFill/>
          </a:ln>
        </p:spPr>
        <p:txBody>
          <a:bodyPr wrap="none" lIns="0" tIns="0" rIns="0" bIns="0" anchor="t" anchorCtr="0">
            <a:spAutoFit/>
          </a:bodyPr>
          <a:lstStyle/>
          <a:p>
            <a:pPr algn="ctr"/>
            <a:r>
              <a:rPr lang="zh-CN" sz="3900" b="1" dirty="0">
                <a:solidFill>
                  <a:srgbClr val="FFFFFF"/>
                </a:solidFill>
                <a:latin typeface="Arial"/>
                <a:ea typeface="Microsoft YaHei"/>
                <a:cs typeface="Arial"/>
              </a:rPr>
              <a:t>Git &amp; GitHub</a:t>
            </a:r>
          </a:p>
        </p:txBody>
      </p:sp>
      <p:sp>
        <p:nvSpPr>
          <p:cNvPr id="27" name="TextBox 27"/>
          <p:cNvSpPr txBox="1"/>
          <p:nvPr/>
        </p:nvSpPr>
        <p:spPr>
          <a:xfrm>
            <a:off x="3338780" y="3041332"/>
            <a:ext cx="5514439" cy="640080"/>
          </a:xfrm>
          <a:prstGeom prst="rect">
            <a:avLst/>
          </a:prstGeom>
          <a:noFill/>
          <a:ln>
            <a:noFill/>
          </a:ln>
        </p:spPr>
        <p:txBody>
          <a:bodyPr wrap="none" lIns="0" tIns="0" rIns="0" bIns="0" anchor="t" anchorCtr="0">
            <a:spAutoFit/>
          </a:bodyPr>
          <a:lstStyle/>
          <a:p>
            <a:pPr algn="ctr"/>
            <a:r>
              <a:rPr lang="zh-CN" sz="3150" b="1" dirty="0">
                <a:solidFill>
                  <a:srgbClr val="FFFFFF"/>
                </a:solidFill>
                <a:latin typeface="Arial"/>
                <a:ea typeface="Microsoft YaHei"/>
                <a:cs typeface="Arial"/>
              </a:rPr>
              <a:t>Collaboration Workflow</a:t>
            </a:r>
          </a:p>
        </p:txBody>
      </p:sp>
      <p:sp>
        <p:nvSpPr>
          <p:cNvPr id="28" name="Rectangle 28"/>
          <p:cNvSpPr/>
          <p:nvPr/>
        </p:nvSpPr>
        <p:spPr>
          <a:xfrm>
            <a:off x="5143500" y="3714750"/>
            <a:ext cx="1905000" cy="28575"/>
          </a:xfrm>
          <a:prstGeom prst="rect">
            <a:avLst/>
          </a:prstGeom>
          <a:gradFill>
            <a:gsLst>
              <a:gs pos="0">
                <a:srgbClr val="D97757"/>
              </a:gs>
              <a:gs pos="100000">
                <a:srgbClr val="E8956F"/>
              </a:gs>
            </a:gsLst>
            <a:lin ang="0" scaled="1"/>
          </a:gradFill>
          <a:ln>
            <a:noFill/>
          </a:ln>
        </p:spPr>
        <p:txBody>
          <a:bodyPr/>
          <a:lstStyle/>
          <a:p>
            <a:endParaRPr lang="en-US"/>
          </a:p>
        </p:txBody>
      </p:sp>
      <p:sp>
        <p:nvSpPr>
          <p:cNvPr id="29" name="TextBox 29"/>
          <p:cNvSpPr txBox="1"/>
          <p:nvPr/>
        </p:nvSpPr>
        <p:spPr>
          <a:xfrm>
            <a:off x="3544729" y="4060508"/>
            <a:ext cx="5102543" cy="335280"/>
          </a:xfrm>
          <a:prstGeom prst="rect">
            <a:avLst/>
          </a:prstGeom>
          <a:noFill/>
          <a:ln>
            <a:noFill/>
          </a:ln>
        </p:spPr>
        <p:txBody>
          <a:bodyPr wrap="none" lIns="0" tIns="0" rIns="0" bIns="0" anchor="t" anchorCtr="0">
            <a:spAutoFit/>
          </a:bodyPr>
          <a:lstStyle/>
          <a:p>
            <a:pPr algn="ctr"/>
            <a:r>
              <a:rPr lang="zh-CN" sz="1650" dirty="0">
                <a:solidFill>
                  <a:srgbClr val="FFFFFF">
                    <a:alpha val="80000"/>
                  </a:srgbClr>
                </a:solidFill>
                <a:latin typeface="Arial"/>
                <a:ea typeface="Microsoft YaHei"/>
                <a:cs typeface="Arial"/>
              </a:rPr>
              <a:t>From Version Control to Team Collaboration</a:t>
            </a:r>
          </a:p>
        </p:txBody>
      </p:sp>
      <p:sp>
        <p:nvSpPr>
          <p:cNvPr id="30" name="Rectangle 30"/>
          <p:cNvSpPr/>
          <p:nvPr/>
        </p:nvSpPr>
        <p:spPr>
          <a:xfrm>
            <a:off x="571500" y="6191250"/>
            <a:ext cx="11049000" cy="9525"/>
          </a:xfrm>
          <a:prstGeom prst="rect">
            <a:avLst/>
          </a:prstGeom>
          <a:solidFill>
            <a:srgbClr val="FFFFFF">
              <a:alpha val="10000"/>
            </a:srgbClr>
          </a:solidFill>
          <a:ln>
            <a:noFill/>
          </a:ln>
        </p:spPr>
        <p:txBody>
          <a:bodyPr/>
          <a:lstStyle/>
          <a:p>
            <a:endParaRPr lang="en-US"/>
          </a:p>
        </p:txBody>
      </p:sp>
      <p:sp>
        <p:nvSpPr>
          <p:cNvPr id="31" name="TextBox 31"/>
          <p:cNvSpPr txBox="1"/>
          <p:nvPr/>
        </p:nvSpPr>
        <p:spPr>
          <a:xfrm>
            <a:off x="558165" y="6411278"/>
            <a:ext cx="969788"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April 7, 2026</a:t>
            </a:r>
          </a:p>
        </p:txBody>
      </p:sp>
      <p:sp>
        <p:nvSpPr>
          <p:cNvPr id="32" name="TextBox 32"/>
          <p:cNvSpPr txBox="1"/>
          <p:nvPr/>
        </p:nvSpPr>
        <p:spPr>
          <a:xfrm>
            <a:off x="5515261" y="6411278"/>
            <a:ext cx="1161478"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Online via Zoom</a:t>
            </a:r>
          </a:p>
        </p:txBody>
      </p:sp>
      <p:sp>
        <p:nvSpPr>
          <p:cNvPr id="33" name="TextBox 33"/>
          <p:cNvSpPr txBox="1"/>
          <p:nvPr/>
        </p:nvSpPr>
        <p:spPr>
          <a:xfrm>
            <a:off x="11193113" y="6411278"/>
            <a:ext cx="440722" cy="213360"/>
          </a:xfrm>
          <a:prstGeom prst="rect">
            <a:avLst/>
          </a:prstGeom>
          <a:noFill/>
          <a:ln>
            <a:noFill/>
          </a:ln>
        </p:spPr>
        <p:txBody>
          <a:bodyPr wrap="none" lIns="0" tIns="0" rIns="0" bIns="0" anchor="t" anchorCtr="0">
            <a:spAutoFit/>
          </a:bodyPr>
          <a:lstStyle/>
          <a:p>
            <a:pPr algn="r"/>
            <a:r>
              <a:rPr lang="zh-CN" sz="1050" dirty="0">
                <a:solidFill>
                  <a:srgbClr val="64748B"/>
                </a:solidFill>
                <a:latin typeface="Arial"/>
                <a:ea typeface="Microsoft YaHei"/>
                <a:cs typeface="Arial"/>
              </a:rPr>
              <a:t>Dr. Q</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sp>
        <p:nvSpPr>
          <p:cNvPr id="3" name="Rectangle 3"/>
          <p:cNvSpPr/>
          <p:nvPr/>
        </p:nvSpPr>
        <p:spPr>
          <a:xfrm>
            <a:off x="0" y="0"/>
            <a:ext cx="12192000" cy="57150"/>
          </a:xfrm>
          <a:prstGeom prst="rect">
            <a:avLst/>
          </a:prstGeom>
          <a:solidFill>
            <a:srgbClr val="D97757"/>
          </a:solidFill>
          <a:ln>
            <a:noFill/>
          </a:ln>
        </p:spPr>
        <p:txBody>
          <a:bodyPr/>
          <a:lstStyle/>
          <a:p>
            <a:endParaRPr lang="en-US"/>
          </a:p>
        </p:txBody>
      </p:sp>
      <p:sp>
        <p:nvSpPr>
          <p:cNvPr id="4" name="Rectangle 4"/>
          <p:cNvSpPr/>
          <p:nvPr/>
        </p:nvSpPr>
        <p:spPr>
          <a:xfrm>
            <a:off x="0" y="0"/>
            <a:ext cx="76200" cy="6858000"/>
          </a:xfrm>
          <a:prstGeom prst="rect">
            <a:avLst/>
          </a:prstGeom>
          <a:solidFill>
            <a:srgbClr val="D97757"/>
          </a:solidFill>
          <a:ln>
            <a:noFill/>
          </a:ln>
        </p:spPr>
        <p:txBody>
          <a:bodyPr/>
          <a:lstStyle/>
          <a:p>
            <a:endParaRPr lang="en-US"/>
          </a:p>
        </p:txBody>
      </p:sp>
      <p:sp>
        <p:nvSpPr>
          <p:cNvPr id="5" name="TextBox 5"/>
          <p:cNvSpPr txBox="1"/>
          <p:nvPr/>
        </p:nvSpPr>
        <p:spPr>
          <a:xfrm>
            <a:off x="558165" y="410528"/>
            <a:ext cx="532733" cy="213360"/>
          </a:xfrm>
          <a:prstGeom prst="rect">
            <a:avLst/>
          </a:prstGeom>
          <a:noFill/>
          <a:ln>
            <a:noFill/>
          </a:ln>
        </p:spPr>
        <p:txBody>
          <a:bodyPr wrap="none" lIns="0" tIns="0" rIns="0" bIns="0" anchor="t" anchorCtr="0">
            <a:spAutoFit/>
          </a:bodyPr>
          <a:lstStyle/>
          <a:p>
            <a:pPr algn="l"/>
            <a:r>
              <a:rPr lang="zh-CN" sz="1050" dirty="0">
                <a:solidFill>
                  <a:srgbClr val="D97757"/>
                </a:solidFill>
                <a:latin typeface="Arial"/>
                <a:ea typeface="Microsoft YaHei"/>
                <a:cs typeface="Arial"/>
              </a:rPr>
              <a:t>AGENDA</a:t>
            </a:r>
          </a:p>
        </p:txBody>
      </p:sp>
      <p:sp>
        <p:nvSpPr>
          <p:cNvPr id="6" name="TextBox 6"/>
          <p:cNvSpPr txBox="1"/>
          <p:nvPr/>
        </p:nvSpPr>
        <p:spPr>
          <a:xfrm>
            <a:off x="541020" y="693420"/>
            <a:ext cx="3226156" cy="487680"/>
          </a:xfrm>
          <a:prstGeom prst="rect">
            <a:avLst/>
          </a:prstGeom>
          <a:noFill/>
          <a:ln>
            <a:noFill/>
          </a:ln>
        </p:spPr>
        <p:txBody>
          <a:bodyPr wrap="none" lIns="0" tIns="0" rIns="0" bIns="0" anchor="t" anchorCtr="0">
            <a:spAutoFit/>
          </a:bodyPr>
          <a:lstStyle/>
          <a:p>
            <a:pPr algn="l"/>
            <a:r>
              <a:rPr lang="zh-CN" sz="2400" b="1" dirty="0">
                <a:solidFill>
                  <a:srgbClr val="1A1A2E"/>
                </a:solidFill>
                <a:latin typeface="Arial"/>
                <a:ea typeface="Microsoft YaHei"/>
                <a:cs typeface="Arial"/>
              </a:rPr>
              <a:t>Tonight's Session</a:t>
            </a:r>
          </a:p>
        </p:txBody>
      </p:sp>
      <p:sp>
        <p:nvSpPr>
          <p:cNvPr id="7" name="Ellipse 7"/>
          <p:cNvSpPr/>
          <p:nvPr/>
        </p:nvSpPr>
        <p:spPr>
          <a:xfrm>
            <a:off x="723900" y="1533525"/>
            <a:ext cx="457200" cy="457200"/>
          </a:xfrm>
          <a:prstGeom prst="ellipse">
            <a:avLst/>
          </a:prstGeom>
          <a:solidFill>
            <a:srgbClr val="D97757"/>
          </a:solidFill>
          <a:ln>
            <a:noFill/>
          </a:ln>
        </p:spPr>
        <p:txBody>
          <a:bodyPr/>
          <a:lstStyle/>
          <a:p>
            <a:endParaRPr lang="en-US"/>
          </a:p>
        </p:txBody>
      </p:sp>
      <p:sp>
        <p:nvSpPr>
          <p:cNvPr id="8" name="TextBox 8"/>
          <p:cNvSpPr txBox="1"/>
          <p:nvPr/>
        </p:nvSpPr>
        <p:spPr>
          <a:xfrm>
            <a:off x="904301" y="1683068"/>
            <a:ext cx="9639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9" name="TextBox 9"/>
          <p:cNvSpPr txBox="1"/>
          <p:nvPr/>
        </p:nvSpPr>
        <p:spPr>
          <a:xfrm>
            <a:off x="1314450" y="1571625"/>
            <a:ext cx="1510284" cy="304800"/>
          </a:xfrm>
          <a:prstGeom prst="rect">
            <a:avLst/>
          </a:prstGeom>
          <a:noFill/>
          <a:ln>
            <a:noFill/>
          </a:ln>
        </p:spPr>
        <p:txBody>
          <a:bodyPr wrap="none" lIns="0" tIns="0" rIns="0" bIns="0" anchor="t" anchorCtr="0">
            <a:spAutoFit/>
          </a:bodyPr>
          <a:lstStyle/>
          <a:p>
            <a:pPr algn="l"/>
            <a:r>
              <a:rPr lang="zh-CN" sz="1500" b="1" dirty="0">
                <a:solidFill>
                  <a:srgbClr val="1A1A2E"/>
                </a:solidFill>
                <a:latin typeface="Arial"/>
                <a:ea typeface="Microsoft YaHei"/>
                <a:cs typeface="Arial"/>
              </a:rPr>
              <a:t>Video Debrief</a:t>
            </a:r>
          </a:p>
        </p:txBody>
      </p:sp>
      <p:sp>
        <p:nvSpPr>
          <p:cNvPr id="10" name="TextBox 10"/>
          <p:cNvSpPr txBox="1"/>
          <p:nvPr/>
        </p:nvSpPr>
        <p:spPr>
          <a:xfrm>
            <a:off x="1318260" y="1823085"/>
            <a:ext cx="3342894"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What stuck from the pre-watch video?</a:t>
            </a:r>
          </a:p>
        </p:txBody>
      </p:sp>
      <p:sp>
        <p:nvSpPr>
          <p:cNvPr id="11" name="Ellipse 11"/>
          <p:cNvSpPr/>
          <p:nvPr/>
        </p:nvSpPr>
        <p:spPr>
          <a:xfrm>
            <a:off x="723900" y="2295525"/>
            <a:ext cx="457200" cy="457200"/>
          </a:xfrm>
          <a:prstGeom prst="ellipse">
            <a:avLst/>
          </a:prstGeom>
          <a:solidFill>
            <a:srgbClr val="4A90D9"/>
          </a:solidFill>
          <a:ln>
            <a:noFill/>
          </a:ln>
        </p:spPr>
        <p:txBody>
          <a:bodyPr/>
          <a:lstStyle/>
          <a:p>
            <a:endParaRPr lang="en-US"/>
          </a:p>
        </p:txBody>
      </p:sp>
      <p:sp>
        <p:nvSpPr>
          <p:cNvPr id="12" name="TextBox 12"/>
          <p:cNvSpPr txBox="1"/>
          <p:nvPr/>
        </p:nvSpPr>
        <p:spPr>
          <a:xfrm>
            <a:off x="878423" y="24450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13" name="TextBox 13"/>
          <p:cNvSpPr txBox="1"/>
          <p:nvPr/>
        </p:nvSpPr>
        <p:spPr>
          <a:xfrm>
            <a:off x="1314450" y="2333625"/>
            <a:ext cx="2407396" cy="304800"/>
          </a:xfrm>
          <a:prstGeom prst="rect">
            <a:avLst/>
          </a:prstGeom>
          <a:noFill/>
          <a:ln>
            <a:noFill/>
          </a:ln>
        </p:spPr>
        <p:txBody>
          <a:bodyPr wrap="none" lIns="0" tIns="0" rIns="0" bIns="0" anchor="t" anchorCtr="0">
            <a:spAutoFit/>
          </a:bodyPr>
          <a:lstStyle/>
          <a:p>
            <a:pPr algn="l"/>
            <a:r>
              <a:rPr lang="zh-CN" sz="1500" b="1" dirty="0">
                <a:solidFill>
                  <a:srgbClr val="1A1A2E"/>
                </a:solidFill>
                <a:latin typeface="Arial"/>
                <a:ea typeface="Microsoft YaHei"/>
                <a:cs typeface="Arial"/>
              </a:rPr>
              <a:t>Git &amp; GitHub Concepts</a:t>
            </a:r>
          </a:p>
        </p:txBody>
      </p:sp>
      <p:sp>
        <p:nvSpPr>
          <p:cNvPr id="14" name="TextBox 14"/>
          <p:cNvSpPr txBox="1"/>
          <p:nvPr/>
        </p:nvSpPr>
        <p:spPr>
          <a:xfrm>
            <a:off x="1318260" y="2585085"/>
            <a:ext cx="4306824"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What they are and why they matter for your work</a:t>
            </a:r>
          </a:p>
        </p:txBody>
      </p:sp>
      <p:sp>
        <p:nvSpPr>
          <p:cNvPr id="15" name="Ellipse 15"/>
          <p:cNvSpPr/>
          <p:nvPr/>
        </p:nvSpPr>
        <p:spPr>
          <a:xfrm>
            <a:off x="723900" y="3057525"/>
            <a:ext cx="457200" cy="457200"/>
          </a:xfrm>
          <a:prstGeom prst="ellipse">
            <a:avLst/>
          </a:prstGeom>
          <a:solidFill>
            <a:srgbClr val="10B981"/>
          </a:solidFill>
          <a:ln>
            <a:noFill/>
          </a:ln>
        </p:spPr>
        <p:txBody>
          <a:bodyPr/>
          <a:lstStyle/>
          <a:p>
            <a:endParaRPr lang="en-US"/>
          </a:p>
        </p:txBody>
      </p:sp>
      <p:sp>
        <p:nvSpPr>
          <p:cNvPr id="16" name="TextBox 16"/>
          <p:cNvSpPr txBox="1"/>
          <p:nvPr/>
        </p:nvSpPr>
        <p:spPr>
          <a:xfrm>
            <a:off x="878423" y="32070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17" name="TextBox 17"/>
          <p:cNvSpPr txBox="1"/>
          <p:nvPr/>
        </p:nvSpPr>
        <p:spPr>
          <a:xfrm>
            <a:off x="1314450" y="3095625"/>
            <a:ext cx="3074479" cy="304800"/>
          </a:xfrm>
          <a:prstGeom prst="rect">
            <a:avLst/>
          </a:prstGeom>
          <a:noFill/>
          <a:ln>
            <a:noFill/>
          </a:ln>
        </p:spPr>
        <p:txBody>
          <a:bodyPr wrap="none" lIns="0" tIns="0" rIns="0" bIns="0" anchor="t" anchorCtr="0">
            <a:spAutoFit/>
          </a:bodyPr>
          <a:lstStyle/>
          <a:p>
            <a:pPr algn="l"/>
            <a:r>
              <a:rPr lang="zh-CN" sz="1500" b="1" dirty="0">
                <a:solidFill>
                  <a:srgbClr val="1A1A2E"/>
                </a:solidFill>
                <a:latin typeface="Arial"/>
                <a:ea typeface="Microsoft YaHei"/>
                <a:cs typeface="Arial"/>
              </a:rPr>
              <a:t>The Collaboration Workflow</a:t>
            </a:r>
          </a:p>
        </p:txBody>
      </p:sp>
      <p:sp>
        <p:nvSpPr>
          <p:cNvPr id="18" name="TextBox 18"/>
          <p:cNvSpPr txBox="1"/>
          <p:nvPr/>
        </p:nvSpPr>
        <p:spPr>
          <a:xfrm>
            <a:off x="1318260" y="3347085"/>
            <a:ext cx="4192905"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Branching, pull requests, and the manager model</a:t>
            </a:r>
          </a:p>
        </p:txBody>
      </p:sp>
      <p:sp>
        <p:nvSpPr>
          <p:cNvPr id="19" name="Ellipse 19"/>
          <p:cNvSpPr/>
          <p:nvPr/>
        </p:nvSpPr>
        <p:spPr>
          <a:xfrm>
            <a:off x="723900" y="3819525"/>
            <a:ext cx="457200" cy="457200"/>
          </a:xfrm>
          <a:prstGeom prst="ellipse">
            <a:avLst/>
          </a:prstGeom>
          <a:solidFill>
            <a:srgbClr val="D97757"/>
          </a:solidFill>
          <a:ln>
            <a:noFill/>
          </a:ln>
        </p:spPr>
        <p:txBody>
          <a:bodyPr/>
          <a:lstStyle/>
          <a:p>
            <a:endParaRPr lang="en-US"/>
          </a:p>
        </p:txBody>
      </p:sp>
      <p:sp>
        <p:nvSpPr>
          <p:cNvPr id="20" name="TextBox 20"/>
          <p:cNvSpPr txBox="1"/>
          <p:nvPr/>
        </p:nvSpPr>
        <p:spPr>
          <a:xfrm>
            <a:off x="878423" y="39690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21" name="TextBox 21"/>
          <p:cNvSpPr txBox="1"/>
          <p:nvPr/>
        </p:nvSpPr>
        <p:spPr>
          <a:xfrm>
            <a:off x="1314450" y="3857625"/>
            <a:ext cx="1107734" cy="304800"/>
          </a:xfrm>
          <a:prstGeom prst="rect">
            <a:avLst/>
          </a:prstGeom>
          <a:noFill/>
          <a:ln>
            <a:noFill/>
          </a:ln>
        </p:spPr>
        <p:txBody>
          <a:bodyPr wrap="none" lIns="0" tIns="0" rIns="0" bIns="0" anchor="t" anchorCtr="0">
            <a:spAutoFit/>
          </a:bodyPr>
          <a:lstStyle/>
          <a:p>
            <a:pPr algn="l"/>
            <a:r>
              <a:rPr lang="zh-CN" sz="1500" b="1" dirty="0">
                <a:solidFill>
                  <a:srgbClr val="1A1A2E"/>
                </a:solidFill>
                <a:latin typeface="Arial"/>
                <a:ea typeface="Microsoft YaHei"/>
                <a:cs typeface="Arial"/>
              </a:rPr>
              <a:t>Live Demo</a:t>
            </a:r>
          </a:p>
        </p:txBody>
      </p:sp>
      <p:sp>
        <p:nvSpPr>
          <p:cNvPr id="22" name="TextBox 22"/>
          <p:cNvSpPr txBox="1"/>
          <p:nvPr/>
        </p:nvSpPr>
        <p:spPr>
          <a:xfrm>
            <a:off x="1318260" y="4109085"/>
            <a:ext cx="4175379"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Creating a P3 repo, branching, and pull requests</a:t>
            </a:r>
          </a:p>
        </p:txBody>
      </p:sp>
      <p:sp>
        <p:nvSpPr>
          <p:cNvPr id="23" name="Ellipse 23"/>
          <p:cNvSpPr/>
          <p:nvPr/>
        </p:nvSpPr>
        <p:spPr>
          <a:xfrm>
            <a:off x="723900" y="4581525"/>
            <a:ext cx="457200" cy="457200"/>
          </a:xfrm>
          <a:prstGeom prst="ellipse">
            <a:avLst/>
          </a:prstGeom>
          <a:solidFill>
            <a:srgbClr val="4A90D9"/>
          </a:solidFill>
          <a:ln>
            <a:noFill/>
          </a:ln>
        </p:spPr>
        <p:txBody>
          <a:bodyPr/>
          <a:lstStyle/>
          <a:p>
            <a:endParaRPr lang="en-US"/>
          </a:p>
        </p:txBody>
      </p:sp>
      <p:sp>
        <p:nvSpPr>
          <p:cNvPr id="24" name="TextBox 24"/>
          <p:cNvSpPr txBox="1"/>
          <p:nvPr/>
        </p:nvSpPr>
        <p:spPr>
          <a:xfrm>
            <a:off x="878423" y="47310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5</a:t>
            </a:r>
          </a:p>
        </p:txBody>
      </p:sp>
      <p:sp>
        <p:nvSpPr>
          <p:cNvPr id="25" name="TextBox 25"/>
          <p:cNvSpPr txBox="1"/>
          <p:nvPr/>
        </p:nvSpPr>
        <p:spPr>
          <a:xfrm>
            <a:off x="1314450" y="4619625"/>
            <a:ext cx="1441275" cy="304800"/>
          </a:xfrm>
          <a:prstGeom prst="rect">
            <a:avLst/>
          </a:prstGeom>
          <a:noFill/>
          <a:ln>
            <a:noFill/>
          </a:ln>
        </p:spPr>
        <p:txBody>
          <a:bodyPr wrap="none" lIns="0" tIns="0" rIns="0" bIns="0" anchor="t" anchorCtr="0">
            <a:spAutoFit/>
          </a:bodyPr>
          <a:lstStyle/>
          <a:p>
            <a:pPr algn="l"/>
            <a:r>
              <a:rPr lang="zh-CN" sz="1500" b="1" dirty="0">
                <a:solidFill>
                  <a:srgbClr val="1A1A2E"/>
                </a:solidFill>
                <a:latin typeface="Arial"/>
                <a:ea typeface="Microsoft YaHei"/>
                <a:cs typeface="Arial"/>
              </a:rPr>
              <a:t>Your P3 Repo</a:t>
            </a:r>
          </a:p>
        </p:txBody>
      </p:sp>
      <p:sp>
        <p:nvSpPr>
          <p:cNvPr id="26" name="TextBox 26"/>
          <p:cNvSpPr txBox="1"/>
          <p:nvPr/>
        </p:nvSpPr>
        <p:spPr>
          <a:xfrm>
            <a:off x="1318260" y="4871085"/>
            <a:ext cx="4771263"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Structure, rules, and what goes in (and what doesn't)</a:t>
            </a:r>
          </a:p>
        </p:txBody>
      </p:sp>
      <p:sp>
        <p:nvSpPr>
          <p:cNvPr id="27" name="Ellipse 27"/>
          <p:cNvSpPr/>
          <p:nvPr/>
        </p:nvSpPr>
        <p:spPr>
          <a:xfrm>
            <a:off x="723900" y="5343525"/>
            <a:ext cx="457200" cy="457200"/>
          </a:xfrm>
          <a:prstGeom prst="ellipse">
            <a:avLst/>
          </a:prstGeom>
          <a:solidFill>
            <a:srgbClr val="10B981"/>
          </a:solidFill>
          <a:ln>
            <a:noFill/>
          </a:ln>
        </p:spPr>
        <p:txBody>
          <a:bodyPr/>
          <a:lstStyle/>
          <a:p>
            <a:endParaRPr lang="en-US"/>
          </a:p>
        </p:txBody>
      </p:sp>
      <p:sp>
        <p:nvSpPr>
          <p:cNvPr id="28" name="TextBox 28"/>
          <p:cNvSpPr txBox="1"/>
          <p:nvPr/>
        </p:nvSpPr>
        <p:spPr>
          <a:xfrm>
            <a:off x="878423" y="54930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6</a:t>
            </a:r>
          </a:p>
        </p:txBody>
      </p:sp>
      <p:sp>
        <p:nvSpPr>
          <p:cNvPr id="29" name="TextBox 29"/>
          <p:cNvSpPr txBox="1"/>
          <p:nvPr/>
        </p:nvSpPr>
        <p:spPr>
          <a:xfrm>
            <a:off x="1314450" y="5381625"/>
            <a:ext cx="2119860" cy="304800"/>
          </a:xfrm>
          <a:prstGeom prst="rect">
            <a:avLst/>
          </a:prstGeom>
          <a:noFill/>
          <a:ln>
            <a:noFill/>
          </a:ln>
        </p:spPr>
        <p:txBody>
          <a:bodyPr wrap="none" lIns="0" tIns="0" rIns="0" bIns="0" anchor="t" anchorCtr="0">
            <a:spAutoFit/>
          </a:bodyPr>
          <a:lstStyle/>
          <a:p>
            <a:pPr algn="l"/>
            <a:r>
              <a:rPr lang="zh-CN" sz="1500" b="1" dirty="0">
                <a:solidFill>
                  <a:srgbClr val="1A1A2E"/>
                </a:solidFill>
                <a:latin typeface="Arial"/>
                <a:ea typeface="Microsoft YaHei"/>
                <a:cs typeface="Arial"/>
              </a:rPr>
              <a:t>Q&amp;A and Resources</a:t>
            </a:r>
          </a:p>
        </p:txBody>
      </p:sp>
      <p:sp>
        <p:nvSpPr>
          <p:cNvPr id="30" name="TextBox 30"/>
          <p:cNvSpPr txBox="1"/>
          <p:nvPr/>
        </p:nvSpPr>
        <p:spPr>
          <a:xfrm>
            <a:off x="1318260" y="5633085"/>
            <a:ext cx="4175379"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Questions, next steps, and where to learn more</a:t>
            </a:r>
          </a:p>
        </p:txBody>
      </p:sp>
      <p:sp>
        <p:nvSpPr>
          <p:cNvPr id="31" name="Rectangle 31"/>
          <p:cNvSpPr/>
          <p:nvPr/>
        </p:nvSpPr>
        <p:spPr>
          <a:xfrm>
            <a:off x="7143750" y="1524000"/>
            <a:ext cx="4381500" cy="438150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32" name="Rectangle 32"/>
          <p:cNvSpPr/>
          <p:nvPr/>
        </p:nvSpPr>
        <p:spPr>
          <a:xfrm>
            <a:off x="7143750" y="1524000"/>
            <a:ext cx="4381500" cy="57150"/>
          </a:xfrm>
          <a:prstGeom prst="rect">
            <a:avLst/>
          </a:prstGeom>
          <a:solidFill>
            <a:srgbClr val="D97757"/>
          </a:solidFill>
          <a:ln>
            <a:noFill/>
          </a:ln>
        </p:spPr>
        <p:txBody>
          <a:bodyPr/>
          <a:lstStyle/>
          <a:p>
            <a:endParaRPr lang="en-US"/>
          </a:p>
        </p:txBody>
      </p:sp>
      <p:sp>
        <p:nvSpPr>
          <p:cNvPr id="33" name="TextBox 33"/>
          <p:cNvSpPr txBox="1"/>
          <p:nvPr/>
        </p:nvSpPr>
        <p:spPr>
          <a:xfrm>
            <a:off x="8256347" y="1949768"/>
            <a:ext cx="2156305" cy="274320"/>
          </a:xfrm>
          <a:prstGeom prst="rect">
            <a:avLst/>
          </a:prstGeom>
          <a:noFill/>
          <a:ln>
            <a:noFill/>
          </a:ln>
        </p:spPr>
        <p:txBody>
          <a:bodyPr wrap="none" lIns="0" tIns="0" rIns="0" bIns="0" anchor="t" anchorCtr="0">
            <a:spAutoFit/>
          </a:bodyPr>
          <a:lstStyle/>
          <a:p>
            <a:pPr algn="ctr"/>
            <a:r>
              <a:rPr lang="zh-CN" sz="1350" b="1" dirty="0">
                <a:solidFill>
                  <a:srgbClr val="1A1A2E"/>
                </a:solidFill>
                <a:latin typeface="Arial"/>
                <a:ea typeface="Microsoft YaHei"/>
                <a:cs typeface="Arial"/>
              </a:rPr>
              <a:t>Learning Progression</a:t>
            </a:r>
          </a:p>
        </p:txBody>
      </p:sp>
      <p:sp>
        <p:nvSpPr>
          <p:cNvPr id="34" name="Rectangle 34"/>
          <p:cNvSpPr/>
          <p:nvPr/>
        </p:nvSpPr>
        <p:spPr>
          <a:xfrm>
            <a:off x="7524750" y="2381250"/>
            <a:ext cx="3619500" cy="523875"/>
          </a:xfrm>
          <a:prstGeom prst="rect">
            <a:avLst/>
          </a:prstGeom>
          <a:solidFill>
            <a:srgbClr val="4A90D9">
              <a:alpha val="8000"/>
            </a:srgbClr>
          </a:solidFill>
          <a:ln>
            <a:noFill/>
          </a:ln>
        </p:spPr>
        <p:txBody>
          <a:bodyPr/>
          <a:lstStyle/>
          <a:p>
            <a:endParaRPr lang="en-US"/>
          </a:p>
        </p:txBody>
      </p:sp>
      <p:sp>
        <p:nvSpPr>
          <p:cNvPr id="35" name="TextBox 35"/>
          <p:cNvSpPr txBox="1"/>
          <p:nvPr/>
        </p:nvSpPr>
        <p:spPr>
          <a:xfrm>
            <a:off x="7701915" y="2506028"/>
            <a:ext cx="235996" cy="213360"/>
          </a:xfrm>
          <a:prstGeom prst="rect">
            <a:avLst/>
          </a:prstGeom>
          <a:noFill/>
          <a:ln>
            <a:noFill/>
          </a:ln>
        </p:spPr>
        <p:txBody>
          <a:bodyPr wrap="none" lIns="0" tIns="0" rIns="0" bIns="0" anchor="t" anchorCtr="0">
            <a:spAutoFit/>
          </a:bodyPr>
          <a:lstStyle/>
          <a:p>
            <a:pPr algn="l"/>
            <a:r>
              <a:rPr lang="zh-CN" sz="1050" b="1" dirty="0">
                <a:solidFill>
                  <a:srgbClr val="4A90D9"/>
                </a:solidFill>
                <a:latin typeface="Arial"/>
                <a:ea typeface="Microsoft YaHei"/>
                <a:cs typeface="Arial"/>
              </a:rPr>
              <a:t>W9</a:t>
            </a:r>
          </a:p>
        </p:txBody>
      </p:sp>
      <p:sp>
        <p:nvSpPr>
          <p:cNvPr id="36" name="TextBox 36"/>
          <p:cNvSpPr txBox="1"/>
          <p:nvPr/>
        </p:nvSpPr>
        <p:spPr>
          <a:xfrm>
            <a:off x="8082915" y="2506028"/>
            <a:ext cx="2273284"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What Git/GitHub is (concepts)</a:t>
            </a:r>
          </a:p>
        </p:txBody>
      </p:sp>
      <p:sp>
        <p:nvSpPr>
          <p:cNvPr id="37" name="TextBox 37"/>
          <p:cNvSpPr txBox="1"/>
          <p:nvPr/>
        </p:nvSpPr>
        <p:spPr>
          <a:xfrm>
            <a:off x="7703820" y="2712720"/>
            <a:ext cx="179079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Repo, Commit, Diff, Branch</a:t>
            </a:r>
          </a:p>
        </p:txBody>
      </p:sp>
      <p:sp>
        <p:nvSpPr>
          <p:cNvPr id="38" name="Polygon 38"/>
          <p:cNvSpPr/>
          <p:nvPr/>
        </p:nvSpPr>
        <p:spPr>
          <a:xfrm>
            <a:off x="9239250" y="2905125"/>
            <a:ext cx="190500" cy="95250"/>
          </a:xfrm>
          <a:custGeom>
            <a:avLst/>
            <a:gdLst/>
            <a:ahLst/>
            <a:cxnLst/>
            <a:rect l="l" t="t" r="r" b="b"/>
            <a:pathLst>
              <a:path w="190500" h="95250">
                <a:moveTo>
                  <a:pt x="95250" y="95250"/>
                </a:moveTo>
                <a:lnTo>
                  <a:pt x="0" y="0"/>
                </a:lnTo>
                <a:lnTo>
                  <a:pt x="190500" y="0"/>
                </a:lnTo>
                <a:close/>
              </a:path>
            </a:pathLst>
          </a:custGeom>
          <a:solidFill>
            <a:srgbClr val="64748B"/>
          </a:solidFill>
          <a:ln>
            <a:noFill/>
          </a:ln>
        </p:spPr>
        <p:txBody>
          <a:bodyPr/>
          <a:lstStyle/>
          <a:p>
            <a:endParaRPr lang="en-US"/>
          </a:p>
        </p:txBody>
      </p:sp>
      <p:sp>
        <p:nvSpPr>
          <p:cNvPr id="39" name="Rectangle 39"/>
          <p:cNvSpPr/>
          <p:nvPr/>
        </p:nvSpPr>
        <p:spPr>
          <a:xfrm>
            <a:off x="7524750" y="3095625"/>
            <a:ext cx="3619500" cy="523875"/>
          </a:xfrm>
          <a:prstGeom prst="rect">
            <a:avLst/>
          </a:prstGeom>
          <a:solidFill>
            <a:srgbClr val="10B981">
              <a:alpha val="8000"/>
            </a:srgbClr>
          </a:solidFill>
          <a:ln>
            <a:noFill/>
          </a:ln>
        </p:spPr>
        <p:txBody>
          <a:bodyPr/>
          <a:lstStyle/>
          <a:p>
            <a:endParaRPr lang="en-US"/>
          </a:p>
        </p:txBody>
      </p:sp>
      <p:sp>
        <p:nvSpPr>
          <p:cNvPr id="40" name="TextBox 40"/>
          <p:cNvSpPr txBox="1"/>
          <p:nvPr/>
        </p:nvSpPr>
        <p:spPr>
          <a:xfrm>
            <a:off x="7701915" y="3220402"/>
            <a:ext cx="429220" cy="213360"/>
          </a:xfrm>
          <a:prstGeom prst="rect">
            <a:avLst/>
          </a:prstGeom>
          <a:noFill/>
          <a:ln>
            <a:noFill/>
          </a:ln>
        </p:spPr>
        <p:txBody>
          <a:bodyPr wrap="none" lIns="0" tIns="0" rIns="0" bIns="0" anchor="t" anchorCtr="0">
            <a:spAutoFit/>
          </a:bodyPr>
          <a:lstStyle/>
          <a:p>
            <a:pPr algn="l"/>
            <a:r>
              <a:rPr lang="zh-CN" sz="1050" b="1" dirty="0">
                <a:solidFill>
                  <a:srgbClr val="10B981"/>
                </a:solidFill>
                <a:latin typeface="Arial"/>
                <a:ea typeface="Microsoft YaHei"/>
                <a:cs typeface="Arial"/>
              </a:rPr>
              <a:t>Video</a:t>
            </a:r>
          </a:p>
        </p:txBody>
      </p:sp>
      <p:sp>
        <p:nvSpPr>
          <p:cNvPr id="41" name="TextBox 41"/>
          <p:cNvSpPr txBox="1"/>
          <p:nvPr/>
        </p:nvSpPr>
        <p:spPr>
          <a:xfrm>
            <a:off x="8178165" y="3220402"/>
            <a:ext cx="2480310"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a:ea typeface="Microsoft YaHei"/>
                <a:cs typeface="Arial"/>
              </a:rPr>
              <a:t>Individual workflow (4 concepts)</a:t>
            </a:r>
          </a:p>
        </p:txBody>
      </p:sp>
      <p:sp>
        <p:nvSpPr>
          <p:cNvPr id="42" name="TextBox 42"/>
          <p:cNvSpPr txBox="1"/>
          <p:nvPr/>
        </p:nvSpPr>
        <p:spPr>
          <a:xfrm>
            <a:off x="7703820" y="3427095"/>
            <a:ext cx="1757934"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Init, Commit, Branch, Push</a:t>
            </a:r>
          </a:p>
        </p:txBody>
      </p:sp>
      <p:sp>
        <p:nvSpPr>
          <p:cNvPr id="43" name="Polygon 43"/>
          <p:cNvSpPr/>
          <p:nvPr/>
        </p:nvSpPr>
        <p:spPr>
          <a:xfrm>
            <a:off x="9239250" y="3619500"/>
            <a:ext cx="190500" cy="95250"/>
          </a:xfrm>
          <a:custGeom>
            <a:avLst/>
            <a:gdLst/>
            <a:ahLst/>
            <a:cxnLst/>
            <a:rect l="l" t="t" r="r" b="b"/>
            <a:pathLst>
              <a:path w="190500" h="95250">
                <a:moveTo>
                  <a:pt x="95250" y="95250"/>
                </a:moveTo>
                <a:lnTo>
                  <a:pt x="0" y="0"/>
                </a:lnTo>
                <a:lnTo>
                  <a:pt x="190500" y="0"/>
                </a:lnTo>
                <a:close/>
              </a:path>
            </a:pathLst>
          </a:custGeom>
          <a:solidFill>
            <a:srgbClr val="64748B"/>
          </a:solidFill>
          <a:ln>
            <a:noFill/>
          </a:ln>
        </p:spPr>
        <p:txBody>
          <a:bodyPr/>
          <a:lstStyle/>
          <a:p>
            <a:endParaRPr lang="en-US"/>
          </a:p>
        </p:txBody>
      </p:sp>
      <p:sp>
        <p:nvSpPr>
          <p:cNvPr id="44" name="Rectangle 44"/>
          <p:cNvSpPr/>
          <p:nvPr/>
        </p:nvSpPr>
        <p:spPr>
          <a:xfrm>
            <a:off x="7524750" y="3810000"/>
            <a:ext cx="3619500" cy="523875"/>
          </a:xfrm>
          <a:prstGeom prst="rect">
            <a:avLst/>
          </a:prstGeom>
          <a:solidFill>
            <a:srgbClr val="D97757">
              <a:alpha val="12000"/>
            </a:srgbClr>
          </a:solidFill>
          <a:ln w="19050">
            <a:solidFill>
              <a:srgbClr val="D97757"/>
            </a:solidFill>
          </a:ln>
        </p:spPr>
        <p:txBody>
          <a:bodyPr/>
          <a:lstStyle/>
          <a:p>
            <a:endParaRPr lang="en-US"/>
          </a:p>
        </p:txBody>
      </p:sp>
      <p:sp>
        <p:nvSpPr>
          <p:cNvPr id="45" name="TextBox 45"/>
          <p:cNvSpPr txBox="1"/>
          <p:nvPr/>
        </p:nvSpPr>
        <p:spPr>
          <a:xfrm>
            <a:off x="7701915" y="3934778"/>
            <a:ext cx="606342" cy="213360"/>
          </a:xfrm>
          <a:prstGeom prst="rect">
            <a:avLst/>
          </a:prstGeom>
          <a:noFill/>
          <a:ln>
            <a:noFill/>
          </a:ln>
        </p:spPr>
        <p:txBody>
          <a:bodyPr wrap="none" lIns="0" tIns="0" rIns="0" bIns="0" anchor="t" anchorCtr="0">
            <a:spAutoFit/>
          </a:bodyPr>
          <a:lstStyle/>
          <a:p>
            <a:pPr algn="l"/>
            <a:r>
              <a:rPr lang="zh-CN" sz="1050" b="1" dirty="0">
                <a:solidFill>
                  <a:srgbClr val="D97757"/>
                </a:solidFill>
                <a:latin typeface="Arial"/>
                <a:ea typeface="Microsoft YaHei"/>
                <a:cs typeface="Arial"/>
              </a:rPr>
              <a:t>Tonight</a:t>
            </a:r>
          </a:p>
        </p:txBody>
      </p:sp>
      <p:sp>
        <p:nvSpPr>
          <p:cNvPr id="46" name="TextBox 46"/>
          <p:cNvSpPr txBox="1"/>
          <p:nvPr/>
        </p:nvSpPr>
        <p:spPr>
          <a:xfrm>
            <a:off x="8273415" y="3934778"/>
            <a:ext cx="1491953" cy="213360"/>
          </a:xfrm>
          <a:prstGeom prst="rect">
            <a:avLst/>
          </a:prstGeom>
          <a:noFill/>
          <a:ln>
            <a:noFill/>
          </a:ln>
        </p:spPr>
        <p:txBody>
          <a:bodyPr wrap="none" lIns="0" tIns="0" rIns="0" bIns="0" anchor="t" anchorCtr="0">
            <a:spAutoFit/>
          </a:bodyPr>
          <a:lstStyle/>
          <a:p>
            <a:pPr algn="l"/>
            <a:r>
              <a:rPr lang="zh-CN" sz="1050" b="1" dirty="0">
                <a:solidFill>
                  <a:srgbClr val="1A1A2E"/>
                </a:solidFill>
                <a:latin typeface="Arial"/>
                <a:ea typeface="Microsoft YaHei"/>
                <a:cs typeface="Arial"/>
              </a:rPr>
              <a:t>Team collaboration</a:t>
            </a:r>
          </a:p>
        </p:txBody>
      </p:sp>
      <p:sp>
        <p:nvSpPr>
          <p:cNvPr id="47" name="TextBox 47"/>
          <p:cNvSpPr txBox="1"/>
          <p:nvPr/>
        </p:nvSpPr>
        <p:spPr>
          <a:xfrm>
            <a:off x="7703820" y="4141470"/>
            <a:ext cx="1856518"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Branching + PRs + Public Repo</a:t>
            </a:r>
          </a:p>
        </p:txBody>
      </p:sp>
      <p:sp>
        <p:nvSpPr>
          <p:cNvPr id="48" name="TextBox 48"/>
          <p:cNvSpPr txBox="1"/>
          <p:nvPr/>
        </p:nvSpPr>
        <p:spPr>
          <a:xfrm>
            <a:off x="8109309" y="4728210"/>
            <a:ext cx="2450382" cy="243840"/>
          </a:xfrm>
          <a:prstGeom prst="rect">
            <a:avLst/>
          </a:prstGeom>
          <a:noFill/>
          <a:ln>
            <a:noFill/>
          </a:ln>
        </p:spPr>
        <p:txBody>
          <a:bodyPr wrap="none" lIns="0" tIns="0" rIns="0" bIns="0" anchor="t" anchorCtr="0">
            <a:spAutoFit/>
          </a:bodyPr>
          <a:lstStyle/>
          <a:p>
            <a:pPr algn="ctr"/>
            <a:r>
              <a:rPr lang="zh-CN" sz="1200" b="1" dirty="0">
                <a:solidFill>
                  <a:srgbClr val="1A1A2E"/>
                </a:solidFill>
                <a:latin typeface="Arial"/>
                <a:ea typeface="Microsoft YaHei"/>
                <a:cs typeface="Arial"/>
              </a:rPr>
              <a:t>"You know what these are.</a:t>
            </a:r>
          </a:p>
        </p:txBody>
      </p:sp>
      <p:sp>
        <p:nvSpPr>
          <p:cNvPr id="49" name="TextBox 49"/>
          <p:cNvSpPr txBox="1"/>
          <p:nvPr/>
        </p:nvSpPr>
        <p:spPr>
          <a:xfrm>
            <a:off x="8017297" y="4966335"/>
            <a:ext cx="2634405" cy="243840"/>
          </a:xfrm>
          <a:prstGeom prst="rect">
            <a:avLst/>
          </a:prstGeom>
          <a:noFill/>
          <a:ln>
            <a:noFill/>
          </a:ln>
        </p:spPr>
        <p:txBody>
          <a:bodyPr wrap="none" lIns="0" tIns="0" rIns="0" bIns="0" anchor="t" anchorCtr="0">
            <a:spAutoFit/>
          </a:bodyPr>
          <a:lstStyle/>
          <a:p>
            <a:pPr algn="ctr"/>
            <a:r>
              <a:rPr lang="zh-CN" sz="1200" b="1" dirty="0">
                <a:solidFill>
                  <a:srgbClr val="D97757"/>
                </a:solidFill>
                <a:latin typeface="Arial"/>
                <a:ea typeface="Microsoft YaHei"/>
                <a:cs typeface="Arial"/>
              </a:rPr>
              <a:t>Now we use them as a team."</a:t>
            </a:r>
          </a:p>
        </p:txBody>
      </p:sp>
      <p:sp>
        <p:nvSpPr>
          <p:cNvPr id="50" name="TextBox 50"/>
          <p:cNvSpPr txBox="1"/>
          <p:nvPr/>
        </p:nvSpPr>
        <p:spPr>
          <a:xfrm>
            <a:off x="5887141" y="6411278"/>
            <a:ext cx="417719"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2 / 15</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sp>
        <p:nvSpPr>
          <p:cNvPr id="3" name="Rectangle 3"/>
          <p:cNvSpPr/>
          <p:nvPr/>
        </p:nvSpPr>
        <p:spPr>
          <a:xfrm>
            <a:off x="0" y="0"/>
            <a:ext cx="12192000" cy="57150"/>
          </a:xfrm>
          <a:prstGeom prst="rect">
            <a:avLst/>
          </a:prstGeom>
          <a:solidFill>
            <a:srgbClr val="D97757"/>
          </a:solidFill>
          <a:ln>
            <a:noFill/>
          </a:ln>
        </p:spPr>
        <p:txBody>
          <a:bodyPr/>
          <a:lstStyle/>
          <a:p>
            <a:endParaRPr lang="en-US"/>
          </a:p>
        </p:txBody>
      </p:sp>
      <p:sp>
        <p:nvSpPr>
          <p:cNvPr id="4" name="TextBox 4"/>
          <p:cNvSpPr txBox="1"/>
          <p:nvPr/>
        </p:nvSpPr>
        <p:spPr>
          <a:xfrm>
            <a:off x="558165" y="410528"/>
            <a:ext cx="732092" cy="213360"/>
          </a:xfrm>
          <a:prstGeom prst="rect">
            <a:avLst/>
          </a:prstGeom>
          <a:noFill/>
          <a:ln>
            <a:noFill/>
          </a:ln>
        </p:spPr>
        <p:txBody>
          <a:bodyPr wrap="none" lIns="0" tIns="0" rIns="0" bIns="0" anchor="t" anchorCtr="0">
            <a:spAutoFit/>
          </a:bodyPr>
          <a:lstStyle/>
          <a:p>
            <a:pPr algn="l"/>
            <a:r>
              <a:rPr lang="zh-CN" sz="1050" dirty="0">
                <a:solidFill>
                  <a:srgbClr val="D97757"/>
                </a:solidFill>
                <a:latin typeface="Arial"/>
                <a:ea typeface="Microsoft YaHei"/>
                <a:cs typeface="Arial"/>
              </a:rPr>
              <a:t>CONCEPTS</a:t>
            </a:r>
          </a:p>
        </p:txBody>
      </p:sp>
      <p:sp>
        <p:nvSpPr>
          <p:cNvPr id="5" name="TextBox 5"/>
          <p:cNvSpPr txBox="1"/>
          <p:nvPr/>
        </p:nvSpPr>
        <p:spPr>
          <a:xfrm>
            <a:off x="541020" y="693420"/>
            <a:ext cx="6078512" cy="487680"/>
          </a:xfrm>
          <a:prstGeom prst="rect">
            <a:avLst/>
          </a:prstGeom>
          <a:noFill/>
          <a:ln>
            <a:noFill/>
          </a:ln>
        </p:spPr>
        <p:txBody>
          <a:bodyPr wrap="none" lIns="0" tIns="0" rIns="0" bIns="0" anchor="t" anchorCtr="0">
            <a:spAutoFit/>
          </a:bodyPr>
          <a:lstStyle/>
          <a:p>
            <a:pPr algn="l"/>
            <a:r>
              <a:rPr lang="zh-CN" sz="2400" b="1" dirty="0">
                <a:solidFill>
                  <a:srgbClr val="1A1A2E"/>
                </a:solidFill>
                <a:latin typeface="Arial"/>
                <a:ea typeface="Microsoft YaHei"/>
                <a:cs typeface="Arial"/>
              </a:rPr>
              <a:t>Git Is Game Film for Your Projects</a:t>
            </a:r>
          </a:p>
        </p:txBody>
      </p:sp>
      <p:sp>
        <p:nvSpPr>
          <p:cNvPr id="6" name="TextBox 6"/>
          <p:cNvSpPr txBox="1"/>
          <p:nvPr/>
        </p:nvSpPr>
        <p:spPr>
          <a:xfrm>
            <a:off x="554355" y="1330642"/>
            <a:ext cx="1400661" cy="274320"/>
          </a:xfrm>
          <a:prstGeom prst="rect">
            <a:avLst/>
          </a:prstGeom>
          <a:noFill/>
          <a:ln>
            <a:noFill/>
          </a:ln>
        </p:spPr>
        <p:txBody>
          <a:bodyPr wrap="none" lIns="0" tIns="0" rIns="0" bIns="0" anchor="t" anchorCtr="0">
            <a:spAutoFit/>
          </a:bodyPr>
          <a:lstStyle/>
          <a:p>
            <a:pPr algn="l"/>
            <a:r>
              <a:rPr lang="zh-CN" sz="1350" b="1" dirty="0">
                <a:solidFill>
                  <a:srgbClr val="4A90D9"/>
                </a:solidFill>
                <a:latin typeface="Arial"/>
                <a:ea typeface="Microsoft YaHei"/>
                <a:cs typeface="Arial"/>
              </a:rPr>
              <a:t>What Git Does</a:t>
            </a:r>
          </a:p>
        </p:txBody>
      </p:sp>
      <p:sp>
        <p:nvSpPr>
          <p:cNvPr id="7" name="Freeform 7"/>
          <p:cNvSpPr/>
          <p:nvPr/>
        </p:nvSpPr>
        <p:spPr>
          <a:xfrm>
            <a:off x="571500" y="1809750"/>
            <a:ext cx="304800" cy="114300"/>
          </a:xfrm>
          <a:custGeom>
            <a:avLst/>
            <a:gdLst/>
            <a:ahLst/>
            <a:cxnLst/>
            <a:rect l="l" t="t" r="r" b="b"/>
            <a:pathLst>
              <a:path w="304800" h="114300">
                <a:moveTo>
                  <a:pt x="206298" y="38100"/>
                </a:moveTo>
                <a:lnTo>
                  <a:pt x="304800" y="38100"/>
                </a:lnTo>
                <a:lnTo>
                  <a:pt x="304800" y="76200"/>
                </a:lnTo>
                <a:lnTo>
                  <a:pt x="206298" y="76200"/>
                </a:lnTo>
                <a:cubicBezTo>
                  <a:pt x="198453" y="98397"/>
                  <a:pt x="177283" y="114300"/>
                  <a:pt x="152400" y="114300"/>
                </a:cubicBezTo>
                <a:cubicBezTo>
                  <a:pt x="127517" y="114300"/>
                  <a:pt x="106347" y="98397"/>
                  <a:pt x="98502" y="76200"/>
                </a:cubicBezTo>
                <a:lnTo>
                  <a:pt x="0" y="76200"/>
                </a:lnTo>
                <a:lnTo>
                  <a:pt x="0" y="38100"/>
                </a:lnTo>
                <a:lnTo>
                  <a:pt x="98502" y="38100"/>
                </a:lnTo>
                <a:cubicBezTo>
                  <a:pt x="106347" y="15903"/>
                  <a:pt x="127517" y="0"/>
                  <a:pt x="152400" y="0"/>
                </a:cubicBezTo>
                <a:cubicBezTo>
                  <a:pt x="177283" y="0"/>
                  <a:pt x="198453" y="15903"/>
                  <a:pt x="206298" y="38100"/>
                </a:cubicBezTo>
                <a:close/>
              </a:path>
            </a:pathLst>
          </a:custGeom>
          <a:solidFill>
            <a:srgbClr val="4A90D9"/>
          </a:solidFill>
          <a:ln>
            <a:noFill/>
          </a:ln>
        </p:spPr>
        <p:txBody>
          <a:bodyPr/>
          <a:lstStyle/>
          <a:p>
            <a:endParaRPr lang="en-US"/>
          </a:p>
        </p:txBody>
      </p:sp>
      <p:sp>
        <p:nvSpPr>
          <p:cNvPr id="8" name="TextBox 8"/>
          <p:cNvSpPr txBox="1"/>
          <p:nvPr/>
        </p:nvSpPr>
        <p:spPr>
          <a:xfrm>
            <a:off x="983932" y="1767364"/>
            <a:ext cx="2751106"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Tracks every change you make</a:t>
            </a:r>
          </a:p>
        </p:txBody>
      </p:sp>
      <p:grpSp>
        <p:nvGrpSpPr>
          <p:cNvPr id="11" name="Group 11"/>
          <p:cNvGrpSpPr/>
          <p:nvPr/>
        </p:nvGrpSpPr>
        <p:grpSpPr>
          <a:xfrm>
            <a:off x="581025" y="2200275"/>
            <a:ext cx="285750" cy="285750"/>
            <a:chOff x="581025" y="2200275"/>
            <a:chExt cx="285750" cy="285750"/>
          </a:xfrm>
        </p:grpSpPr>
        <p:sp>
          <p:nvSpPr>
            <p:cNvPr id="9" name="Freeform 9"/>
            <p:cNvSpPr/>
            <p:nvPr/>
          </p:nvSpPr>
          <p:spPr>
            <a:xfrm>
              <a:off x="695325" y="2200275"/>
              <a:ext cx="171450" cy="276225"/>
            </a:xfrm>
            <a:custGeom>
              <a:avLst/>
              <a:gdLst/>
              <a:ahLst/>
              <a:cxnLst/>
              <a:rect l="l" t="t" r="r" b="b"/>
              <a:pathLst>
                <a:path w="171450" h="276225">
                  <a:moveTo>
                    <a:pt x="76200" y="0"/>
                  </a:moveTo>
                  <a:lnTo>
                    <a:pt x="57150" y="0"/>
                  </a:lnTo>
                  <a:lnTo>
                    <a:pt x="0" y="57150"/>
                  </a:lnTo>
                  <a:lnTo>
                    <a:pt x="57150" y="114300"/>
                  </a:lnTo>
                  <a:lnTo>
                    <a:pt x="76200" y="114300"/>
                  </a:lnTo>
                  <a:lnTo>
                    <a:pt x="76200" y="76200"/>
                  </a:lnTo>
                  <a:lnTo>
                    <a:pt x="104775" y="76200"/>
                  </a:lnTo>
                  <a:lnTo>
                    <a:pt x="104775" y="184937"/>
                  </a:lnTo>
                  <a:cubicBezTo>
                    <a:pt x="87954" y="192287"/>
                    <a:pt x="76200" y="209070"/>
                    <a:pt x="76200" y="228600"/>
                  </a:cubicBezTo>
                  <a:cubicBezTo>
                    <a:pt x="76200" y="254902"/>
                    <a:pt x="97523" y="276225"/>
                    <a:pt x="123825" y="276225"/>
                  </a:cubicBezTo>
                  <a:cubicBezTo>
                    <a:pt x="150127" y="276225"/>
                    <a:pt x="171450" y="254902"/>
                    <a:pt x="171450" y="228600"/>
                  </a:cubicBezTo>
                  <a:cubicBezTo>
                    <a:pt x="171450" y="209070"/>
                    <a:pt x="159696" y="192287"/>
                    <a:pt x="142875" y="184937"/>
                  </a:cubicBezTo>
                  <a:lnTo>
                    <a:pt x="142875" y="38100"/>
                  </a:lnTo>
                  <a:lnTo>
                    <a:pt x="76200" y="38100"/>
                  </a:lnTo>
                  <a:lnTo>
                    <a:pt x="76200" y="0"/>
                  </a:lnTo>
                  <a:close/>
                </a:path>
              </a:pathLst>
            </a:custGeom>
            <a:solidFill>
              <a:srgbClr val="4A90D9"/>
            </a:solidFill>
            <a:ln>
              <a:noFill/>
            </a:ln>
          </p:spPr>
          <p:txBody>
            <a:bodyPr/>
            <a:lstStyle/>
            <a:p>
              <a:endParaRPr lang="en-US"/>
            </a:p>
          </p:txBody>
        </p:sp>
        <p:sp>
          <p:nvSpPr>
            <p:cNvPr id="10" name="Freeform 10"/>
            <p:cNvSpPr/>
            <p:nvPr/>
          </p:nvSpPr>
          <p:spPr>
            <a:xfrm>
              <a:off x="581025" y="2209800"/>
              <a:ext cx="171450" cy="276225"/>
            </a:xfrm>
            <a:custGeom>
              <a:avLst/>
              <a:gdLst/>
              <a:ahLst/>
              <a:cxnLst/>
              <a:rect l="l" t="t" r="r" b="b"/>
              <a:pathLst>
                <a:path w="171450" h="276225">
                  <a:moveTo>
                    <a:pt x="114300" y="276225"/>
                  </a:moveTo>
                  <a:lnTo>
                    <a:pt x="171450" y="219075"/>
                  </a:lnTo>
                  <a:lnTo>
                    <a:pt x="114300" y="161925"/>
                  </a:lnTo>
                  <a:lnTo>
                    <a:pt x="95250" y="161925"/>
                  </a:lnTo>
                  <a:lnTo>
                    <a:pt x="95250" y="200025"/>
                  </a:lnTo>
                  <a:lnTo>
                    <a:pt x="66675" y="200025"/>
                  </a:lnTo>
                  <a:lnTo>
                    <a:pt x="66675" y="91287"/>
                  </a:lnTo>
                  <a:cubicBezTo>
                    <a:pt x="83495" y="83938"/>
                    <a:pt x="95250" y="67154"/>
                    <a:pt x="95250" y="47625"/>
                  </a:cubicBezTo>
                  <a:cubicBezTo>
                    <a:pt x="95250" y="21322"/>
                    <a:pt x="73928" y="0"/>
                    <a:pt x="47625" y="0"/>
                  </a:cubicBezTo>
                  <a:cubicBezTo>
                    <a:pt x="21322" y="0"/>
                    <a:pt x="0" y="21322"/>
                    <a:pt x="0" y="47625"/>
                  </a:cubicBezTo>
                  <a:cubicBezTo>
                    <a:pt x="0" y="67154"/>
                    <a:pt x="11755" y="83938"/>
                    <a:pt x="28575" y="91287"/>
                  </a:cubicBezTo>
                  <a:lnTo>
                    <a:pt x="28575" y="238125"/>
                  </a:lnTo>
                  <a:lnTo>
                    <a:pt x="95250" y="238125"/>
                  </a:lnTo>
                  <a:lnTo>
                    <a:pt x="95250" y="276225"/>
                  </a:lnTo>
                  <a:lnTo>
                    <a:pt x="114300" y="276225"/>
                  </a:lnTo>
                  <a:close/>
                </a:path>
              </a:pathLst>
            </a:custGeom>
            <a:solidFill>
              <a:srgbClr val="4A90D9"/>
            </a:solidFill>
            <a:ln>
              <a:noFill/>
            </a:ln>
          </p:spPr>
          <p:txBody>
            <a:bodyPr/>
            <a:lstStyle/>
            <a:p>
              <a:endParaRPr lang="en-US"/>
            </a:p>
          </p:txBody>
        </p:sp>
      </p:grpSp>
      <p:sp>
        <p:nvSpPr>
          <p:cNvPr id="12" name="TextBox 12"/>
          <p:cNvSpPr txBox="1"/>
          <p:nvPr/>
        </p:nvSpPr>
        <p:spPr>
          <a:xfrm>
            <a:off x="983932" y="2243614"/>
            <a:ext cx="3700796"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Compare what changed between versions</a:t>
            </a:r>
          </a:p>
        </p:txBody>
      </p:sp>
      <p:sp>
        <p:nvSpPr>
          <p:cNvPr id="13" name="Freeform 13"/>
          <p:cNvSpPr/>
          <p:nvPr/>
        </p:nvSpPr>
        <p:spPr>
          <a:xfrm>
            <a:off x="600075" y="2667000"/>
            <a:ext cx="247650" cy="304800"/>
          </a:xfrm>
          <a:custGeom>
            <a:avLst/>
            <a:gdLst/>
            <a:ahLst/>
            <a:cxnLst/>
            <a:rect l="l" t="t" r="r" b="b"/>
            <a:pathLst>
              <a:path w="247650" h="304800">
                <a:moveTo>
                  <a:pt x="66675" y="91287"/>
                </a:moveTo>
                <a:cubicBezTo>
                  <a:pt x="83495" y="83938"/>
                  <a:pt x="95250" y="67154"/>
                  <a:pt x="95250" y="47625"/>
                </a:cubicBezTo>
                <a:cubicBezTo>
                  <a:pt x="95250" y="21322"/>
                  <a:pt x="73928" y="0"/>
                  <a:pt x="47625" y="0"/>
                </a:cubicBezTo>
                <a:cubicBezTo>
                  <a:pt x="21322" y="0"/>
                  <a:pt x="0" y="21322"/>
                  <a:pt x="0" y="47625"/>
                </a:cubicBezTo>
                <a:cubicBezTo>
                  <a:pt x="0" y="67154"/>
                  <a:pt x="11755" y="83938"/>
                  <a:pt x="28575" y="91287"/>
                </a:cubicBezTo>
                <a:lnTo>
                  <a:pt x="28575" y="213512"/>
                </a:lnTo>
                <a:cubicBezTo>
                  <a:pt x="11755" y="220862"/>
                  <a:pt x="0" y="237645"/>
                  <a:pt x="0" y="257175"/>
                </a:cubicBezTo>
                <a:cubicBezTo>
                  <a:pt x="0" y="283477"/>
                  <a:pt x="21322" y="304800"/>
                  <a:pt x="47625" y="304800"/>
                </a:cubicBezTo>
                <a:cubicBezTo>
                  <a:pt x="73928" y="304800"/>
                  <a:pt x="95250" y="283477"/>
                  <a:pt x="95250" y="257175"/>
                </a:cubicBezTo>
                <a:cubicBezTo>
                  <a:pt x="95250" y="237645"/>
                  <a:pt x="83495" y="220862"/>
                  <a:pt x="66675" y="213512"/>
                </a:cubicBezTo>
                <a:lnTo>
                  <a:pt x="66675" y="171450"/>
                </a:lnTo>
                <a:lnTo>
                  <a:pt x="219075" y="171450"/>
                </a:lnTo>
                <a:lnTo>
                  <a:pt x="219075" y="91287"/>
                </a:lnTo>
                <a:cubicBezTo>
                  <a:pt x="235896" y="83938"/>
                  <a:pt x="247650" y="67154"/>
                  <a:pt x="247650" y="47625"/>
                </a:cubicBezTo>
                <a:cubicBezTo>
                  <a:pt x="247650" y="21322"/>
                  <a:pt x="226327" y="0"/>
                  <a:pt x="200025" y="0"/>
                </a:cubicBezTo>
                <a:cubicBezTo>
                  <a:pt x="173723" y="0"/>
                  <a:pt x="152400" y="21322"/>
                  <a:pt x="152400" y="47625"/>
                </a:cubicBezTo>
                <a:cubicBezTo>
                  <a:pt x="152400" y="67154"/>
                  <a:pt x="164154" y="83938"/>
                  <a:pt x="180975" y="91287"/>
                </a:cubicBezTo>
                <a:lnTo>
                  <a:pt x="180975" y="133350"/>
                </a:lnTo>
                <a:lnTo>
                  <a:pt x="66675" y="133350"/>
                </a:lnTo>
                <a:lnTo>
                  <a:pt x="66675" y="91287"/>
                </a:lnTo>
                <a:close/>
              </a:path>
            </a:pathLst>
          </a:custGeom>
          <a:solidFill>
            <a:srgbClr val="4A90D9"/>
          </a:solidFill>
          <a:ln>
            <a:noFill/>
          </a:ln>
        </p:spPr>
        <p:txBody>
          <a:bodyPr/>
          <a:lstStyle/>
          <a:p>
            <a:endParaRPr lang="en-US"/>
          </a:p>
        </p:txBody>
      </p:sp>
      <p:sp>
        <p:nvSpPr>
          <p:cNvPr id="14" name="TextBox 14"/>
          <p:cNvSpPr txBox="1"/>
          <p:nvPr/>
        </p:nvSpPr>
        <p:spPr>
          <a:xfrm>
            <a:off x="983932" y="2719864"/>
            <a:ext cx="4166330"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Create parallel versions to experiment safely</a:t>
            </a:r>
          </a:p>
        </p:txBody>
      </p:sp>
      <p:sp>
        <p:nvSpPr>
          <p:cNvPr id="15" name="Freeform 15"/>
          <p:cNvSpPr/>
          <p:nvPr/>
        </p:nvSpPr>
        <p:spPr>
          <a:xfrm>
            <a:off x="609600" y="3143250"/>
            <a:ext cx="228600" cy="304800"/>
          </a:xfrm>
          <a:custGeom>
            <a:avLst/>
            <a:gdLst/>
            <a:ahLst/>
            <a:cxnLst/>
            <a:rect l="l" t="t" r="r" b="b"/>
            <a:pathLst>
              <a:path w="228600" h="304800">
                <a:moveTo>
                  <a:pt x="57150" y="219075"/>
                </a:moveTo>
                <a:lnTo>
                  <a:pt x="57150" y="276225"/>
                </a:lnTo>
                <a:lnTo>
                  <a:pt x="85725" y="304800"/>
                </a:lnTo>
                <a:lnTo>
                  <a:pt x="142875" y="304800"/>
                </a:lnTo>
                <a:lnTo>
                  <a:pt x="171450" y="276225"/>
                </a:lnTo>
                <a:lnTo>
                  <a:pt x="171450" y="219075"/>
                </a:lnTo>
                <a:lnTo>
                  <a:pt x="195064" y="195461"/>
                </a:lnTo>
                <a:cubicBezTo>
                  <a:pt x="216538" y="173988"/>
                  <a:pt x="228600" y="144807"/>
                  <a:pt x="228600" y="114440"/>
                </a:cubicBezTo>
                <a:cubicBezTo>
                  <a:pt x="228600" y="51314"/>
                  <a:pt x="177426" y="0"/>
                  <a:pt x="114300" y="0"/>
                </a:cubicBezTo>
                <a:cubicBezTo>
                  <a:pt x="51174" y="0"/>
                  <a:pt x="0" y="51314"/>
                  <a:pt x="0" y="114440"/>
                </a:cubicBezTo>
                <a:cubicBezTo>
                  <a:pt x="0" y="144807"/>
                  <a:pt x="12063" y="173988"/>
                  <a:pt x="33536" y="195461"/>
                </a:cubicBezTo>
                <a:lnTo>
                  <a:pt x="57150" y="219075"/>
                </a:lnTo>
                <a:close/>
                <a:moveTo>
                  <a:pt x="95250" y="188099"/>
                </a:moveTo>
                <a:lnTo>
                  <a:pt x="95250" y="114300"/>
                </a:lnTo>
                <a:lnTo>
                  <a:pt x="133350" y="114300"/>
                </a:lnTo>
                <a:lnTo>
                  <a:pt x="133350" y="188099"/>
                </a:lnTo>
                <a:cubicBezTo>
                  <a:pt x="166215" y="179640"/>
                  <a:pt x="190500" y="149806"/>
                  <a:pt x="190500" y="114300"/>
                </a:cubicBezTo>
                <a:cubicBezTo>
                  <a:pt x="190500" y="72216"/>
                  <a:pt x="156383" y="38100"/>
                  <a:pt x="114300" y="38100"/>
                </a:cubicBezTo>
                <a:cubicBezTo>
                  <a:pt x="72216" y="38100"/>
                  <a:pt x="38100" y="72216"/>
                  <a:pt x="38100" y="114300"/>
                </a:cubicBezTo>
                <a:cubicBezTo>
                  <a:pt x="38100" y="149806"/>
                  <a:pt x="62384" y="179640"/>
                  <a:pt x="95250" y="188099"/>
                </a:cubicBezTo>
                <a:close/>
              </a:path>
            </a:pathLst>
          </a:custGeom>
          <a:solidFill>
            <a:srgbClr val="4A90D9"/>
          </a:solidFill>
          <a:ln>
            <a:noFill/>
          </a:ln>
        </p:spPr>
        <p:txBody>
          <a:bodyPr/>
          <a:lstStyle/>
          <a:p>
            <a:endParaRPr lang="en-US"/>
          </a:p>
        </p:txBody>
      </p:sp>
      <p:sp>
        <p:nvSpPr>
          <p:cNvPr id="16" name="TextBox 16"/>
          <p:cNvSpPr txBox="1"/>
          <p:nvPr/>
        </p:nvSpPr>
        <p:spPr>
          <a:xfrm>
            <a:off x="983932" y="3196114"/>
            <a:ext cx="2816281"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Rewind to any previous version</a:t>
            </a:r>
          </a:p>
        </p:txBody>
      </p:sp>
      <p:sp>
        <p:nvSpPr>
          <p:cNvPr id="17" name="Rectangle 17"/>
          <p:cNvSpPr/>
          <p:nvPr/>
        </p:nvSpPr>
        <p:spPr>
          <a:xfrm>
            <a:off x="6096000" y="1285875"/>
            <a:ext cx="5524500" cy="361950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18" name="Rectangle 18"/>
          <p:cNvSpPr/>
          <p:nvPr/>
        </p:nvSpPr>
        <p:spPr>
          <a:xfrm>
            <a:off x="6096000" y="1285875"/>
            <a:ext cx="5524500" cy="57150"/>
          </a:xfrm>
          <a:prstGeom prst="rect">
            <a:avLst/>
          </a:prstGeom>
          <a:solidFill>
            <a:srgbClr val="10B981"/>
          </a:solidFill>
          <a:ln>
            <a:noFill/>
          </a:ln>
        </p:spPr>
        <p:txBody>
          <a:bodyPr/>
          <a:lstStyle/>
          <a:p>
            <a:endParaRPr lang="en-US"/>
          </a:p>
        </p:txBody>
      </p:sp>
      <p:sp>
        <p:nvSpPr>
          <p:cNvPr id="19" name="TextBox 19"/>
          <p:cNvSpPr txBox="1"/>
          <p:nvPr/>
        </p:nvSpPr>
        <p:spPr>
          <a:xfrm>
            <a:off x="7240500" y="1533525"/>
            <a:ext cx="3235500" cy="304800"/>
          </a:xfrm>
          <a:prstGeom prst="rect">
            <a:avLst/>
          </a:prstGeom>
          <a:noFill/>
          <a:ln>
            <a:noFill/>
          </a:ln>
        </p:spPr>
        <p:txBody>
          <a:bodyPr wrap="none" lIns="0" tIns="0" rIns="0" bIns="0" anchor="t" anchorCtr="0">
            <a:spAutoFit/>
          </a:bodyPr>
          <a:lstStyle/>
          <a:p>
            <a:pPr algn="ctr"/>
            <a:r>
              <a:rPr lang="zh-CN" sz="1500" b="1" dirty="0">
                <a:solidFill>
                  <a:srgbClr val="1A1A2E"/>
                </a:solidFill>
                <a:latin typeface="Arial"/>
                <a:ea typeface="Microsoft YaHei"/>
                <a:cs typeface="Arial"/>
              </a:rPr>
              <a:t>Game Film Analogy (from W9)</a:t>
            </a:r>
          </a:p>
        </p:txBody>
      </p:sp>
      <p:sp>
        <p:nvSpPr>
          <p:cNvPr id="20" name="Rectangle 20"/>
          <p:cNvSpPr/>
          <p:nvPr/>
        </p:nvSpPr>
        <p:spPr>
          <a:xfrm>
            <a:off x="6381750" y="1885950"/>
            <a:ext cx="2381250" cy="342900"/>
          </a:xfrm>
          <a:prstGeom prst="rect">
            <a:avLst/>
          </a:prstGeom>
          <a:solidFill>
            <a:srgbClr val="10B981">
              <a:alpha val="10000"/>
            </a:srgbClr>
          </a:solidFill>
          <a:ln>
            <a:noFill/>
          </a:ln>
        </p:spPr>
        <p:txBody>
          <a:bodyPr/>
          <a:lstStyle/>
          <a:p>
            <a:endParaRPr lang="en-US"/>
          </a:p>
        </p:txBody>
      </p:sp>
      <p:sp>
        <p:nvSpPr>
          <p:cNvPr id="21" name="Rectangle 21"/>
          <p:cNvSpPr/>
          <p:nvPr/>
        </p:nvSpPr>
        <p:spPr>
          <a:xfrm>
            <a:off x="8953500" y="1885950"/>
            <a:ext cx="2381250" cy="342900"/>
          </a:xfrm>
          <a:prstGeom prst="rect">
            <a:avLst/>
          </a:prstGeom>
          <a:solidFill>
            <a:srgbClr val="4A90D9">
              <a:alpha val="10000"/>
            </a:srgbClr>
          </a:solidFill>
          <a:ln>
            <a:noFill/>
          </a:ln>
        </p:spPr>
        <p:txBody>
          <a:bodyPr/>
          <a:lstStyle/>
          <a:p>
            <a:endParaRPr lang="en-US"/>
          </a:p>
        </p:txBody>
      </p:sp>
      <p:sp>
        <p:nvSpPr>
          <p:cNvPr id="22" name="TextBox 22"/>
          <p:cNvSpPr txBox="1"/>
          <p:nvPr/>
        </p:nvSpPr>
        <p:spPr>
          <a:xfrm>
            <a:off x="7188694" y="2001202"/>
            <a:ext cx="767363" cy="213360"/>
          </a:xfrm>
          <a:prstGeom prst="rect">
            <a:avLst/>
          </a:prstGeom>
          <a:noFill/>
          <a:ln>
            <a:noFill/>
          </a:ln>
        </p:spPr>
        <p:txBody>
          <a:bodyPr wrap="none" lIns="0" tIns="0" rIns="0" bIns="0" anchor="t" anchorCtr="0">
            <a:spAutoFit/>
          </a:bodyPr>
          <a:lstStyle/>
          <a:p>
            <a:pPr algn="ctr"/>
            <a:r>
              <a:rPr lang="zh-CN" sz="1050" b="1" dirty="0">
                <a:solidFill>
                  <a:srgbClr val="10B981"/>
                </a:solidFill>
                <a:latin typeface="Arial"/>
                <a:ea typeface="Microsoft YaHei"/>
                <a:cs typeface="Arial"/>
              </a:rPr>
              <a:t>Game Film</a:t>
            </a:r>
          </a:p>
        </p:txBody>
      </p:sp>
      <p:sp>
        <p:nvSpPr>
          <p:cNvPr id="23" name="TextBox 23"/>
          <p:cNvSpPr txBox="1"/>
          <p:nvPr/>
        </p:nvSpPr>
        <p:spPr>
          <a:xfrm>
            <a:off x="9526965" y="2001202"/>
            <a:ext cx="1234321" cy="213360"/>
          </a:xfrm>
          <a:prstGeom prst="rect">
            <a:avLst/>
          </a:prstGeom>
          <a:noFill/>
          <a:ln>
            <a:noFill/>
          </a:ln>
        </p:spPr>
        <p:txBody>
          <a:bodyPr wrap="none" lIns="0" tIns="0" rIns="0" bIns="0" anchor="t" anchorCtr="0">
            <a:spAutoFit/>
          </a:bodyPr>
          <a:lstStyle/>
          <a:p>
            <a:pPr algn="ctr"/>
            <a:r>
              <a:rPr lang="zh-CN" sz="1050" b="1" dirty="0">
                <a:solidFill>
                  <a:srgbClr val="4A90D9"/>
                </a:solidFill>
                <a:latin typeface="Arial"/>
                <a:ea typeface="Microsoft YaHei"/>
                <a:cs typeface="Arial"/>
              </a:rPr>
              <a:t>Version Control</a:t>
            </a:r>
          </a:p>
        </p:txBody>
      </p:sp>
      <p:sp>
        <p:nvSpPr>
          <p:cNvPr id="24" name="Line 24"/>
          <p:cNvSpPr/>
          <p:nvPr/>
        </p:nvSpPr>
        <p:spPr>
          <a:xfrm>
            <a:off x="6381750" y="2381250"/>
            <a:ext cx="4953000" cy="9525"/>
          </a:xfrm>
          <a:custGeom>
            <a:avLst/>
            <a:gdLst/>
            <a:ahLst/>
            <a:cxnLst/>
            <a:rect l="l" t="t" r="r" b="b"/>
            <a:pathLst>
              <a:path w="4953000" h="9525">
                <a:moveTo>
                  <a:pt x="0" y="0"/>
                </a:moveTo>
                <a:lnTo>
                  <a:pt x="4953000" y="0"/>
                </a:lnTo>
              </a:path>
            </a:pathLst>
          </a:custGeom>
          <a:noFill/>
          <a:ln w="9525">
            <a:solidFill>
              <a:srgbClr val="E2E8F0"/>
            </a:solidFill>
          </a:ln>
        </p:spPr>
        <p:txBody>
          <a:bodyPr/>
          <a:lstStyle/>
          <a:p>
            <a:endParaRPr lang="en-US"/>
          </a:p>
        </p:txBody>
      </p:sp>
      <p:sp>
        <p:nvSpPr>
          <p:cNvPr id="25" name="TextBox 25"/>
          <p:cNvSpPr txBox="1"/>
          <p:nvPr/>
        </p:nvSpPr>
        <p:spPr>
          <a:xfrm>
            <a:off x="6666726" y="2497931"/>
            <a:ext cx="1811298"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Every play is recorded</a:t>
            </a:r>
          </a:p>
        </p:txBody>
      </p:sp>
      <p:sp>
        <p:nvSpPr>
          <p:cNvPr id="26" name="TextBox 26"/>
          <p:cNvSpPr txBox="1"/>
          <p:nvPr/>
        </p:nvSpPr>
        <p:spPr>
          <a:xfrm>
            <a:off x="9115246" y="2497931"/>
            <a:ext cx="205775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Every commit is recorded</a:t>
            </a:r>
          </a:p>
        </p:txBody>
      </p:sp>
      <p:sp>
        <p:nvSpPr>
          <p:cNvPr id="27" name="Line 27"/>
          <p:cNvSpPr/>
          <p:nvPr/>
        </p:nvSpPr>
        <p:spPr>
          <a:xfrm>
            <a:off x="6381750" y="2809875"/>
            <a:ext cx="4953000" cy="9525"/>
          </a:xfrm>
          <a:custGeom>
            <a:avLst/>
            <a:gdLst/>
            <a:ahLst/>
            <a:cxnLst/>
            <a:rect l="l" t="t" r="r" b="b"/>
            <a:pathLst>
              <a:path w="4953000" h="9525">
                <a:moveTo>
                  <a:pt x="0" y="0"/>
                </a:moveTo>
                <a:lnTo>
                  <a:pt x="4953000" y="0"/>
                </a:lnTo>
              </a:path>
            </a:pathLst>
          </a:custGeom>
          <a:noFill/>
          <a:ln w="9525">
            <a:solidFill>
              <a:srgbClr val="E2E8F0"/>
            </a:solidFill>
          </a:ln>
        </p:spPr>
        <p:txBody>
          <a:bodyPr/>
          <a:lstStyle/>
          <a:p>
            <a:endParaRPr lang="en-US"/>
          </a:p>
        </p:txBody>
      </p:sp>
      <p:sp>
        <p:nvSpPr>
          <p:cNvPr id="28" name="TextBox 28"/>
          <p:cNvSpPr txBox="1"/>
          <p:nvPr/>
        </p:nvSpPr>
        <p:spPr>
          <a:xfrm>
            <a:off x="6687264" y="2926556"/>
            <a:ext cx="177022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Rewind to any moment</a:t>
            </a:r>
          </a:p>
        </p:txBody>
      </p:sp>
      <p:sp>
        <p:nvSpPr>
          <p:cNvPr id="29" name="TextBox 29"/>
          <p:cNvSpPr txBox="1"/>
          <p:nvPr/>
        </p:nvSpPr>
        <p:spPr>
          <a:xfrm>
            <a:off x="9267230" y="2926556"/>
            <a:ext cx="175379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Rewind to any version</a:t>
            </a:r>
          </a:p>
        </p:txBody>
      </p:sp>
      <p:sp>
        <p:nvSpPr>
          <p:cNvPr id="30" name="Line 30"/>
          <p:cNvSpPr/>
          <p:nvPr/>
        </p:nvSpPr>
        <p:spPr>
          <a:xfrm>
            <a:off x="6381750" y="3238500"/>
            <a:ext cx="4953000" cy="9525"/>
          </a:xfrm>
          <a:custGeom>
            <a:avLst/>
            <a:gdLst/>
            <a:ahLst/>
            <a:cxnLst/>
            <a:rect l="l" t="t" r="r" b="b"/>
            <a:pathLst>
              <a:path w="4953000" h="9525">
                <a:moveTo>
                  <a:pt x="0" y="0"/>
                </a:moveTo>
                <a:lnTo>
                  <a:pt x="4953000" y="0"/>
                </a:lnTo>
              </a:path>
            </a:pathLst>
          </a:custGeom>
          <a:noFill/>
          <a:ln w="9525">
            <a:solidFill>
              <a:srgbClr val="E2E8F0"/>
            </a:solidFill>
          </a:ln>
        </p:spPr>
        <p:txBody>
          <a:bodyPr/>
          <a:lstStyle/>
          <a:p>
            <a:endParaRPr lang="en-US"/>
          </a:p>
        </p:txBody>
      </p:sp>
      <p:sp>
        <p:nvSpPr>
          <p:cNvPr id="31" name="TextBox 31"/>
          <p:cNvSpPr txBox="1"/>
          <p:nvPr/>
        </p:nvSpPr>
        <p:spPr>
          <a:xfrm>
            <a:off x="6670834" y="3355181"/>
            <a:ext cx="1803082"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Coaching notes on film</a:t>
            </a:r>
          </a:p>
        </p:txBody>
      </p:sp>
      <p:sp>
        <p:nvSpPr>
          <p:cNvPr id="32" name="TextBox 32"/>
          <p:cNvSpPr txBox="1"/>
          <p:nvPr/>
        </p:nvSpPr>
        <p:spPr>
          <a:xfrm>
            <a:off x="9443859" y="3355181"/>
            <a:ext cx="1400532"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Commit messages</a:t>
            </a:r>
          </a:p>
        </p:txBody>
      </p:sp>
      <p:sp>
        <p:nvSpPr>
          <p:cNvPr id="33" name="Line 33"/>
          <p:cNvSpPr/>
          <p:nvPr/>
        </p:nvSpPr>
        <p:spPr>
          <a:xfrm>
            <a:off x="6381750" y="3667125"/>
            <a:ext cx="4953000" cy="9525"/>
          </a:xfrm>
          <a:custGeom>
            <a:avLst/>
            <a:gdLst/>
            <a:ahLst/>
            <a:cxnLst/>
            <a:rect l="l" t="t" r="r" b="b"/>
            <a:pathLst>
              <a:path w="4953000" h="9525">
                <a:moveTo>
                  <a:pt x="0" y="0"/>
                </a:moveTo>
                <a:lnTo>
                  <a:pt x="4953000" y="0"/>
                </a:lnTo>
              </a:path>
            </a:pathLst>
          </a:custGeom>
          <a:noFill/>
          <a:ln w="9525">
            <a:solidFill>
              <a:srgbClr val="E2E8F0"/>
            </a:solidFill>
          </a:ln>
        </p:spPr>
        <p:txBody>
          <a:bodyPr/>
          <a:lstStyle/>
          <a:p>
            <a:endParaRPr lang="en-US"/>
          </a:p>
        </p:txBody>
      </p:sp>
      <p:sp>
        <p:nvSpPr>
          <p:cNvPr id="34" name="TextBox 34"/>
          <p:cNvSpPr txBox="1"/>
          <p:nvPr/>
        </p:nvSpPr>
        <p:spPr>
          <a:xfrm>
            <a:off x="6810494" y="3783806"/>
            <a:ext cx="1523762"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Film never changes</a:t>
            </a:r>
          </a:p>
        </p:txBody>
      </p:sp>
      <p:sp>
        <p:nvSpPr>
          <p:cNvPr id="35" name="TextBox 35"/>
          <p:cNvSpPr txBox="1"/>
          <p:nvPr/>
        </p:nvSpPr>
        <p:spPr>
          <a:xfrm>
            <a:off x="9041309" y="3783806"/>
            <a:ext cx="2205633"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Old versions are preserved</a:t>
            </a:r>
          </a:p>
        </p:txBody>
      </p:sp>
      <p:sp>
        <p:nvSpPr>
          <p:cNvPr id="36" name="Line 36"/>
          <p:cNvSpPr/>
          <p:nvPr/>
        </p:nvSpPr>
        <p:spPr>
          <a:xfrm>
            <a:off x="6381750" y="4095750"/>
            <a:ext cx="4953000" cy="9525"/>
          </a:xfrm>
          <a:custGeom>
            <a:avLst/>
            <a:gdLst/>
            <a:ahLst/>
            <a:cxnLst/>
            <a:rect l="l" t="t" r="r" b="b"/>
            <a:pathLst>
              <a:path w="4953000" h="9525">
                <a:moveTo>
                  <a:pt x="0" y="0"/>
                </a:moveTo>
                <a:lnTo>
                  <a:pt x="4953000" y="0"/>
                </a:lnTo>
              </a:path>
            </a:pathLst>
          </a:custGeom>
          <a:noFill/>
          <a:ln w="9525">
            <a:solidFill>
              <a:srgbClr val="E2E8F0"/>
            </a:solidFill>
          </a:ln>
        </p:spPr>
        <p:txBody>
          <a:bodyPr/>
          <a:lstStyle/>
          <a:p>
            <a:endParaRPr lang="en-US"/>
          </a:p>
        </p:txBody>
      </p:sp>
      <p:sp>
        <p:nvSpPr>
          <p:cNvPr id="37" name="TextBox 37"/>
          <p:cNvSpPr txBox="1"/>
          <p:nvPr/>
        </p:nvSpPr>
        <p:spPr>
          <a:xfrm>
            <a:off x="6301145" y="4212431"/>
            <a:ext cx="254246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Whole staff watches same tape</a:t>
            </a:r>
          </a:p>
        </p:txBody>
      </p:sp>
      <p:sp>
        <p:nvSpPr>
          <p:cNvPr id="38" name="TextBox 38"/>
          <p:cNvSpPr txBox="1"/>
          <p:nvPr/>
        </p:nvSpPr>
        <p:spPr>
          <a:xfrm>
            <a:off x="8909864" y="4212431"/>
            <a:ext cx="2468523"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a:ea typeface="Microsoft YaHei"/>
                <a:cs typeface="Arial"/>
              </a:rPr>
              <a:t>Whole team shares one history</a:t>
            </a:r>
          </a:p>
        </p:txBody>
      </p:sp>
      <p:sp>
        <p:nvSpPr>
          <p:cNvPr id="39" name="Rectangle 39"/>
          <p:cNvSpPr/>
          <p:nvPr/>
        </p:nvSpPr>
        <p:spPr>
          <a:xfrm>
            <a:off x="571500" y="5143500"/>
            <a:ext cx="11049000" cy="571500"/>
          </a:xfrm>
          <a:prstGeom prst="rect">
            <a:avLst/>
          </a:prstGeom>
          <a:solidFill>
            <a:srgbClr val="D97757">
              <a:alpha val="8000"/>
            </a:srgbClr>
          </a:solidFill>
          <a:ln w="9525">
            <a:solidFill>
              <a:srgbClr val="D97757"/>
            </a:solidFill>
          </a:ln>
        </p:spPr>
        <p:txBody>
          <a:bodyPr/>
          <a:lstStyle/>
          <a:p>
            <a:endParaRPr lang="en-US"/>
          </a:p>
        </p:txBody>
      </p:sp>
      <p:sp>
        <p:nvSpPr>
          <p:cNvPr id="40" name="TextBox 40"/>
          <p:cNvSpPr txBox="1"/>
          <p:nvPr/>
        </p:nvSpPr>
        <p:spPr>
          <a:xfrm>
            <a:off x="1953685" y="5343525"/>
            <a:ext cx="8284631" cy="304800"/>
          </a:xfrm>
          <a:prstGeom prst="rect">
            <a:avLst/>
          </a:prstGeom>
          <a:noFill/>
          <a:ln>
            <a:noFill/>
          </a:ln>
        </p:spPr>
        <p:txBody>
          <a:bodyPr wrap="none" lIns="0" tIns="0" rIns="0" bIns="0" anchor="t" anchorCtr="0">
            <a:spAutoFit/>
          </a:bodyPr>
          <a:lstStyle/>
          <a:p>
            <a:pPr algn="ctr"/>
            <a:r>
              <a:rPr lang="zh-CN" sz="1500" b="1" dirty="0">
                <a:solidFill>
                  <a:srgbClr val="D97757"/>
                </a:solidFill>
                <a:latin typeface="Arial"/>
                <a:ea typeface="Microsoft YaHei"/>
                <a:cs typeface="Arial"/>
              </a:rPr>
              <a:t>Nothing is ever lost. Every version is preserved. You can always go back.</a:t>
            </a:r>
          </a:p>
        </p:txBody>
      </p:sp>
      <p:sp>
        <p:nvSpPr>
          <p:cNvPr id="41" name="TextBox 41"/>
          <p:cNvSpPr txBox="1"/>
          <p:nvPr/>
        </p:nvSpPr>
        <p:spPr>
          <a:xfrm>
            <a:off x="5887141" y="6411278"/>
            <a:ext cx="417719"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3 / 15</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sp>
        <p:nvSpPr>
          <p:cNvPr id="3" name="Rectangle 3"/>
          <p:cNvSpPr/>
          <p:nvPr/>
        </p:nvSpPr>
        <p:spPr>
          <a:xfrm>
            <a:off x="0" y="0"/>
            <a:ext cx="12192000" cy="57150"/>
          </a:xfrm>
          <a:prstGeom prst="rect">
            <a:avLst/>
          </a:prstGeom>
          <a:solidFill>
            <a:srgbClr val="D97757"/>
          </a:solidFill>
          <a:ln>
            <a:noFill/>
          </a:ln>
        </p:spPr>
        <p:txBody>
          <a:bodyPr/>
          <a:lstStyle/>
          <a:p>
            <a:endParaRPr lang="en-US"/>
          </a:p>
        </p:txBody>
      </p:sp>
      <p:sp>
        <p:nvSpPr>
          <p:cNvPr id="4" name="TextBox 4"/>
          <p:cNvSpPr txBox="1"/>
          <p:nvPr/>
        </p:nvSpPr>
        <p:spPr>
          <a:xfrm>
            <a:off x="558165" y="410528"/>
            <a:ext cx="732092" cy="213360"/>
          </a:xfrm>
          <a:prstGeom prst="rect">
            <a:avLst/>
          </a:prstGeom>
          <a:noFill/>
          <a:ln>
            <a:noFill/>
          </a:ln>
        </p:spPr>
        <p:txBody>
          <a:bodyPr wrap="none" lIns="0" tIns="0" rIns="0" bIns="0" anchor="t" anchorCtr="0">
            <a:spAutoFit/>
          </a:bodyPr>
          <a:lstStyle/>
          <a:p>
            <a:pPr algn="l"/>
            <a:r>
              <a:rPr lang="zh-CN" sz="1050" dirty="0">
                <a:solidFill>
                  <a:srgbClr val="D97757"/>
                </a:solidFill>
                <a:latin typeface="Arial"/>
                <a:ea typeface="Microsoft YaHei"/>
                <a:cs typeface="Arial"/>
              </a:rPr>
              <a:t>CONCEPTS</a:t>
            </a:r>
          </a:p>
        </p:txBody>
      </p:sp>
      <p:sp>
        <p:nvSpPr>
          <p:cNvPr id="5" name="TextBox 5"/>
          <p:cNvSpPr txBox="1"/>
          <p:nvPr/>
        </p:nvSpPr>
        <p:spPr>
          <a:xfrm>
            <a:off x="541020" y="693420"/>
            <a:ext cx="6483363" cy="487680"/>
          </a:xfrm>
          <a:prstGeom prst="rect">
            <a:avLst/>
          </a:prstGeom>
          <a:noFill/>
          <a:ln>
            <a:noFill/>
          </a:ln>
        </p:spPr>
        <p:txBody>
          <a:bodyPr wrap="none" lIns="0" tIns="0" rIns="0" bIns="0" anchor="t" anchorCtr="0">
            <a:spAutoFit/>
          </a:bodyPr>
          <a:lstStyle/>
          <a:p>
            <a:pPr algn="l"/>
            <a:r>
              <a:rPr lang="zh-CN" sz="2400" b="1" dirty="0">
                <a:solidFill>
                  <a:srgbClr val="1A1A2E"/>
                </a:solidFill>
                <a:latin typeface="Arial"/>
                <a:ea typeface="Microsoft YaHei"/>
                <a:cs typeface="Arial"/>
              </a:rPr>
              <a:t>GitHub Is Where Projects Live Online</a:t>
            </a:r>
          </a:p>
        </p:txBody>
      </p:sp>
      <p:sp>
        <p:nvSpPr>
          <p:cNvPr id="6" name="TextBox 6"/>
          <p:cNvSpPr txBox="1"/>
          <p:nvPr/>
        </p:nvSpPr>
        <p:spPr>
          <a:xfrm>
            <a:off x="554355" y="1330642"/>
            <a:ext cx="1338553" cy="274320"/>
          </a:xfrm>
          <a:prstGeom prst="rect">
            <a:avLst/>
          </a:prstGeom>
          <a:noFill/>
          <a:ln>
            <a:noFill/>
          </a:ln>
        </p:spPr>
        <p:txBody>
          <a:bodyPr wrap="none" lIns="0" tIns="0" rIns="0" bIns="0" anchor="t" anchorCtr="0">
            <a:spAutoFit/>
          </a:bodyPr>
          <a:lstStyle/>
          <a:p>
            <a:pPr algn="l"/>
            <a:r>
              <a:rPr lang="zh-CN" sz="1350" b="1" dirty="0">
                <a:solidFill>
                  <a:srgbClr val="1A1A2E"/>
                </a:solidFill>
                <a:latin typeface="Arial"/>
                <a:ea typeface="Microsoft YaHei"/>
                <a:cs typeface="Arial"/>
              </a:rPr>
              <a:t>The Platform</a:t>
            </a:r>
          </a:p>
        </p:txBody>
      </p:sp>
      <p:sp>
        <p:nvSpPr>
          <p:cNvPr id="7" name="Rectangle 7"/>
          <p:cNvSpPr/>
          <p:nvPr/>
        </p:nvSpPr>
        <p:spPr>
          <a:xfrm>
            <a:off x="571500" y="1666875"/>
            <a:ext cx="4953000" cy="476250"/>
          </a:xfrm>
          <a:prstGeom prst="rect">
            <a:avLst/>
          </a:prstGeom>
          <a:solidFill>
            <a:srgbClr val="4A90D9">
              <a:alpha val="6000"/>
            </a:srgbClr>
          </a:solidFill>
          <a:ln>
            <a:noFill/>
          </a:ln>
        </p:spPr>
        <p:txBody>
          <a:bodyPr/>
          <a:lstStyle/>
          <a:p>
            <a:endParaRPr lang="en-US"/>
          </a:p>
        </p:txBody>
      </p:sp>
      <p:sp>
        <p:nvSpPr>
          <p:cNvPr id="8" name="TextBox 8"/>
          <p:cNvSpPr txBox="1"/>
          <p:nvPr/>
        </p:nvSpPr>
        <p:spPr>
          <a:xfrm>
            <a:off x="745808" y="1814989"/>
            <a:ext cx="3086290"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Hosts repositories (repos) online</a:t>
            </a:r>
          </a:p>
        </p:txBody>
      </p:sp>
      <p:sp>
        <p:nvSpPr>
          <p:cNvPr id="9" name="Rectangle 9"/>
          <p:cNvSpPr/>
          <p:nvPr/>
        </p:nvSpPr>
        <p:spPr>
          <a:xfrm>
            <a:off x="571500" y="2238375"/>
            <a:ext cx="4953000" cy="476250"/>
          </a:xfrm>
          <a:prstGeom prst="rect">
            <a:avLst/>
          </a:prstGeom>
          <a:solidFill>
            <a:srgbClr val="4A90D9">
              <a:alpha val="6000"/>
            </a:srgbClr>
          </a:solidFill>
          <a:ln>
            <a:noFill/>
          </a:ln>
        </p:spPr>
        <p:txBody>
          <a:bodyPr/>
          <a:lstStyle/>
          <a:p>
            <a:endParaRPr lang="en-US"/>
          </a:p>
        </p:txBody>
      </p:sp>
      <p:sp>
        <p:nvSpPr>
          <p:cNvPr id="10" name="TextBox 10"/>
          <p:cNvSpPr txBox="1"/>
          <p:nvPr/>
        </p:nvSpPr>
        <p:spPr>
          <a:xfrm>
            <a:off x="745808" y="2386489"/>
            <a:ext cx="3216640"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300+ million repositories worldwide</a:t>
            </a:r>
          </a:p>
        </p:txBody>
      </p:sp>
      <p:sp>
        <p:nvSpPr>
          <p:cNvPr id="11" name="Rectangle 11"/>
          <p:cNvSpPr/>
          <p:nvPr/>
        </p:nvSpPr>
        <p:spPr>
          <a:xfrm>
            <a:off x="571500" y="2809875"/>
            <a:ext cx="4953000" cy="476250"/>
          </a:xfrm>
          <a:prstGeom prst="rect">
            <a:avLst/>
          </a:prstGeom>
          <a:solidFill>
            <a:srgbClr val="4A90D9">
              <a:alpha val="6000"/>
            </a:srgbClr>
          </a:solidFill>
          <a:ln>
            <a:noFill/>
          </a:ln>
        </p:spPr>
        <p:txBody>
          <a:bodyPr/>
          <a:lstStyle/>
          <a:p>
            <a:endParaRPr lang="en-US"/>
          </a:p>
        </p:txBody>
      </p:sp>
      <p:sp>
        <p:nvSpPr>
          <p:cNvPr id="12" name="TextBox 12"/>
          <p:cNvSpPr txBox="1"/>
          <p:nvPr/>
        </p:nvSpPr>
        <p:spPr>
          <a:xfrm>
            <a:off x="745808" y="2957989"/>
            <a:ext cx="5190506"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Not just for developers: datasets, websites, portfolios</a:t>
            </a:r>
          </a:p>
        </p:txBody>
      </p:sp>
      <p:sp>
        <p:nvSpPr>
          <p:cNvPr id="13" name="Rectangle 13"/>
          <p:cNvSpPr/>
          <p:nvPr/>
        </p:nvSpPr>
        <p:spPr>
          <a:xfrm>
            <a:off x="571500" y="3381375"/>
            <a:ext cx="4953000" cy="476250"/>
          </a:xfrm>
          <a:prstGeom prst="rect">
            <a:avLst/>
          </a:prstGeom>
          <a:solidFill>
            <a:srgbClr val="4A90D9">
              <a:alpha val="6000"/>
            </a:srgbClr>
          </a:solidFill>
          <a:ln>
            <a:noFill/>
          </a:ln>
        </p:spPr>
        <p:txBody>
          <a:bodyPr/>
          <a:lstStyle/>
          <a:p>
            <a:endParaRPr lang="en-US"/>
          </a:p>
        </p:txBody>
      </p:sp>
      <p:sp>
        <p:nvSpPr>
          <p:cNvPr id="14" name="TextBox 14"/>
          <p:cNvSpPr txBox="1"/>
          <p:nvPr/>
        </p:nvSpPr>
        <p:spPr>
          <a:xfrm>
            <a:off x="745808" y="3529489"/>
            <a:ext cx="3793903"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Tracks who changed what, when, and why</a:t>
            </a:r>
          </a:p>
        </p:txBody>
      </p:sp>
      <p:sp>
        <p:nvSpPr>
          <p:cNvPr id="15" name="Rectangle 15"/>
          <p:cNvSpPr/>
          <p:nvPr/>
        </p:nvSpPr>
        <p:spPr>
          <a:xfrm>
            <a:off x="571500" y="4095750"/>
            <a:ext cx="4953000" cy="571500"/>
          </a:xfrm>
          <a:prstGeom prst="rect">
            <a:avLst/>
          </a:prstGeom>
          <a:solidFill>
            <a:srgbClr val="D97757">
              <a:alpha val="8000"/>
            </a:srgbClr>
          </a:solidFill>
          <a:ln w="9525">
            <a:solidFill>
              <a:srgbClr val="D97757"/>
            </a:solidFill>
          </a:ln>
        </p:spPr>
        <p:txBody>
          <a:bodyPr/>
          <a:lstStyle/>
          <a:p>
            <a:endParaRPr lang="en-US"/>
          </a:p>
        </p:txBody>
      </p:sp>
      <p:sp>
        <p:nvSpPr>
          <p:cNvPr id="16" name="TextBox 16"/>
          <p:cNvSpPr txBox="1"/>
          <p:nvPr/>
        </p:nvSpPr>
        <p:spPr>
          <a:xfrm>
            <a:off x="746760" y="4204335"/>
            <a:ext cx="3940969" cy="243840"/>
          </a:xfrm>
          <a:prstGeom prst="rect">
            <a:avLst/>
          </a:prstGeom>
          <a:noFill/>
          <a:ln>
            <a:noFill/>
          </a:ln>
        </p:spPr>
        <p:txBody>
          <a:bodyPr wrap="none" lIns="0" tIns="0" rIns="0" bIns="0" anchor="t" anchorCtr="0">
            <a:spAutoFit/>
          </a:bodyPr>
          <a:lstStyle/>
          <a:p>
            <a:pPr algn="l"/>
            <a:r>
              <a:rPr lang="zh-CN" sz="1200" b="1" dirty="0">
                <a:solidFill>
                  <a:srgbClr val="D97757"/>
                </a:solidFill>
                <a:latin typeface="Arial"/>
                <a:ea typeface="Microsoft YaHei"/>
                <a:cs typeface="Arial"/>
              </a:rPr>
              <a:t>Git = the version control tool (runs locally)</a:t>
            </a:r>
          </a:p>
        </p:txBody>
      </p:sp>
      <p:sp>
        <p:nvSpPr>
          <p:cNvPr id="17" name="TextBox 17"/>
          <p:cNvSpPr txBox="1"/>
          <p:nvPr/>
        </p:nvSpPr>
        <p:spPr>
          <a:xfrm>
            <a:off x="746760" y="4423410"/>
            <a:ext cx="3204877" cy="243840"/>
          </a:xfrm>
          <a:prstGeom prst="rect">
            <a:avLst/>
          </a:prstGeom>
          <a:noFill/>
          <a:ln>
            <a:noFill/>
          </a:ln>
        </p:spPr>
        <p:txBody>
          <a:bodyPr wrap="none" lIns="0" tIns="0" rIns="0" bIns="0" anchor="t" anchorCtr="0">
            <a:spAutoFit/>
          </a:bodyPr>
          <a:lstStyle/>
          <a:p>
            <a:pPr algn="l"/>
            <a:r>
              <a:rPr lang="zh-CN" sz="1200" b="1" dirty="0">
                <a:solidFill>
                  <a:srgbClr val="D97757"/>
                </a:solidFill>
                <a:latin typeface="Arial"/>
                <a:ea typeface="Microsoft YaHei"/>
                <a:cs typeface="Arial"/>
              </a:rPr>
              <a:t>GitHub = the platform (lives online)</a:t>
            </a:r>
          </a:p>
        </p:txBody>
      </p:sp>
      <p:sp>
        <p:nvSpPr>
          <p:cNvPr id="18" name="Rectangle 18"/>
          <p:cNvSpPr/>
          <p:nvPr/>
        </p:nvSpPr>
        <p:spPr>
          <a:xfrm>
            <a:off x="6096000" y="1381125"/>
            <a:ext cx="5524500" cy="1381125"/>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19" name="Rectangle 19"/>
          <p:cNvSpPr/>
          <p:nvPr/>
        </p:nvSpPr>
        <p:spPr>
          <a:xfrm>
            <a:off x="6096000" y="1381125"/>
            <a:ext cx="5524500" cy="57150"/>
          </a:xfrm>
          <a:prstGeom prst="rect">
            <a:avLst/>
          </a:prstGeom>
          <a:solidFill>
            <a:srgbClr val="10B981"/>
          </a:solidFill>
          <a:ln>
            <a:noFill/>
          </a:ln>
        </p:spPr>
        <p:txBody>
          <a:bodyPr/>
          <a:lstStyle/>
          <a:p>
            <a:endParaRPr lang="en-US"/>
          </a:p>
        </p:txBody>
      </p:sp>
      <p:grpSp>
        <p:nvGrpSpPr>
          <p:cNvPr id="32" name="Group 32"/>
          <p:cNvGrpSpPr/>
          <p:nvPr/>
        </p:nvGrpSpPr>
        <p:grpSpPr>
          <a:xfrm>
            <a:off x="6403181" y="1688306"/>
            <a:ext cx="300037" cy="300037"/>
            <a:chOff x="6403181" y="1688306"/>
            <a:chExt cx="300037" cy="300037"/>
          </a:xfrm>
        </p:grpSpPr>
        <p:sp>
          <p:nvSpPr>
            <p:cNvPr id="20" name="Freeform 20"/>
            <p:cNvSpPr/>
            <p:nvPr/>
          </p:nvSpPr>
          <p:spPr>
            <a:xfrm>
              <a:off x="6403181" y="1688306"/>
              <a:ext cx="42862" cy="42862"/>
            </a:xfrm>
            <a:custGeom>
              <a:avLst/>
              <a:gdLst/>
              <a:ahLst/>
              <a:cxnLst/>
              <a:rect l="l" t="t" r="r" b="b"/>
              <a:pathLst>
                <a:path w="42862" h="42862">
                  <a:moveTo>
                    <a:pt x="42862" y="0"/>
                  </a:moveTo>
                  <a:lnTo>
                    <a:pt x="0" y="0"/>
                  </a:lnTo>
                  <a:lnTo>
                    <a:pt x="0" y="42862"/>
                  </a:lnTo>
                  <a:lnTo>
                    <a:pt x="42862" y="42862"/>
                  </a:lnTo>
                  <a:lnTo>
                    <a:pt x="42862" y="0"/>
                  </a:lnTo>
                  <a:close/>
                </a:path>
              </a:pathLst>
            </a:custGeom>
            <a:solidFill>
              <a:srgbClr val="10B981"/>
            </a:solidFill>
            <a:ln>
              <a:noFill/>
            </a:ln>
          </p:spPr>
          <p:txBody>
            <a:bodyPr/>
            <a:lstStyle/>
            <a:p>
              <a:endParaRPr lang="en-US"/>
            </a:p>
          </p:txBody>
        </p:sp>
        <p:sp>
          <p:nvSpPr>
            <p:cNvPr id="21" name="Freeform 21"/>
            <p:cNvSpPr/>
            <p:nvPr/>
          </p:nvSpPr>
          <p:spPr>
            <a:xfrm>
              <a:off x="6403181" y="1945481"/>
              <a:ext cx="42862" cy="42862"/>
            </a:xfrm>
            <a:custGeom>
              <a:avLst/>
              <a:gdLst/>
              <a:ahLst/>
              <a:cxnLst/>
              <a:rect l="l" t="t" r="r" b="b"/>
              <a:pathLst>
                <a:path w="42862" h="42862">
                  <a:moveTo>
                    <a:pt x="42862" y="0"/>
                  </a:moveTo>
                  <a:lnTo>
                    <a:pt x="0" y="0"/>
                  </a:lnTo>
                  <a:lnTo>
                    <a:pt x="0" y="42862"/>
                  </a:lnTo>
                  <a:lnTo>
                    <a:pt x="42862" y="42862"/>
                  </a:lnTo>
                  <a:lnTo>
                    <a:pt x="42862" y="0"/>
                  </a:lnTo>
                  <a:close/>
                </a:path>
              </a:pathLst>
            </a:custGeom>
            <a:solidFill>
              <a:srgbClr val="10B981"/>
            </a:solidFill>
            <a:ln>
              <a:noFill/>
            </a:ln>
          </p:spPr>
          <p:txBody>
            <a:bodyPr/>
            <a:lstStyle/>
            <a:p>
              <a:endParaRPr lang="en-US"/>
            </a:p>
          </p:txBody>
        </p:sp>
        <p:sp>
          <p:nvSpPr>
            <p:cNvPr id="22" name="Freeform 22"/>
            <p:cNvSpPr/>
            <p:nvPr/>
          </p:nvSpPr>
          <p:spPr>
            <a:xfrm>
              <a:off x="6403181" y="1859756"/>
              <a:ext cx="42862" cy="42862"/>
            </a:xfrm>
            <a:custGeom>
              <a:avLst/>
              <a:gdLst/>
              <a:ahLst/>
              <a:cxnLst/>
              <a:rect l="l" t="t" r="r" b="b"/>
              <a:pathLst>
                <a:path w="42862" h="42862">
                  <a:moveTo>
                    <a:pt x="0" y="0"/>
                  </a:moveTo>
                  <a:lnTo>
                    <a:pt x="42862" y="0"/>
                  </a:lnTo>
                  <a:lnTo>
                    <a:pt x="42862" y="42862"/>
                  </a:lnTo>
                  <a:lnTo>
                    <a:pt x="0" y="42862"/>
                  </a:lnTo>
                  <a:lnTo>
                    <a:pt x="0" y="0"/>
                  </a:lnTo>
                  <a:close/>
                </a:path>
              </a:pathLst>
            </a:custGeom>
            <a:solidFill>
              <a:srgbClr val="10B981"/>
            </a:solidFill>
            <a:ln>
              <a:noFill/>
            </a:ln>
          </p:spPr>
          <p:txBody>
            <a:bodyPr/>
            <a:lstStyle/>
            <a:p>
              <a:endParaRPr lang="en-US"/>
            </a:p>
          </p:txBody>
        </p:sp>
        <p:sp>
          <p:nvSpPr>
            <p:cNvPr id="23" name="Freeform 23"/>
            <p:cNvSpPr/>
            <p:nvPr/>
          </p:nvSpPr>
          <p:spPr>
            <a:xfrm>
              <a:off x="6403181" y="1774031"/>
              <a:ext cx="42862" cy="42862"/>
            </a:xfrm>
            <a:custGeom>
              <a:avLst/>
              <a:gdLst/>
              <a:ahLst/>
              <a:cxnLst/>
              <a:rect l="l" t="t" r="r" b="b"/>
              <a:pathLst>
                <a:path w="42862" h="42862">
                  <a:moveTo>
                    <a:pt x="42862" y="0"/>
                  </a:moveTo>
                  <a:lnTo>
                    <a:pt x="0" y="0"/>
                  </a:lnTo>
                  <a:lnTo>
                    <a:pt x="0" y="42862"/>
                  </a:lnTo>
                  <a:lnTo>
                    <a:pt x="42862" y="42862"/>
                  </a:lnTo>
                  <a:lnTo>
                    <a:pt x="42862" y="0"/>
                  </a:lnTo>
                  <a:close/>
                </a:path>
              </a:pathLst>
            </a:custGeom>
            <a:solidFill>
              <a:srgbClr val="10B981"/>
            </a:solidFill>
            <a:ln>
              <a:noFill/>
            </a:ln>
          </p:spPr>
          <p:txBody>
            <a:bodyPr/>
            <a:lstStyle/>
            <a:p>
              <a:endParaRPr lang="en-US"/>
            </a:p>
          </p:txBody>
        </p:sp>
        <p:sp>
          <p:nvSpPr>
            <p:cNvPr id="24" name="Freeform 24"/>
            <p:cNvSpPr/>
            <p:nvPr/>
          </p:nvSpPr>
          <p:spPr>
            <a:xfrm>
              <a:off x="6488906" y="1688306"/>
              <a:ext cx="42862" cy="42862"/>
            </a:xfrm>
            <a:custGeom>
              <a:avLst/>
              <a:gdLst/>
              <a:ahLst/>
              <a:cxnLst/>
              <a:rect l="l" t="t" r="r" b="b"/>
              <a:pathLst>
                <a:path w="42862" h="42862">
                  <a:moveTo>
                    <a:pt x="0" y="0"/>
                  </a:moveTo>
                  <a:lnTo>
                    <a:pt x="42862" y="0"/>
                  </a:lnTo>
                  <a:lnTo>
                    <a:pt x="42862" y="42862"/>
                  </a:lnTo>
                  <a:lnTo>
                    <a:pt x="0" y="42862"/>
                  </a:lnTo>
                  <a:lnTo>
                    <a:pt x="0" y="0"/>
                  </a:lnTo>
                  <a:close/>
                </a:path>
              </a:pathLst>
            </a:custGeom>
            <a:solidFill>
              <a:srgbClr val="10B981"/>
            </a:solidFill>
            <a:ln>
              <a:noFill/>
            </a:ln>
          </p:spPr>
          <p:txBody>
            <a:bodyPr/>
            <a:lstStyle/>
            <a:p>
              <a:endParaRPr lang="en-US"/>
            </a:p>
          </p:txBody>
        </p:sp>
        <p:sp>
          <p:nvSpPr>
            <p:cNvPr id="25" name="Freeform 25"/>
            <p:cNvSpPr/>
            <p:nvPr/>
          </p:nvSpPr>
          <p:spPr>
            <a:xfrm>
              <a:off x="6488906" y="1945481"/>
              <a:ext cx="42862" cy="42862"/>
            </a:xfrm>
            <a:custGeom>
              <a:avLst/>
              <a:gdLst/>
              <a:ahLst/>
              <a:cxnLst/>
              <a:rect l="l" t="t" r="r" b="b"/>
              <a:pathLst>
                <a:path w="42862" h="42862">
                  <a:moveTo>
                    <a:pt x="42862" y="0"/>
                  </a:moveTo>
                  <a:lnTo>
                    <a:pt x="0" y="0"/>
                  </a:lnTo>
                  <a:lnTo>
                    <a:pt x="0" y="42862"/>
                  </a:lnTo>
                  <a:lnTo>
                    <a:pt x="42862" y="42862"/>
                  </a:lnTo>
                  <a:lnTo>
                    <a:pt x="42862" y="0"/>
                  </a:lnTo>
                  <a:close/>
                </a:path>
              </a:pathLst>
            </a:custGeom>
            <a:solidFill>
              <a:srgbClr val="10B981"/>
            </a:solidFill>
            <a:ln>
              <a:noFill/>
            </a:ln>
          </p:spPr>
          <p:txBody>
            <a:bodyPr/>
            <a:lstStyle/>
            <a:p>
              <a:endParaRPr lang="en-US"/>
            </a:p>
          </p:txBody>
        </p:sp>
        <p:sp>
          <p:nvSpPr>
            <p:cNvPr id="26" name="Freeform 26"/>
            <p:cNvSpPr/>
            <p:nvPr/>
          </p:nvSpPr>
          <p:spPr>
            <a:xfrm>
              <a:off x="6574631" y="1688306"/>
              <a:ext cx="42862" cy="42862"/>
            </a:xfrm>
            <a:custGeom>
              <a:avLst/>
              <a:gdLst/>
              <a:ahLst/>
              <a:cxnLst/>
              <a:rect l="l" t="t" r="r" b="b"/>
              <a:pathLst>
                <a:path w="42862" h="42862">
                  <a:moveTo>
                    <a:pt x="0" y="0"/>
                  </a:moveTo>
                  <a:lnTo>
                    <a:pt x="42862" y="0"/>
                  </a:lnTo>
                  <a:lnTo>
                    <a:pt x="42862" y="42862"/>
                  </a:lnTo>
                  <a:lnTo>
                    <a:pt x="0" y="42862"/>
                  </a:lnTo>
                  <a:lnTo>
                    <a:pt x="0" y="0"/>
                  </a:lnTo>
                  <a:close/>
                </a:path>
              </a:pathLst>
            </a:custGeom>
            <a:solidFill>
              <a:srgbClr val="10B981"/>
            </a:solidFill>
            <a:ln>
              <a:noFill/>
            </a:ln>
          </p:spPr>
          <p:txBody>
            <a:bodyPr/>
            <a:lstStyle/>
            <a:p>
              <a:endParaRPr lang="en-US"/>
            </a:p>
          </p:txBody>
        </p:sp>
        <p:sp>
          <p:nvSpPr>
            <p:cNvPr id="27" name="Freeform 27"/>
            <p:cNvSpPr/>
            <p:nvPr/>
          </p:nvSpPr>
          <p:spPr>
            <a:xfrm>
              <a:off x="6574631" y="1945481"/>
              <a:ext cx="42862" cy="42862"/>
            </a:xfrm>
            <a:custGeom>
              <a:avLst/>
              <a:gdLst/>
              <a:ahLst/>
              <a:cxnLst/>
              <a:rect l="l" t="t" r="r" b="b"/>
              <a:pathLst>
                <a:path w="42862" h="42862">
                  <a:moveTo>
                    <a:pt x="42862" y="0"/>
                  </a:moveTo>
                  <a:lnTo>
                    <a:pt x="0" y="0"/>
                  </a:lnTo>
                  <a:lnTo>
                    <a:pt x="0" y="42862"/>
                  </a:lnTo>
                  <a:lnTo>
                    <a:pt x="42862" y="42862"/>
                  </a:lnTo>
                  <a:lnTo>
                    <a:pt x="42862" y="0"/>
                  </a:lnTo>
                  <a:close/>
                </a:path>
              </a:pathLst>
            </a:custGeom>
            <a:solidFill>
              <a:srgbClr val="10B981"/>
            </a:solidFill>
            <a:ln>
              <a:noFill/>
            </a:ln>
          </p:spPr>
          <p:txBody>
            <a:bodyPr/>
            <a:lstStyle/>
            <a:p>
              <a:endParaRPr lang="en-US"/>
            </a:p>
          </p:txBody>
        </p:sp>
        <p:sp>
          <p:nvSpPr>
            <p:cNvPr id="28" name="Freeform 28"/>
            <p:cNvSpPr/>
            <p:nvPr/>
          </p:nvSpPr>
          <p:spPr>
            <a:xfrm>
              <a:off x="6660356" y="1688306"/>
              <a:ext cx="42862" cy="42862"/>
            </a:xfrm>
            <a:custGeom>
              <a:avLst/>
              <a:gdLst/>
              <a:ahLst/>
              <a:cxnLst/>
              <a:rect l="l" t="t" r="r" b="b"/>
              <a:pathLst>
                <a:path w="42862" h="42862">
                  <a:moveTo>
                    <a:pt x="0" y="0"/>
                  </a:moveTo>
                  <a:lnTo>
                    <a:pt x="42862" y="0"/>
                  </a:lnTo>
                  <a:lnTo>
                    <a:pt x="42862" y="42862"/>
                  </a:lnTo>
                  <a:lnTo>
                    <a:pt x="0" y="42862"/>
                  </a:lnTo>
                  <a:lnTo>
                    <a:pt x="0" y="0"/>
                  </a:lnTo>
                  <a:close/>
                </a:path>
              </a:pathLst>
            </a:custGeom>
            <a:solidFill>
              <a:srgbClr val="10B981"/>
            </a:solidFill>
            <a:ln>
              <a:noFill/>
            </a:ln>
          </p:spPr>
          <p:txBody>
            <a:bodyPr/>
            <a:lstStyle/>
            <a:p>
              <a:endParaRPr lang="en-US"/>
            </a:p>
          </p:txBody>
        </p:sp>
        <p:sp>
          <p:nvSpPr>
            <p:cNvPr id="29" name="Freeform 29"/>
            <p:cNvSpPr/>
            <p:nvPr/>
          </p:nvSpPr>
          <p:spPr>
            <a:xfrm>
              <a:off x="6660356" y="1945481"/>
              <a:ext cx="42862" cy="42862"/>
            </a:xfrm>
            <a:custGeom>
              <a:avLst/>
              <a:gdLst/>
              <a:ahLst/>
              <a:cxnLst/>
              <a:rect l="l" t="t" r="r" b="b"/>
              <a:pathLst>
                <a:path w="42862" h="42862">
                  <a:moveTo>
                    <a:pt x="42862" y="0"/>
                  </a:moveTo>
                  <a:lnTo>
                    <a:pt x="0" y="0"/>
                  </a:lnTo>
                  <a:lnTo>
                    <a:pt x="0" y="42862"/>
                  </a:lnTo>
                  <a:lnTo>
                    <a:pt x="42862" y="42862"/>
                  </a:lnTo>
                  <a:lnTo>
                    <a:pt x="42862" y="0"/>
                  </a:lnTo>
                  <a:close/>
                </a:path>
              </a:pathLst>
            </a:custGeom>
            <a:solidFill>
              <a:srgbClr val="10B981"/>
            </a:solidFill>
            <a:ln>
              <a:noFill/>
            </a:ln>
          </p:spPr>
          <p:txBody>
            <a:bodyPr/>
            <a:lstStyle/>
            <a:p>
              <a:endParaRPr lang="en-US"/>
            </a:p>
          </p:txBody>
        </p:sp>
        <p:sp>
          <p:nvSpPr>
            <p:cNvPr id="30" name="Freeform 30"/>
            <p:cNvSpPr/>
            <p:nvPr/>
          </p:nvSpPr>
          <p:spPr>
            <a:xfrm>
              <a:off x="6660356" y="1859756"/>
              <a:ext cx="42862" cy="42862"/>
            </a:xfrm>
            <a:custGeom>
              <a:avLst/>
              <a:gdLst/>
              <a:ahLst/>
              <a:cxnLst/>
              <a:rect l="l" t="t" r="r" b="b"/>
              <a:pathLst>
                <a:path w="42862" h="42862">
                  <a:moveTo>
                    <a:pt x="0" y="0"/>
                  </a:moveTo>
                  <a:lnTo>
                    <a:pt x="42862" y="0"/>
                  </a:lnTo>
                  <a:lnTo>
                    <a:pt x="42862" y="42862"/>
                  </a:lnTo>
                  <a:lnTo>
                    <a:pt x="0" y="42862"/>
                  </a:lnTo>
                  <a:lnTo>
                    <a:pt x="0" y="0"/>
                  </a:lnTo>
                  <a:close/>
                </a:path>
              </a:pathLst>
            </a:custGeom>
            <a:solidFill>
              <a:srgbClr val="10B981"/>
            </a:solidFill>
            <a:ln>
              <a:noFill/>
            </a:ln>
          </p:spPr>
          <p:txBody>
            <a:bodyPr/>
            <a:lstStyle/>
            <a:p>
              <a:endParaRPr lang="en-US"/>
            </a:p>
          </p:txBody>
        </p:sp>
        <p:sp>
          <p:nvSpPr>
            <p:cNvPr id="31" name="Freeform 31"/>
            <p:cNvSpPr/>
            <p:nvPr/>
          </p:nvSpPr>
          <p:spPr>
            <a:xfrm>
              <a:off x="6660356" y="1774031"/>
              <a:ext cx="42862" cy="42862"/>
            </a:xfrm>
            <a:custGeom>
              <a:avLst/>
              <a:gdLst/>
              <a:ahLst/>
              <a:cxnLst/>
              <a:rect l="l" t="t" r="r" b="b"/>
              <a:pathLst>
                <a:path w="42862" h="42862">
                  <a:moveTo>
                    <a:pt x="42862" y="0"/>
                  </a:moveTo>
                  <a:lnTo>
                    <a:pt x="0" y="0"/>
                  </a:lnTo>
                  <a:lnTo>
                    <a:pt x="0" y="42862"/>
                  </a:lnTo>
                  <a:lnTo>
                    <a:pt x="42862" y="42862"/>
                  </a:lnTo>
                  <a:lnTo>
                    <a:pt x="42862" y="0"/>
                  </a:lnTo>
                  <a:close/>
                </a:path>
              </a:pathLst>
            </a:custGeom>
            <a:solidFill>
              <a:srgbClr val="10B981"/>
            </a:solidFill>
            <a:ln>
              <a:noFill/>
            </a:ln>
          </p:spPr>
          <p:txBody>
            <a:bodyPr/>
            <a:lstStyle/>
            <a:p>
              <a:endParaRPr lang="en-US"/>
            </a:p>
          </p:txBody>
        </p:sp>
      </p:grpSp>
      <p:sp>
        <p:nvSpPr>
          <p:cNvPr id="33" name="TextBox 33"/>
          <p:cNvSpPr txBox="1"/>
          <p:nvPr/>
        </p:nvSpPr>
        <p:spPr>
          <a:xfrm>
            <a:off x="6838950" y="1724025"/>
            <a:ext cx="1314760" cy="304800"/>
          </a:xfrm>
          <a:prstGeom prst="rect">
            <a:avLst/>
          </a:prstGeom>
          <a:noFill/>
          <a:ln>
            <a:noFill/>
          </a:ln>
        </p:spPr>
        <p:txBody>
          <a:bodyPr wrap="none" lIns="0" tIns="0" rIns="0" bIns="0" anchor="t" anchorCtr="0">
            <a:spAutoFit/>
          </a:bodyPr>
          <a:lstStyle/>
          <a:p>
            <a:pPr algn="l"/>
            <a:r>
              <a:rPr lang="zh-CN" sz="1500" b="1" dirty="0">
                <a:solidFill>
                  <a:srgbClr val="1A1A2E"/>
                </a:solidFill>
                <a:latin typeface="Arial"/>
                <a:ea typeface="Microsoft YaHei"/>
                <a:cs typeface="Arial"/>
              </a:rPr>
              <a:t>Collaborate</a:t>
            </a:r>
          </a:p>
        </p:txBody>
      </p:sp>
      <p:sp>
        <p:nvSpPr>
          <p:cNvPr id="34" name="TextBox 34"/>
          <p:cNvSpPr txBox="1"/>
          <p:nvPr/>
        </p:nvSpPr>
        <p:spPr>
          <a:xfrm>
            <a:off x="6842760" y="2013585"/>
            <a:ext cx="2510409"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Multiple people, one project,</a:t>
            </a:r>
          </a:p>
        </p:txBody>
      </p:sp>
      <p:sp>
        <p:nvSpPr>
          <p:cNvPr id="35" name="TextBox 35"/>
          <p:cNvSpPr txBox="1"/>
          <p:nvPr/>
        </p:nvSpPr>
        <p:spPr>
          <a:xfrm>
            <a:off x="6842760" y="2232660"/>
            <a:ext cx="1055751"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no conflicts</a:t>
            </a:r>
          </a:p>
        </p:txBody>
      </p:sp>
      <p:sp>
        <p:nvSpPr>
          <p:cNvPr id="36" name="Rectangle 36"/>
          <p:cNvSpPr/>
          <p:nvPr/>
        </p:nvSpPr>
        <p:spPr>
          <a:xfrm>
            <a:off x="6096000" y="2952750"/>
            <a:ext cx="5524500" cy="1381125"/>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37" name="Rectangle 37"/>
          <p:cNvSpPr/>
          <p:nvPr/>
        </p:nvSpPr>
        <p:spPr>
          <a:xfrm>
            <a:off x="6096000" y="2952750"/>
            <a:ext cx="5524500" cy="57150"/>
          </a:xfrm>
          <a:prstGeom prst="rect">
            <a:avLst/>
          </a:prstGeom>
          <a:solidFill>
            <a:srgbClr val="4A90D9"/>
          </a:solidFill>
          <a:ln>
            <a:noFill/>
          </a:ln>
        </p:spPr>
        <p:txBody>
          <a:bodyPr/>
          <a:lstStyle/>
          <a:p>
            <a:endParaRPr lang="en-US"/>
          </a:p>
        </p:txBody>
      </p:sp>
      <p:grpSp>
        <p:nvGrpSpPr>
          <p:cNvPr id="40" name="Group 40"/>
          <p:cNvGrpSpPr/>
          <p:nvPr/>
        </p:nvGrpSpPr>
        <p:grpSpPr>
          <a:xfrm>
            <a:off x="6392466" y="3249216"/>
            <a:ext cx="321468" cy="321468"/>
            <a:chOff x="6392466" y="3249216"/>
            <a:chExt cx="321468" cy="321468"/>
          </a:xfrm>
        </p:grpSpPr>
        <p:sp>
          <p:nvSpPr>
            <p:cNvPr id="38" name="Freeform 38"/>
            <p:cNvSpPr/>
            <p:nvPr/>
          </p:nvSpPr>
          <p:spPr>
            <a:xfrm>
              <a:off x="6521053" y="3249216"/>
              <a:ext cx="192881" cy="310753"/>
            </a:xfrm>
            <a:custGeom>
              <a:avLst/>
              <a:gdLst/>
              <a:ahLst/>
              <a:cxnLst/>
              <a:rect l="l" t="t" r="r" b="b"/>
              <a:pathLst>
                <a:path w="192881" h="310753">
                  <a:moveTo>
                    <a:pt x="85725" y="0"/>
                  </a:moveTo>
                  <a:lnTo>
                    <a:pt x="64294" y="0"/>
                  </a:lnTo>
                  <a:lnTo>
                    <a:pt x="0" y="64294"/>
                  </a:lnTo>
                  <a:lnTo>
                    <a:pt x="64294" y="128588"/>
                  </a:lnTo>
                  <a:lnTo>
                    <a:pt x="85725" y="128588"/>
                  </a:lnTo>
                  <a:lnTo>
                    <a:pt x="85725" y="85725"/>
                  </a:lnTo>
                  <a:lnTo>
                    <a:pt x="117872" y="85725"/>
                  </a:lnTo>
                  <a:lnTo>
                    <a:pt x="117872" y="208055"/>
                  </a:lnTo>
                  <a:cubicBezTo>
                    <a:pt x="98948" y="216323"/>
                    <a:pt x="85725" y="235204"/>
                    <a:pt x="85725" y="257175"/>
                  </a:cubicBezTo>
                  <a:cubicBezTo>
                    <a:pt x="85725" y="286765"/>
                    <a:pt x="109713" y="310753"/>
                    <a:pt x="139303" y="310753"/>
                  </a:cubicBezTo>
                  <a:cubicBezTo>
                    <a:pt x="168893" y="310753"/>
                    <a:pt x="192881" y="286765"/>
                    <a:pt x="192881" y="257175"/>
                  </a:cubicBezTo>
                  <a:cubicBezTo>
                    <a:pt x="192881" y="235204"/>
                    <a:pt x="179658" y="216323"/>
                    <a:pt x="160734" y="208055"/>
                  </a:cubicBezTo>
                  <a:lnTo>
                    <a:pt x="160734" y="42862"/>
                  </a:lnTo>
                  <a:lnTo>
                    <a:pt x="85725" y="42862"/>
                  </a:lnTo>
                  <a:lnTo>
                    <a:pt x="85725" y="0"/>
                  </a:lnTo>
                  <a:close/>
                </a:path>
              </a:pathLst>
            </a:custGeom>
            <a:solidFill>
              <a:srgbClr val="4A90D9"/>
            </a:solidFill>
            <a:ln>
              <a:noFill/>
            </a:ln>
          </p:spPr>
          <p:txBody>
            <a:bodyPr/>
            <a:lstStyle/>
            <a:p>
              <a:endParaRPr lang="en-US"/>
            </a:p>
          </p:txBody>
        </p:sp>
        <p:sp>
          <p:nvSpPr>
            <p:cNvPr id="39" name="Freeform 39"/>
            <p:cNvSpPr/>
            <p:nvPr/>
          </p:nvSpPr>
          <p:spPr>
            <a:xfrm>
              <a:off x="6392466" y="3259931"/>
              <a:ext cx="192881" cy="310753"/>
            </a:xfrm>
            <a:custGeom>
              <a:avLst/>
              <a:gdLst/>
              <a:ahLst/>
              <a:cxnLst/>
              <a:rect l="l" t="t" r="r" b="b"/>
              <a:pathLst>
                <a:path w="192881" h="310753">
                  <a:moveTo>
                    <a:pt x="128588" y="310753"/>
                  </a:moveTo>
                  <a:lnTo>
                    <a:pt x="192881" y="246459"/>
                  </a:lnTo>
                  <a:lnTo>
                    <a:pt x="128588" y="182166"/>
                  </a:lnTo>
                  <a:lnTo>
                    <a:pt x="107156" y="182166"/>
                  </a:lnTo>
                  <a:lnTo>
                    <a:pt x="107156" y="225028"/>
                  </a:lnTo>
                  <a:lnTo>
                    <a:pt x="75009" y="225028"/>
                  </a:lnTo>
                  <a:lnTo>
                    <a:pt x="75009" y="102698"/>
                  </a:lnTo>
                  <a:cubicBezTo>
                    <a:pt x="93932" y="94430"/>
                    <a:pt x="107156" y="75549"/>
                    <a:pt x="107156" y="53578"/>
                  </a:cubicBezTo>
                  <a:cubicBezTo>
                    <a:pt x="107156" y="23988"/>
                    <a:pt x="83168" y="0"/>
                    <a:pt x="53578" y="0"/>
                  </a:cubicBezTo>
                  <a:cubicBezTo>
                    <a:pt x="23988" y="0"/>
                    <a:pt x="0" y="23988"/>
                    <a:pt x="0" y="53578"/>
                  </a:cubicBezTo>
                  <a:cubicBezTo>
                    <a:pt x="0" y="75549"/>
                    <a:pt x="13224" y="94430"/>
                    <a:pt x="32147" y="102698"/>
                  </a:cubicBezTo>
                  <a:lnTo>
                    <a:pt x="32147" y="267891"/>
                  </a:lnTo>
                  <a:lnTo>
                    <a:pt x="107156" y="267891"/>
                  </a:lnTo>
                  <a:lnTo>
                    <a:pt x="107156" y="310753"/>
                  </a:lnTo>
                  <a:lnTo>
                    <a:pt x="128588" y="310753"/>
                  </a:lnTo>
                  <a:close/>
                </a:path>
              </a:pathLst>
            </a:custGeom>
            <a:solidFill>
              <a:srgbClr val="4A90D9"/>
            </a:solidFill>
            <a:ln>
              <a:noFill/>
            </a:ln>
          </p:spPr>
          <p:txBody>
            <a:bodyPr/>
            <a:lstStyle/>
            <a:p>
              <a:endParaRPr lang="en-US"/>
            </a:p>
          </p:txBody>
        </p:sp>
      </p:grpSp>
      <p:sp>
        <p:nvSpPr>
          <p:cNvPr id="41" name="TextBox 41"/>
          <p:cNvSpPr txBox="1"/>
          <p:nvPr/>
        </p:nvSpPr>
        <p:spPr>
          <a:xfrm>
            <a:off x="6838950" y="3295650"/>
            <a:ext cx="785693" cy="304800"/>
          </a:xfrm>
          <a:prstGeom prst="rect">
            <a:avLst/>
          </a:prstGeom>
          <a:noFill/>
          <a:ln>
            <a:noFill/>
          </a:ln>
        </p:spPr>
        <p:txBody>
          <a:bodyPr wrap="none" lIns="0" tIns="0" rIns="0" bIns="0" anchor="t" anchorCtr="0">
            <a:spAutoFit/>
          </a:bodyPr>
          <a:lstStyle/>
          <a:p>
            <a:pPr algn="l"/>
            <a:r>
              <a:rPr lang="zh-CN" sz="1500" b="1" dirty="0">
                <a:solidFill>
                  <a:srgbClr val="1A1A2E"/>
                </a:solidFill>
                <a:latin typeface="Arial"/>
                <a:ea typeface="Microsoft YaHei"/>
                <a:cs typeface="Arial"/>
              </a:rPr>
              <a:t>Review</a:t>
            </a:r>
          </a:p>
        </p:txBody>
      </p:sp>
      <p:sp>
        <p:nvSpPr>
          <p:cNvPr id="42" name="TextBox 42"/>
          <p:cNvSpPr txBox="1"/>
          <p:nvPr/>
        </p:nvSpPr>
        <p:spPr>
          <a:xfrm>
            <a:off x="6842760" y="3585210"/>
            <a:ext cx="2203704"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See exactly what changed</a:t>
            </a:r>
          </a:p>
        </p:txBody>
      </p:sp>
      <p:sp>
        <p:nvSpPr>
          <p:cNvPr id="43" name="TextBox 43"/>
          <p:cNvSpPr txBox="1"/>
          <p:nvPr/>
        </p:nvSpPr>
        <p:spPr>
          <a:xfrm>
            <a:off x="6842760" y="3804285"/>
            <a:ext cx="1327404"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before merging</a:t>
            </a:r>
          </a:p>
        </p:txBody>
      </p:sp>
      <p:sp>
        <p:nvSpPr>
          <p:cNvPr id="44" name="Rectangle 44"/>
          <p:cNvSpPr/>
          <p:nvPr/>
        </p:nvSpPr>
        <p:spPr>
          <a:xfrm>
            <a:off x="6096000" y="4524375"/>
            <a:ext cx="5524500" cy="1381125"/>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45" name="Rectangle 45"/>
          <p:cNvSpPr/>
          <p:nvPr/>
        </p:nvSpPr>
        <p:spPr>
          <a:xfrm>
            <a:off x="6096000" y="4524375"/>
            <a:ext cx="5524500" cy="57150"/>
          </a:xfrm>
          <a:prstGeom prst="rect">
            <a:avLst/>
          </a:prstGeom>
          <a:solidFill>
            <a:srgbClr val="D97757"/>
          </a:solidFill>
          <a:ln>
            <a:noFill/>
          </a:ln>
        </p:spPr>
        <p:txBody>
          <a:bodyPr/>
          <a:lstStyle/>
          <a:p>
            <a:endParaRPr lang="en-US"/>
          </a:p>
        </p:txBody>
      </p:sp>
      <p:sp>
        <p:nvSpPr>
          <p:cNvPr id="46" name="Freeform 46"/>
          <p:cNvSpPr/>
          <p:nvPr/>
        </p:nvSpPr>
        <p:spPr>
          <a:xfrm>
            <a:off x="6424612" y="4810125"/>
            <a:ext cx="257175" cy="342900"/>
          </a:xfrm>
          <a:custGeom>
            <a:avLst/>
            <a:gdLst/>
            <a:ahLst/>
            <a:cxnLst/>
            <a:rect l="l" t="t" r="r" b="b"/>
            <a:pathLst>
              <a:path w="257175" h="342900">
                <a:moveTo>
                  <a:pt x="64294" y="246459"/>
                </a:moveTo>
                <a:lnTo>
                  <a:pt x="64294" y="310753"/>
                </a:lnTo>
                <a:lnTo>
                  <a:pt x="96441" y="342900"/>
                </a:lnTo>
                <a:lnTo>
                  <a:pt x="160734" y="342900"/>
                </a:lnTo>
                <a:lnTo>
                  <a:pt x="192881" y="310753"/>
                </a:lnTo>
                <a:lnTo>
                  <a:pt x="192881" y="246459"/>
                </a:lnTo>
                <a:lnTo>
                  <a:pt x="219447" y="219893"/>
                </a:lnTo>
                <a:cubicBezTo>
                  <a:pt x="243605" y="195737"/>
                  <a:pt x="257175" y="162908"/>
                  <a:pt x="257175" y="128745"/>
                </a:cubicBezTo>
                <a:cubicBezTo>
                  <a:pt x="257175" y="57728"/>
                  <a:pt x="199604" y="0"/>
                  <a:pt x="128588" y="0"/>
                </a:cubicBezTo>
                <a:cubicBezTo>
                  <a:pt x="57571" y="0"/>
                  <a:pt x="0" y="57728"/>
                  <a:pt x="0" y="128745"/>
                </a:cubicBezTo>
                <a:cubicBezTo>
                  <a:pt x="0" y="162908"/>
                  <a:pt x="13571" y="195737"/>
                  <a:pt x="37728" y="219893"/>
                </a:cubicBezTo>
                <a:lnTo>
                  <a:pt x="64294" y="246459"/>
                </a:lnTo>
                <a:close/>
                <a:moveTo>
                  <a:pt x="107156" y="211612"/>
                </a:moveTo>
                <a:lnTo>
                  <a:pt x="107156" y="128588"/>
                </a:lnTo>
                <a:lnTo>
                  <a:pt x="150019" y="128588"/>
                </a:lnTo>
                <a:lnTo>
                  <a:pt x="150019" y="211612"/>
                </a:lnTo>
                <a:cubicBezTo>
                  <a:pt x="186992" y="202095"/>
                  <a:pt x="214312" y="168532"/>
                  <a:pt x="214312" y="128588"/>
                </a:cubicBezTo>
                <a:cubicBezTo>
                  <a:pt x="214312" y="81243"/>
                  <a:pt x="175931" y="42862"/>
                  <a:pt x="128588" y="42862"/>
                </a:cubicBezTo>
                <a:cubicBezTo>
                  <a:pt x="81243" y="42862"/>
                  <a:pt x="42862" y="81243"/>
                  <a:pt x="42862" y="128588"/>
                </a:cubicBezTo>
                <a:cubicBezTo>
                  <a:pt x="42862" y="168532"/>
                  <a:pt x="70182" y="202095"/>
                  <a:pt x="107156" y="211612"/>
                </a:cubicBezTo>
                <a:close/>
              </a:path>
            </a:pathLst>
          </a:custGeom>
          <a:solidFill>
            <a:srgbClr val="D97757"/>
          </a:solidFill>
          <a:ln>
            <a:noFill/>
          </a:ln>
        </p:spPr>
        <p:txBody>
          <a:bodyPr/>
          <a:lstStyle/>
          <a:p>
            <a:endParaRPr lang="en-US"/>
          </a:p>
        </p:txBody>
      </p:sp>
      <p:sp>
        <p:nvSpPr>
          <p:cNvPr id="47" name="TextBox 47"/>
          <p:cNvSpPr txBox="1"/>
          <p:nvPr/>
        </p:nvSpPr>
        <p:spPr>
          <a:xfrm>
            <a:off x="6838950" y="4867275"/>
            <a:ext cx="670679" cy="304800"/>
          </a:xfrm>
          <a:prstGeom prst="rect">
            <a:avLst/>
          </a:prstGeom>
          <a:noFill/>
          <a:ln>
            <a:noFill/>
          </a:ln>
        </p:spPr>
        <p:txBody>
          <a:bodyPr wrap="none" lIns="0" tIns="0" rIns="0" bIns="0" anchor="t" anchorCtr="0">
            <a:spAutoFit/>
          </a:bodyPr>
          <a:lstStyle/>
          <a:p>
            <a:pPr algn="l"/>
            <a:r>
              <a:rPr lang="zh-CN" sz="1500" b="1" dirty="0">
                <a:solidFill>
                  <a:srgbClr val="1A1A2E"/>
                </a:solidFill>
                <a:latin typeface="Arial"/>
                <a:ea typeface="Microsoft YaHei"/>
                <a:cs typeface="Arial"/>
              </a:rPr>
              <a:t>Share</a:t>
            </a:r>
          </a:p>
        </p:txBody>
      </p:sp>
      <p:sp>
        <p:nvSpPr>
          <p:cNvPr id="48" name="TextBox 48"/>
          <p:cNvSpPr txBox="1"/>
          <p:nvPr/>
        </p:nvSpPr>
        <p:spPr>
          <a:xfrm>
            <a:off x="6842760" y="5156835"/>
            <a:ext cx="1721739"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Public repos become</a:t>
            </a:r>
          </a:p>
        </p:txBody>
      </p:sp>
      <p:sp>
        <p:nvSpPr>
          <p:cNvPr id="49" name="TextBox 49"/>
          <p:cNvSpPr txBox="1"/>
          <p:nvPr/>
        </p:nvSpPr>
        <p:spPr>
          <a:xfrm>
            <a:off x="6842760" y="5375910"/>
            <a:ext cx="2028444"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professional portfolios</a:t>
            </a:r>
          </a:p>
        </p:txBody>
      </p:sp>
      <p:sp>
        <p:nvSpPr>
          <p:cNvPr id="50" name="TextBox 50"/>
          <p:cNvSpPr txBox="1"/>
          <p:nvPr/>
        </p:nvSpPr>
        <p:spPr>
          <a:xfrm>
            <a:off x="5887141" y="6411278"/>
            <a:ext cx="417719"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4 / 15</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sp>
        <p:nvSpPr>
          <p:cNvPr id="3" name="Rectangle 3"/>
          <p:cNvSpPr/>
          <p:nvPr/>
        </p:nvSpPr>
        <p:spPr>
          <a:xfrm>
            <a:off x="0" y="0"/>
            <a:ext cx="12192000" cy="57150"/>
          </a:xfrm>
          <a:prstGeom prst="rect">
            <a:avLst/>
          </a:prstGeom>
          <a:solidFill>
            <a:srgbClr val="D97757"/>
          </a:solidFill>
          <a:ln>
            <a:noFill/>
          </a:ln>
        </p:spPr>
        <p:txBody>
          <a:bodyPr/>
          <a:lstStyle/>
          <a:p>
            <a:endParaRPr lang="en-US"/>
          </a:p>
        </p:txBody>
      </p:sp>
      <p:sp>
        <p:nvSpPr>
          <p:cNvPr id="4" name="TextBox 4"/>
          <p:cNvSpPr txBox="1"/>
          <p:nvPr/>
        </p:nvSpPr>
        <p:spPr>
          <a:xfrm>
            <a:off x="558165" y="410528"/>
            <a:ext cx="732092" cy="213360"/>
          </a:xfrm>
          <a:prstGeom prst="rect">
            <a:avLst/>
          </a:prstGeom>
          <a:noFill/>
          <a:ln>
            <a:noFill/>
          </a:ln>
        </p:spPr>
        <p:txBody>
          <a:bodyPr wrap="none" lIns="0" tIns="0" rIns="0" bIns="0" anchor="t" anchorCtr="0">
            <a:spAutoFit/>
          </a:bodyPr>
          <a:lstStyle/>
          <a:p>
            <a:pPr algn="l"/>
            <a:r>
              <a:rPr lang="zh-CN" sz="1050" dirty="0">
                <a:solidFill>
                  <a:srgbClr val="D97757"/>
                </a:solidFill>
                <a:latin typeface="Arial"/>
                <a:ea typeface="Microsoft YaHei"/>
                <a:cs typeface="Arial"/>
              </a:rPr>
              <a:t>CONCEPTS</a:t>
            </a:r>
          </a:p>
        </p:txBody>
      </p:sp>
      <p:sp>
        <p:nvSpPr>
          <p:cNvPr id="5" name="TextBox 5"/>
          <p:cNvSpPr txBox="1"/>
          <p:nvPr/>
        </p:nvSpPr>
        <p:spPr>
          <a:xfrm>
            <a:off x="541020" y="693420"/>
            <a:ext cx="8654834" cy="487680"/>
          </a:xfrm>
          <a:prstGeom prst="rect">
            <a:avLst/>
          </a:prstGeom>
          <a:noFill/>
          <a:ln>
            <a:noFill/>
          </a:ln>
        </p:spPr>
        <p:txBody>
          <a:bodyPr wrap="none" lIns="0" tIns="0" rIns="0" bIns="0" anchor="t" anchorCtr="0">
            <a:spAutoFit/>
          </a:bodyPr>
          <a:lstStyle/>
          <a:p>
            <a:pPr algn="l"/>
            <a:r>
              <a:rPr lang="zh-CN" sz="2400" b="1" dirty="0">
                <a:solidFill>
                  <a:srgbClr val="1A1A2E"/>
                </a:solidFill>
                <a:latin typeface="Arial"/>
                <a:ea typeface="Microsoft YaHei"/>
                <a:cs typeface="Arial"/>
              </a:rPr>
              <a:t>Four Git Concepts Mapped to Familiar Workflows</a:t>
            </a:r>
          </a:p>
        </p:txBody>
      </p:sp>
      <p:sp>
        <p:nvSpPr>
          <p:cNvPr id="6" name="Rectangle 6"/>
          <p:cNvSpPr/>
          <p:nvPr/>
        </p:nvSpPr>
        <p:spPr>
          <a:xfrm>
            <a:off x="571500" y="1381125"/>
            <a:ext cx="2571750" cy="381000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7" name="Rectangle 7"/>
          <p:cNvSpPr/>
          <p:nvPr/>
        </p:nvSpPr>
        <p:spPr>
          <a:xfrm>
            <a:off x="571500" y="1381125"/>
            <a:ext cx="2571750" cy="57150"/>
          </a:xfrm>
          <a:prstGeom prst="rect">
            <a:avLst/>
          </a:prstGeom>
          <a:solidFill>
            <a:srgbClr val="4A90D9"/>
          </a:solidFill>
          <a:ln>
            <a:noFill/>
          </a:ln>
        </p:spPr>
        <p:txBody>
          <a:bodyPr/>
          <a:lstStyle/>
          <a:p>
            <a:endParaRPr lang="en-US"/>
          </a:p>
        </p:txBody>
      </p:sp>
      <p:sp>
        <p:nvSpPr>
          <p:cNvPr id="8" name="Ellipse 8"/>
          <p:cNvSpPr/>
          <p:nvPr/>
        </p:nvSpPr>
        <p:spPr>
          <a:xfrm>
            <a:off x="1476375" y="1762125"/>
            <a:ext cx="762000" cy="762000"/>
          </a:xfrm>
          <a:prstGeom prst="ellipse">
            <a:avLst/>
          </a:prstGeom>
          <a:solidFill>
            <a:srgbClr val="4A90D9">
              <a:alpha val="10000"/>
            </a:srgbClr>
          </a:solidFill>
          <a:ln>
            <a:noFill/>
          </a:ln>
        </p:spPr>
        <p:txBody>
          <a:bodyPr/>
          <a:lstStyle/>
          <a:p>
            <a:endParaRPr lang="en-US"/>
          </a:p>
        </p:txBody>
      </p:sp>
      <p:sp>
        <p:nvSpPr>
          <p:cNvPr id="9" name="Freeform 9"/>
          <p:cNvSpPr/>
          <p:nvPr/>
        </p:nvSpPr>
        <p:spPr>
          <a:xfrm>
            <a:off x="1666875" y="1976438"/>
            <a:ext cx="381000" cy="309562"/>
          </a:xfrm>
          <a:custGeom>
            <a:avLst/>
            <a:gdLst/>
            <a:ahLst/>
            <a:cxnLst/>
            <a:rect l="l" t="t" r="r" b="b"/>
            <a:pathLst>
              <a:path w="381000" h="309562">
                <a:moveTo>
                  <a:pt x="0" y="0"/>
                </a:moveTo>
                <a:lnTo>
                  <a:pt x="142875" y="0"/>
                </a:lnTo>
                <a:lnTo>
                  <a:pt x="214312" y="71438"/>
                </a:lnTo>
                <a:lnTo>
                  <a:pt x="381000" y="71438"/>
                </a:lnTo>
                <a:lnTo>
                  <a:pt x="381000" y="309562"/>
                </a:lnTo>
                <a:lnTo>
                  <a:pt x="0" y="309562"/>
                </a:lnTo>
                <a:lnTo>
                  <a:pt x="0" y="0"/>
                </a:lnTo>
                <a:close/>
              </a:path>
            </a:pathLst>
          </a:custGeom>
          <a:solidFill>
            <a:srgbClr val="4A90D9"/>
          </a:solidFill>
          <a:ln>
            <a:noFill/>
          </a:ln>
        </p:spPr>
        <p:txBody>
          <a:bodyPr/>
          <a:lstStyle/>
          <a:p>
            <a:endParaRPr lang="en-US"/>
          </a:p>
        </p:txBody>
      </p:sp>
      <p:sp>
        <p:nvSpPr>
          <p:cNvPr id="10" name="TextBox 10"/>
          <p:cNvSpPr txBox="1"/>
          <p:nvPr/>
        </p:nvSpPr>
        <p:spPr>
          <a:xfrm>
            <a:off x="1556971" y="2583180"/>
            <a:ext cx="600808" cy="426720"/>
          </a:xfrm>
          <a:prstGeom prst="rect">
            <a:avLst/>
          </a:prstGeom>
          <a:noFill/>
          <a:ln>
            <a:noFill/>
          </a:ln>
        </p:spPr>
        <p:txBody>
          <a:bodyPr wrap="none" lIns="0" tIns="0" rIns="0" bIns="0" anchor="t" anchorCtr="0">
            <a:spAutoFit/>
          </a:bodyPr>
          <a:lstStyle/>
          <a:p>
            <a:pPr algn="ctr"/>
            <a:r>
              <a:rPr lang="zh-CN" sz="2100" b="1" dirty="0">
                <a:solidFill>
                  <a:srgbClr val="4A90D9"/>
                </a:solidFill>
                <a:latin typeface="Arial"/>
                <a:ea typeface="Microsoft YaHei"/>
                <a:cs typeface="Arial"/>
              </a:rPr>
              <a:t>Init</a:t>
            </a:r>
          </a:p>
        </p:txBody>
      </p:sp>
      <p:sp>
        <p:nvSpPr>
          <p:cNvPr id="11" name="Line 11"/>
          <p:cNvSpPr/>
          <p:nvPr/>
        </p:nvSpPr>
        <p:spPr>
          <a:xfrm>
            <a:off x="1333500" y="2952750"/>
            <a:ext cx="1047750" cy="9525"/>
          </a:xfrm>
          <a:custGeom>
            <a:avLst/>
            <a:gdLst/>
            <a:ahLst/>
            <a:cxnLst/>
            <a:rect l="l" t="t" r="r" b="b"/>
            <a:pathLst>
              <a:path w="1047750" h="9525">
                <a:moveTo>
                  <a:pt x="0" y="0"/>
                </a:moveTo>
                <a:lnTo>
                  <a:pt x="1047750" y="0"/>
                </a:lnTo>
              </a:path>
            </a:pathLst>
          </a:custGeom>
          <a:noFill/>
          <a:ln w="9525">
            <a:solidFill>
              <a:srgbClr val="E2E8F0"/>
            </a:solidFill>
          </a:ln>
        </p:spPr>
        <p:txBody>
          <a:bodyPr/>
          <a:lstStyle/>
          <a:p>
            <a:endParaRPr lang="en-US"/>
          </a:p>
        </p:txBody>
      </p:sp>
      <p:sp>
        <p:nvSpPr>
          <p:cNvPr id="12" name="TextBox 12"/>
          <p:cNvSpPr txBox="1"/>
          <p:nvPr/>
        </p:nvSpPr>
        <p:spPr>
          <a:xfrm>
            <a:off x="1478470" y="3156585"/>
            <a:ext cx="757809" cy="243840"/>
          </a:xfrm>
          <a:prstGeom prst="rect">
            <a:avLst/>
          </a:prstGeom>
          <a:noFill/>
          <a:ln>
            <a:noFill/>
          </a:ln>
        </p:spPr>
        <p:txBody>
          <a:bodyPr wrap="none" lIns="0" tIns="0" rIns="0" bIns="0" anchor="t" anchorCtr="0">
            <a:spAutoFit/>
          </a:bodyPr>
          <a:lstStyle/>
          <a:p>
            <a:pPr algn="ctr"/>
            <a:r>
              <a:rPr lang="zh-CN" sz="1200" dirty="0">
                <a:solidFill>
                  <a:srgbClr val="1A1A2E"/>
                </a:solidFill>
                <a:latin typeface="Arial"/>
                <a:ea typeface="Microsoft YaHei"/>
                <a:cs typeface="Arial"/>
              </a:rPr>
              <a:t>Create a</a:t>
            </a:r>
          </a:p>
        </p:txBody>
      </p:sp>
      <p:sp>
        <p:nvSpPr>
          <p:cNvPr id="13" name="TextBox 13"/>
          <p:cNvSpPr txBox="1"/>
          <p:nvPr/>
        </p:nvSpPr>
        <p:spPr>
          <a:xfrm>
            <a:off x="1233106" y="3394710"/>
            <a:ext cx="1248537" cy="243840"/>
          </a:xfrm>
          <a:prstGeom prst="rect">
            <a:avLst/>
          </a:prstGeom>
          <a:noFill/>
          <a:ln>
            <a:noFill/>
          </a:ln>
        </p:spPr>
        <p:txBody>
          <a:bodyPr wrap="none" lIns="0" tIns="0" rIns="0" bIns="0" anchor="t" anchorCtr="0">
            <a:spAutoFit/>
          </a:bodyPr>
          <a:lstStyle/>
          <a:p>
            <a:pPr algn="ctr"/>
            <a:r>
              <a:rPr lang="zh-CN" sz="1200" dirty="0">
                <a:solidFill>
                  <a:srgbClr val="1A1A2E"/>
                </a:solidFill>
                <a:latin typeface="Arial"/>
                <a:ea typeface="Microsoft YaHei"/>
                <a:cs typeface="Arial"/>
              </a:rPr>
              <a:t>project folder</a:t>
            </a:r>
          </a:p>
        </p:txBody>
      </p:sp>
      <p:sp>
        <p:nvSpPr>
          <p:cNvPr id="14" name="Rectangle 14"/>
          <p:cNvSpPr/>
          <p:nvPr/>
        </p:nvSpPr>
        <p:spPr>
          <a:xfrm>
            <a:off x="952500" y="3952875"/>
            <a:ext cx="1809750" cy="304800"/>
          </a:xfrm>
          <a:prstGeom prst="rect">
            <a:avLst/>
          </a:prstGeom>
          <a:solidFill>
            <a:srgbClr val="4A90D9">
              <a:alpha val="8000"/>
            </a:srgbClr>
          </a:solidFill>
          <a:ln>
            <a:noFill/>
          </a:ln>
        </p:spPr>
        <p:txBody>
          <a:bodyPr/>
          <a:lstStyle/>
          <a:p>
            <a:endParaRPr lang="en-US"/>
          </a:p>
        </p:txBody>
      </p:sp>
      <p:sp>
        <p:nvSpPr>
          <p:cNvPr id="15" name="TextBox 15"/>
          <p:cNvSpPr txBox="1"/>
          <p:nvPr/>
        </p:nvSpPr>
        <p:spPr>
          <a:xfrm>
            <a:off x="1123565" y="4057174"/>
            <a:ext cx="1467620" cy="198120"/>
          </a:xfrm>
          <a:prstGeom prst="rect">
            <a:avLst/>
          </a:prstGeom>
          <a:noFill/>
          <a:ln>
            <a:noFill/>
          </a:ln>
        </p:spPr>
        <p:txBody>
          <a:bodyPr wrap="none" lIns="0" tIns="0" rIns="0" bIns="0" anchor="t" anchorCtr="0">
            <a:spAutoFit/>
          </a:bodyPr>
          <a:lstStyle/>
          <a:p>
            <a:pPr algn="ctr"/>
            <a:r>
              <a:rPr lang="zh-CN" sz="975" b="1" dirty="0">
                <a:solidFill>
                  <a:srgbClr val="4A90D9"/>
                </a:solidFill>
                <a:latin typeface="Arial"/>
                <a:ea typeface="Microsoft YaHei"/>
                <a:cs typeface="Arial"/>
              </a:rPr>
              <a:t>Start a new project</a:t>
            </a:r>
          </a:p>
        </p:txBody>
      </p:sp>
      <p:sp>
        <p:nvSpPr>
          <p:cNvPr id="16" name="TextBox 16"/>
          <p:cNvSpPr txBox="1"/>
          <p:nvPr/>
        </p:nvSpPr>
        <p:spPr>
          <a:xfrm>
            <a:off x="1612069" y="4470082"/>
            <a:ext cx="490611" cy="640080"/>
          </a:xfrm>
          <a:prstGeom prst="rect">
            <a:avLst/>
          </a:prstGeom>
          <a:noFill/>
          <a:ln>
            <a:noFill/>
          </a:ln>
        </p:spPr>
        <p:txBody>
          <a:bodyPr wrap="none" lIns="0" tIns="0" rIns="0" bIns="0" anchor="t" anchorCtr="0">
            <a:spAutoFit/>
          </a:bodyPr>
          <a:lstStyle/>
          <a:p>
            <a:pPr algn="ctr"/>
            <a:r>
              <a:rPr lang="zh-CN" sz="3150" b="1" dirty="0">
                <a:solidFill>
                  <a:srgbClr val="4A90D9">
                    <a:alpha val="15000"/>
                  </a:srgbClr>
                </a:solidFill>
                <a:latin typeface="Arial"/>
                <a:ea typeface="Microsoft YaHei"/>
                <a:cs typeface="Arial"/>
              </a:rPr>
              <a:t>01</a:t>
            </a:r>
          </a:p>
        </p:txBody>
      </p:sp>
      <p:sp>
        <p:nvSpPr>
          <p:cNvPr id="17" name="Rectangle 17"/>
          <p:cNvSpPr/>
          <p:nvPr/>
        </p:nvSpPr>
        <p:spPr>
          <a:xfrm>
            <a:off x="3429000" y="1381125"/>
            <a:ext cx="2571750" cy="381000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18" name="Rectangle 18"/>
          <p:cNvSpPr/>
          <p:nvPr/>
        </p:nvSpPr>
        <p:spPr>
          <a:xfrm>
            <a:off x="3429000" y="1381125"/>
            <a:ext cx="2571750" cy="57150"/>
          </a:xfrm>
          <a:prstGeom prst="rect">
            <a:avLst/>
          </a:prstGeom>
          <a:solidFill>
            <a:srgbClr val="10B981"/>
          </a:solidFill>
          <a:ln>
            <a:noFill/>
          </a:ln>
        </p:spPr>
        <p:txBody>
          <a:bodyPr/>
          <a:lstStyle/>
          <a:p>
            <a:endParaRPr lang="en-US"/>
          </a:p>
        </p:txBody>
      </p:sp>
      <p:sp>
        <p:nvSpPr>
          <p:cNvPr id="19" name="Ellipse 19"/>
          <p:cNvSpPr/>
          <p:nvPr/>
        </p:nvSpPr>
        <p:spPr>
          <a:xfrm>
            <a:off x="4333875" y="1762125"/>
            <a:ext cx="762000" cy="762000"/>
          </a:xfrm>
          <a:prstGeom prst="ellipse">
            <a:avLst/>
          </a:prstGeom>
          <a:solidFill>
            <a:srgbClr val="10B981">
              <a:alpha val="10000"/>
            </a:srgbClr>
          </a:solidFill>
          <a:ln>
            <a:noFill/>
          </a:ln>
        </p:spPr>
        <p:txBody>
          <a:bodyPr/>
          <a:lstStyle/>
          <a:p>
            <a:endParaRPr lang="en-US"/>
          </a:p>
        </p:txBody>
      </p:sp>
      <p:sp>
        <p:nvSpPr>
          <p:cNvPr id="20" name="Freeform 20"/>
          <p:cNvSpPr/>
          <p:nvPr/>
        </p:nvSpPr>
        <p:spPr>
          <a:xfrm>
            <a:off x="4524375" y="2071688"/>
            <a:ext cx="381000" cy="142875"/>
          </a:xfrm>
          <a:custGeom>
            <a:avLst/>
            <a:gdLst/>
            <a:ahLst/>
            <a:cxnLst/>
            <a:rect l="l" t="t" r="r" b="b"/>
            <a:pathLst>
              <a:path w="381000" h="142875">
                <a:moveTo>
                  <a:pt x="257873" y="47625"/>
                </a:moveTo>
                <a:lnTo>
                  <a:pt x="381000" y="47625"/>
                </a:lnTo>
                <a:lnTo>
                  <a:pt x="381000" y="95250"/>
                </a:lnTo>
                <a:lnTo>
                  <a:pt x="257873" y="95250"/>
                </a:lnTo>
                <a:cubicBezTo>
                  <a:pt x="248067" y="122996"/>
                  <a:pt x="221604" y="142875"/>
                  <a:pt x="190500" y="142875"/>
                </a:cubicBezTo>
                <a:cubicBezTo>
                  <a:pt x="159396" y="142875"/>
                  <a:pt x="132934" y="122996"/>
                  <a:pt x="123128" y="95250"/>
                </a:cubicBezTo>
                <a:lnTo>
                  <a:pt x="0" y="95250"/>
                </a:lnTo>
                <a:lnTo>
                  <a:pt x="0" y="47625"/>
                </a:lnTo>
                <a:lnTo>
                  <a:pt x="123128" y="47625"/>
                </a:lnTo>
                <a:cubicBezTo>
                  <a:pt x="132934" y="19879"/>
                  <a:pt x="159396" y="0"/>
                  <a:pt x="190500" y="0"/>
                </a:cubicBezTo>
                <a:cubicBezTo>
                  <a:pt x="221604" y="0"/>
                  <a:pt x="248067" y="19879"/>
                  <a:pt x="257873" y="47625"/>
                </a:cubicBezTo>
                <a:close/>
              </a:path>
            </a:pathLst>
          </a:custGeom>
          <a:solidFill>
            <a:srgbClr val="10B981"/>
          </a:solidFill>
          <a:ln>
            <a:noFill/>
          </a:ln>
        </p:spPr>
        <p:txBody>
          <a:bodyPr/>
          <a:lstStyle/>
          <a:p>
            <a:endParaRPr lang="en-US"/>
          </a:p>
        </p:txBody>
      </p:sp>
      <p:sp>
        <p:nvSpPr>
          <p:cNvPr id="21" name="TextBox 21"/>
          <p:cNvSpPr txBox="1"/>
          <p:nvPr/>
        </p:nvSpPr>
        <p:spPr>
          <a:xfrm>
            <a:off x="4132686" y="2583180"/>
            <a:ext cx="1164379" cy="426720"/>
          </a:xfrm>
          <a:prstGeom prst="rect">
            <a:avLst/>
          </a:prstGeom>
          <a:noFill/>
          <a:ln>
            <a:noFill/>
          </a:ln>
        </p:spPr>
        <p:txBody>
          <a:bodyPr wrap="none" lIns="0" tIns="0" rIns="0" bIns="0" anchor="t" anchorCtr="0">
            <a:spAutoFit/>
          </a:bodyPr>
          <a:lstStyle/>
          <a:p>
            <a:pPr algn="ctr"/>
            <a:r>
              <a:rPr lang="zh-CN" sz="2100" b="1" dirty="0">
                <a:solidFill>
                  <a:srgbClr val="10B981"/>
                </a:solidFill>
                <a:latin typeface="Arial"/>
                <a:ea typeface="Microsoft YaHei"/>
                <a:cs typeface="Arial"/>
              </a:rPr>
              <a:t>Commit</a:t>
            </a:r>
          </a:p>
        </p:txBody>
      </p:sp>
      <p:sp>
        <p:nvSpPr>
          <p:cNvPr id="22" name="Line 22"/>
          <p:cNvSpPr/>
          <p:nvPr/>
        </p:nvSpPr>
        <p:spPr>
          <a:xfrm>
            <a:off x="4191000" y="2952750"/>
            <a:ext cx="1047750" cy="9525"/>
          </a:xfrm>
          <a:custGeom>
            <a:avLst/>
            <a:gdLst/>
            <a:ahLst/>
            <a:cxnLst/>
            <a:rect l="l" t="t" r="r" b="b"/>
            <a:pathLst>
              <a:path w="1047750" h="9525">
                <a:moveTo>
                  <a:pt x="0" y="0"/>
                </a:moveTo>
                <a:lnTo>
                  <a:pt x="1047750" y="0"/>
                </a:lnTo>
              </a:path>
            </a:pathLst>
          </a:custGeom>
          <a:noFill/>
          <a:ln w="9525">
            <a:solidFill>
              <a:srgbClr val="E2E8F0"/>
            </a:solidFill>
          </a:ln>
        </p:spPr>
        <p:txBody>
          <a:bodyPr/>
          <a:lstStyle/>
          <a:p>
            <a:endParaRPr lang="en-US"/>
          </a:p>
        </p:txBody>
      </p:sp>
      <p:sp>
        <p:nvSpPr>
          <p:cNvPr id="23" name="TextBox 23"/>
          <p:cNvSpPr txBox="1"/>
          <p:nvPr/>
        </p:nvSpPr>
        <p:spPr>
          <a:xfrm>
            <a:off x="4432364" y="3156585"/>
            <a:ext cx="565023" cy="243840"/>
          </a:xfrm>
          <a:prstGeom prst="rect">
            <a:avLst/>
          </a:prstGeom>
          <a:noFill/>
          <a:ln>
            <a:noFill/>
          </a:ln>
        </p:spPr>
        <p:txBody>
          <a:bodyPr wrap="none" lIns="0" tIns="0" rIns="0" bIns="0" anchor="t" anchorCtr="0">
            <a:spAutoFit/>
          </a:bodyPr>
          <a:lstStyle/>
          <a:p>
            <a:pPr algn="ctr"/>
            <a:r>
              <a:rPr lang="zh-CN" sz="1200" dirty="0">
                <a:solidFill>
                  <a:srgbClr val="1A1A2E"/>
                </a:solidFill>
                <a:latin typeface="Arial"/>
                <a:ea typeface="Microsoft YaHei"/>
                <a:cs typeface="Arial"/>
              </a:rPr>
              <a:t>Save a</a:t>
            </a:r>
          </a:p>
        </p:txBody>
      </p:sp>
      <p:sp>
        <p:nvSpPr>
          <p:cNvPr id="24" name="TextBox 24"/>
          <p:cNvSpPr txBox="1"/>
          <p:nvPr/>
        </p:nvSpPr>
        <p:spPr>
          <a:xfrm>
            <a:off x="4239578" y="3394710"/>
            <a:ext cx="950595" cy="243840"/>
          </a:xfrm>
          <a:prstGeom prst="rect">
            <a:avLst/>
          </a:prstGeom>
          <a:noFill/>
          <a:ln>
            <a:noFill/>
          </a:ln>
        </p:spPr>
        <p:txBody>
          <a:bodyPr wrap="none" lIns="0" tIns="0" rIns="0" bIns="0" anchor="t" anchorCtr="0">
            <a:spAutoFit/>
          </a:bodyPr>
          <a:lstStyle/>
          <a:p>
            <a:pPr algn="ctr"/>
            <a:r>
              <a:rPr lang="zh-CN" sz="1200" dirty="0">
                <a:solidFill>
                  <a:srgbClr val="1A1A2E"/>
                </a:solidFill>
                <a:latin typeface="Arial"/>
                <a:ea typeface="Microsoft YaHei"/>
                <a:cs typeface="Arial"/>
              </a:rPr>
              <a:t>checkpoint</a:t>
            </a:r>
          </a:p>
        </p:txBody>
      </p:sp>
      <p:sp>
        <p:nvSpPr>
          <p:cNvPr id="25" name="Rectangle 25"/>
          <p:cNvSpPr/>
          <p:nvPr/>
        </p:nvSpPr>
        <p:spPr>
          <a:xfrm>
            <a:off x="3810000" y="3952875"/>
            <a:ext cx="1809750" cy="304800"/>
          </a:xfrm>
          <a:prstGeom prst="rect">
            <a:avLst/>
          </a:prstGeom>
          <a:solidFill>
            <a:srgbClr val="10B981">
              <a:alpha val="8000"/>
            </a:srgbClr>
          </a:solidFill>
          <a:ln>
            <a:noFill/>
          </a:ln>
        </p:spPr>
        <p:txBody>
          <a:bodyPr/>
          <a:lstStyle/>
          <a:p>
            <a:endParaRPr lang="en-US"/>
          </a:p>
        </p:txBody>
      </p:sp>
      <p:sp>
        <p:nvSpPr>
          <p:cNvPr id="26" name="TextBox 26"/>
          <p:cNvSpPr txBox="1"/>
          <p:nvPr/>
        </p:nvSpPr>
        <p:spPr>
          <a:xfrm>
            <a:off x="3984803" y="4057174"/>
            <a:ext cx="1460144" cy="198120"/>
          </a:xfrm>
          <a:prstGeom prst="rect">
            <a:avLst/>
          </a:prstGeom>
          <a:noFill/>
          <a:ln>
            <a:noFill/>
          </a:ln>
        </p:spPr>
        <p:txBody>
          <a:bodyPr wrap="none" lIns="0" tIns="0" rIns="0" bIns="0" anchor="t" anchorCtr="0">
            <a:spAutoFit/>
          </a:bodyPr>
          <a:lstStyle/>
          <a:p>
            <a:pPr algn="ctr"/>
            <a:r>
              <a:rPr lang="zh-CN" sz="975" b="1" dirty="0">
                <a:solidFill>
                  <a:srgbClr val="10B981"/>
                </a:solidFill>
                <a:latin typeface="Arial"/>
                <a:ea typeface="Microsoft YaHei"/>
                <a:cs typeface="Arial"/>
              </a:rPr>
              <a:t>Snapshot your work</a:t>
            </a:r>
          </a:p>
        </p:txBody>
      </p:sp>
      <p:sp>
        <p:nvSpPr>
          <p:cNvPr id="27" name="TextBox 27"/>
          <p:cNvSpPr txBox="1"/>
          <p:nvPr/>
        </p:nvSpPr>
        <p:spPr>
          <a:xfrm>
            <a:off x="4409187" y="4470082"/>
            <a:ext cx="611376" cy="640080"/>
          </a:xfrm>
          <a:prstGeom prst="rect">
            <a:avLst/>
          </a:prstGeom>
          <a:noFill/>
          <a:ln>
            <a:noFill/>
          </a:ln>
        </p:spPr>
        <p:txBody>
          <a:bodyPr wrap="none" lIns="0" tIns="0" rIns="0" bIns="0" anchor="t" anchorCtr="0">
            <a:spAutoFit/>
          </a:bodyPr>
          <a:lstStyle/>
          <a:p>
            <a:pPr algn="ctr"/>
            <a:r>
              <a:rPr lang="zh-CN" sz="3150" b="1" dirty="0">
                <a:solidFill>
                  <a:srgbClr val="10B981">
                    <a:alpha val="15000"/>
                  </a:srgbClr>
                </a:solidFill>
                <a:latin typeface="Arial"/>
                <a:ea typeface="Microsoft YaHei"/>
                <a:cs typeface="Arial"/>
              </a:rPr>
              <a:t>02</a:t>
            </a:r>
          </a:p>
        </p:txBody>
      </p:sp>
      <p:sp>
        <p:nvSpPr>
          <p:cNvPr id="28" name="Rectangle 28"/>
          <p:cNvSpPr/>
          <p:nvPr/>
        </p:nvSpPr>
        <p:spPr>
          <a:xfrm>
            <a:off x="6286500" y="1381125"/>
            <a:ext cx="2571750" cy="381000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29" name="Rectangle 29"/>
          <p:cNvSpPr/>
          <p:nvPr/>
        </p:nvSpPr>
        <p:spPr>
          <a:xfrm>
            <a:off x="6286500" y="1381125"/>
            <a:ext cx="2571750" cy="57150"/>
          </a:xfrm>
          <a:prstGeom prst="rect">
            <a:avLst/>
          </a:prstGeom>
          <a:solidFill>
            <a:srgbClr val="D97757"/>
          </a:solidFill>
          <a:ln>
            <a:noFill/>
          </a:ln>
        </p:spPr>
        <p:txBody>
          <a:bodyPr/>
          <a:lstStyle/>
          <a:p>
            <a:endParaRPr lang="en-US"/>
          </a:p>
        </p:txBody>
      </p:sp>
      <p:sp>
        <p:nvSpPr>
          <p:cNvPr id="30" name="Ellipse 30"/>
          <p:cNvSpPr/>
          <p:nvPr/>
        </p:nvSpPr>
        <p:spPr>
          <a:xfrm>
            <a:off x="7191375" y="1762125"/>
            <a:ext cx="762000" cy="762000"/>
          </a:xfrm>
          <a:prstGeom prst="ellipse">
            <a:avLst/>
          </a:prstGeom>
          <a:solidFill>
            <a:srgbClr val="D97757">
              <a:alpha val="10000"/>
            </a:srgbClr>
          </a:solidFill>
          <a:ln>
            <a:noFill/>
          </a:ln>
        </p:spPr>
        <p:txBody>
          <a:bodyPr/>
          <a:lstStyle/>
          <a:p>
            <a:endParaRPr lang="en-US"/>
          </a:p>
        </p:txBody>
      </p:sp>
      <p:sp>
        <p:nvSpPr>
          <p:cNvPr id="31" name="Freeform 31"/>
          <p:cNvSpPr/>
          <p:nvPr/>
        </p:nvSpPr>
        <p:spPr>
          <a:xfrm>
            <a:off x="7417594" y="1952625"/>
            <a:ext cx="309562" cy="381000"/>
          </a:xfrm>
          <a:custGeom>
            <a:avLst/>
            <a:gdLst/>
            <a:ahLst/>
            <a:cxnLst/>
            <a:rect l="l" t="t" r="r" b="b"/>
            <a:pathLst>
              <a:path w="309562" h="381000">
                <a:moveTo>
                  <a:pt x="83344" y="114109"/>
                </a:moveTo>
                <a:cubicBezTo>
                  <a:pt x="104369" y="104923"/>
                  <a:pt x="119062" y="83943"/>
                  <a:pt x="119062" y="59531"/>
                </a:cubicBezTo>
                <a:cubicBezTo>
                  <a:pt x="119062" y="26653"/>
                  <a:pt x="92409" y="0"/>
                  <a:pt x="59531" y="0"/>
                </a:cubicBezTo>
                <a:cubicBezTo>
                  <a:pt x="26653" y="0"/>
                  <a:pt x="0" y="26653"/>
                  <a:pt x="0" y="59531"/>
                </a:cubicBezTo>
                <a:cubicBezTo>
                  <a:pt x="0" y="83943"/>
                  <a:pt x="14694" y="104923"/>
                  <a:pt x="35719" y="114109"/>
                </a:cubicBezTo>
                <a:lnTo>
                  <a:pt x="35719" y="266891"/>
                </a:lnTo>
                <a:cubicBezTo>
                  <a:pt x="14694" y="276077"/>
                  <a:pt x="0" y="297056"/>
                  <a:pt x="0" y="321469"/>
                </a:cubicBezTo>
                <a:cubicBezTo>
                  <a:pt x="0" y="354347"/>
                  <a:pt x="26653" y="381000"/>
                  <a:pt x="59531" y="381000"/>
                </a:cubicBezTo>
                <a:cubicBezTo>
                  <a:pt x="92409" y="381000"/>
                  <a:pt x="119062" y="354347"/>
                  <a:pt x="119062" y="321469"/>
                </a:cubicBezTo>
                <a:cubicBezTo>
                  <a:pt x="119062" y="297056"/>
                  <a:pt x="104369" y="276077"/>
                  <a:pt x="83344" y="266891"/>
                </a:cubicBezTo>
                <a:lnTo>
                  <a:pt x="83344" y="214312"/>
                </a:lnTo>
                <a:lnTo>
                  <a:pt x="273844" y="214312"/>
                </a:lnTo>
                <a:lnTo>
                  <a:pt x="273844" y="114109"/>
                </a:lnTo>
                <a:cubicBezTo>
                  <a:pt x="294870" y="104923"/>
                  <a:pt x="309562" y="83943"/>
                  <a:pt x="309562" y="59531"/>
                </a:cubicBezTo>
                <a:cubicBezTo>
                  <a:pt x="309562" y="26653"/>
                  <a:pt x="282909" y="0"/>
                  <a:pt x="250031" y="0"/>
                </a:cubicBezTo>
                <a:cubicBezTo>
                  <a:pt x="217153" y="0"/>
                  <a:pt x="190500" y="26653"/>
                  <a:pt x="190500" y="59531"/>
                </a:cubicBezTo>
                <a:cubicBezTo>
                  <a:pt x="190500" y="83943"/>
                  <a:pt x="205192" y="104923"/>
                  <a:pt x="226219" y="114109"/>
                </a:cubicBezTo>
                <a:lnTo>
                  <a:pt x="226219" y="166688"/>
                </a:lnTo>
                <a:lnTo>
                  <a:pt x="83344" y="166688"/>
                </a:lnTo>
                <a:lnTo>
                  <a:pt x="83344" y="114109"/>
                </a:lnTo>
                <a:close/>
              </a:path>
            </a:pathLst>
          </a:custGeom>
          <a:solidFill>
            <a:srgbClr val="D97757"/>
          </a:solidFill>
          <a:ln>
            <a:noFill/>
          </a:ln>
        </p:spPr>
        <p:txBody>
          <a:bodyPr/>
          <a:lstStyle/>
          <a:p>
            <a:endParaRPr lang="en-US"/>
          </a:p>
        </p:txBody>
      </p:sp>
      <p:sp>
        <p:nvSpPr>
          <p:cNvPr id="32" name="TextBox 32"/>
          <p:cNvSpPr txBox="1"/>
          <p:nvPr/>
        </p:nvSpPr>
        <p:spPr>
          <a:xfrm>
            <a:off x="7014339" y="2583180"/>
            <a:ext cx="1116073" cy="426720"/>
          </a:xfrm>
          <a:prstGeom prst="rect">
            <a:avLst/>
          </a:prstGeom>
          <a:noFill/>
          <a:ln>
            <a:noFill/>
          </a:ln>
        </p:spPr>
        <p:txBody>
          <a:bodyPr wrap="none" lIns="0" tIns="0" rIns="0" bIns="0" anchor="t" anchorCtr="0">
            <a:spAutoFit/>
          </a:bodyPr>
          <a:lstStyle/>
          <a:p>
            <a:pPr algn="ctr"/>
            <a:r>
              <a:rPr lang="zh-CN" sz="2100" b="1" dirty="0">
                <a:solidFill>
                  <a:srgbClr val="D97757"/>
                </a:solidFill>
                <a:latin typeface="Arial"/>
                <a:ea typeface="Microsoft YaHei"/>
                <a:cs typeface="Arial"/>
              </a:rPr>
              <a:t>Branch</a:t>
            </a:r>
          </a:p>
        </p:txBody>
      </p:sp>
      <p:sp>
        <p:nvSpPr>
          <p:cNvPr id="33" name="Line 33"/>
          <p:cNvSpPr/>
          <p:nvPr/>
        </p:nvSpPr>
        <p:spPr>
          <a:xfrm>
            <a:off x="7048500" y="2952750"/>
            <a:ext cx="1047750" cy="9525"/>
          </a:xfrm>
          <a:custGeom>
            <a:avLst/>
            <a:gdLst/>
            <a:ahLst/>
            <a:cxnLst/>
            <a:rect l="l" t="t" r="r" b="b"/>
            <a:pathLst>
              <a:path w="1047750" h="9525">
                <a:moveTo>
                  <a:pt x="0" y="0"/>
                </a:moveTo>
                <a:lnTo>
                  <a:pt x="1047750" y="0"/>
                </a:lnTo>
              </a:path>
            </a:pathLst>
          </a:custGeom>
          <a:noFill/>
          <a:ln w="9525">
            <a:solidFill>
              <a:srgbClr val="E2E8F0"/>
            </a:solidFill>
          </a:ln>
        </p:spPr>
        <p:txBody>
          <a:bodyPr/>
          <a:lstStyle/>
          <a:p>
            <a:endParaRPr lang="en-US"/>
          </a:p>
        </p:txBody>
      </p:sp>
      <p:sp>
        <p:nvSpPr>
          <p:cNvPr id="34" name="TextBox 34"/>
          <p:cNvSpPr txBox="1"/>
          <p:nvPr/>
        </p:nvSpPr>
        <p:spPr>
          <a:xfrm>
            <a:off x="7070788" y="3156585"/>
            <a:ext cx="1003173" cy="243840"/>
          </a:xfrm>
          <a:prstGeom prst="rect">
            <a:avLst/>
          </a:prstGeom>
          <a:noFill/>
          <a:ln>
            <a:noFill/>
          </a:ln>
        </p:spPr>
        <p:txBody>
          <a:bodyPr wrap="none" lIns="0" tIns="0" rIns="0" bIns="0" anchor="t" anchorCtr="0">
            <a:spAutoFit/>
          </a:bodyPr>
          <a:lstStyle/>
          <a:p>
            <a:pPr algn="ctr"/>
            <a:r>
              <a:rPr lang="zh-CN" sz="1200" dirty="0">
                <a:solidFill>
                  <a:srgbClr val="1A1A2E"/>
                </a:solidFill>
                <a:latin typeface="Arial"/>
                <a:ea typeface="Microsoft YaHei"/>
                <a:cs typeface="Arial"/>
              </a:rPr>
              <a:t>Copy to try</a:t>
            </a:r>
          </a:p>
        </p:txBody>
      </p:sp>
      <p:sp>
        <p:nvSpPr>
          <p:cNvPr id="35" name="TextBox 35"/>
          <p:cNvSpPr txBox="1"/>
          <p:nvPr/>
        </p:nvSpPr>
        <p:spPr>
          <a:xfrm>
            <a:off x="6939344" y="3394710"/>
            <a:ext cx="1266063" cy="243840"/>
          </a:xfrm>
          <a:prstGeom prst="rect">
            <a:avLst/>
          </a:prstGeom>
          <a:noFill/>
          <a:ln>
            <a:noFill/>
          </a:ln>
        </p:spPr>
        <p:txBody>
          <a:bodyPr wrap="none" lIns="0" tIns="0" rIns="0" bIns="0" anchor="t" anchorCtr="0">
            <a:spAutoFit/>
          </a:bodyPr>
          <a:lstStyle/>
          <a:p>
            <a:pPr algn="ctr"/>
            <a:r>
              <a:rPr lang="zh-CN" sz="1200" dirty="0">
                <a:solidFill>
                  <a:srgbClr val="1A1A2E"/>
                </a:solidFill>
                <a:latin typeface="Arial"/>
                <a:ea typeface="Microsoft YaHei"/>
                <a:cs typeface="Arial"/>
              </a:rPr>
              <a:t>something new</a:t>
            </a:r>
          </a:p>
        </p:txBody>
      </p:sp>
      <p:sp>
        <p:nvSpPr>
          <p:cNvPr id="36" name="Rectangle 36"/>
          <p:cNvSpPr/>
          <p:nvPr/>
        </p:nvSpPr>
        <p:spPr>
          <a:xfrm>
            <a:off x="6667500" y="3952875"/>
            <a:ext cx="1809750" cy="304800"/>
          </a:xfrm>
          <a:prstGeom prst="rect">
            <a:avLst/>
          </a:prstGeom>
          <a:solidFill>
            <a:srgbClr val="D97757">
              <a:alpha val="8000"/>
            </a:srgbClr>
          </a:solidFill>
          <a:ln>
            <a:noFill/>
          </a:ln>
        </p:spPr>
        <p:txBody>
          <a:bodyPr/>
          <a:lstStyle/>
          <a:p>
            <a:endParaRPr lang="en-US"/>
          </a:p>
        </p:txBody>
      </p:sp>
      <p:sp>
        <p:nvSpPr>
          <p:cNvPr id="37" name="TextBox 37"/>
          <p:cNvSpPr txBox="1"/>
          <p:nvPr/>
        </p:nvSpPr>
        <p:spPr>
          <a:xfrm>
            <a:off x="6995559" y="4057174"/>
            <a:ext cx="1153631" cy="198120"/>
          </a:xfrm>
          <a:prstGeom prst="rect">
            <a:avLst/>
          </a:prstGeom>
          <a:noFill/>
          <a:ln>
            <a:noFill/>
          </a:ln>
        </p:spPr>
        <p:txBody>
          <a:bodyPr wrap="none" lIns="0" tIns="0" rIns="0" bIns="0" anchor="t" anchorCtr="0">
            <a:spAutoFit/>
          </a:bodyPr>
          <a:lstStyle/>
          <a:p>
            <a:pPr algn="ctr"/>
            <a:r>
              <a:rPr lang="zh-CN" sz="975" b="1" dirty="0">
                <a:solidFill>
                  <a:srgbClr val="D97757"/>
                </a:solidFill>
                <a:latin typeface="Arial"/>
                <a:ea typeface="Microsoft YaHei"/>
                <a:cs typeface="Arial"/>
              </a:rPr>
              <a:t>Parallel version</a:t>
            </a:r>
          </a:p>
        </p:txBody>
      </p:sp>
      <p:sp>
        <p:nvSpPr>
          <p:cNvPr id="38" name="TextBox 38"/>
          <p:cNvSpPr txBox="1"/>
          <p:nvPr/>
        </p:nvSpPr>
        <p:spPr>
          <a:xfrm>
            <a:off x="7266687" y="4470082"/>
            <a:ext cx="611376" cy="640080"/>
          </a:xfrm>
          <a:prstGeom prst="rect">
            <a:avLst/>
          </a:prstGeom>
          <a:noFill/>
          <a:ln>
            <a:noFill/>
          </a:ln>
        </p:spPr>
        <p:txBody>
          <a:bodyPr wrap="none" lIns="0" tIns="0" rIns="0" bIns="0" anchor="t" anchorCtr="0">
            <a:spAutoFit/>
          </a:bodyPr>
          <a:lstStyle/>
          <a:p>
            <a:pPr algn="ctr"/>
            <a:r>
              <a:rPr lang="zh-CN" sz="3150" b="1" dirty="0">
                <a:solidFill>
                  <a:srgbClr val="D97757">
                    <a:alpha val="15000"/>
                  </a:srgbClr>
                </a:solidFill>
                <a:latin typeface="Arial"/>
                <a:ea typeface="Microsoft YaHei"/>
                <a:cs typeface="Arial"/>
              </a:rPr>
              <a:t>03</a:t>
            </a:r>
          </a:p>
        </p:txBody>
      </p:sp>
      <p:sp>
        <p:nvSpPr>
          <p:cNvPr id="39" name="Rectangle 39"/>
          <p:cNvSpPr/>
          <p:nvPr/>
        </p:nvSpPr>
        <p:spPr>
          <a:xfrm>
            <a:off x="9144000" y="1381125"/>
            <a:ext cx="2571750" cy="381000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40" name="Rectangle 40"/>
          <p:cNvSpPr/>
          <p:nvPr/>
        </p:nvSpPr>
        <p:spPr>
          <a:xfrm>
            <a:off x="9144000" y="1381125"/>
            <a:ext cx="2571750" cy="57150"/>
          </a:xfrm>
          <a:prstGeom prst="rect">
            <a:avLst/>
          </a:prstGeom>
          <a:solidFill>
            <a:srgbClr val="4A90D9"/>
          </a:solidFill>
          <a:ln>
            <a:noFill/>
          </a:ln>
        </p:spPr>
        <p:txBody>
          <a:bodyPr/>
          <a:lstStyle/>
          <a:p>
            <a:endParaRPr lang="en-US"/>
          </a:p>
        </p:txBody>
      </p:sp>
      <p:sp>
        <p:nvSpPr>
          <p:cNvPr id="41" name="Ellipse 41"/>
          <p:cNvSpPr/>
          <p:nvPr/>
        </p:nvSpPr>
        <p:spPr>
          <a:xfrm>
            <a:off x="10048875" y="1762125"/>
            <a:ext cx="762000" cy="762000"/>
          </a:xfrm>
          <a:prstGeom prst="ellipse">
            <a:avLst/>
          </a:prstGeom>
          <a:solidFill>
            <a:srgbClr val="4A90D9">
              <a:alpha val="10000"/>
            </a:srgbClr>
          </a:solidFill>
          <a:ln>
            <a:noFill/>
          </a:ln>
        </p:spPr>
        <p:txBody>
          <a:bodyPr/>
          <a:lstStyle/>
          <a:p>
            <a:endParaRPr lang="en-US"/>
          </a:p>
        </p:txBody>
      </p:sp>
      <p:grpSp>
        <p:nvGrpSpPr>
          <p:cNvPr id="44" name="Group 44"/>
          <p:cNvGrpSpPr/>
          <p:nvPr/>
        </p:nvGrpSpPr>
        <p:grpSpPr>
          <a:xfrm>
            <a:off x="10239375" y="1952625"/>
            <a:ext cx="381000" cy="381000"/>
            <a:chOff x="10239375" y="1952625"/>
            <a:chExt cx="381000" cy="381000"/>
          </a:xfrm>
        </p:grpSpPr>
        <p:sp>
          <p:nvSpPr>
            <p:cNvPr id="42" name="Freeform 42"/>
            <p:cNvSpPr/>
            <p:nvPr/>
          </p:nvSpPr>
          <p:spPr>
            <a:xfrm>
              <a:off x="10239375" y="1952625"/>
              <a:ext cx="381000" cy="381000"/>
            </a:xfrm>
            <a:custGeom>
              <a:avLst/>
              <a:gdLst/>
              <a:ahLst/>
              <a:cxnLst/>
              <a:rect l="l" t="t" r="r" b="b"/>
              <a:pathLst>
                <a:path w="381000" h="381000">
                  <a:moveTo>
                    <a:pt x="238125" y="381000"/>
                  </a:moveTo>
                  <a:lnTo>
                    <a:pt x="285750" y="333375"/>
                  </a:lnTo>
                  <a:lnTo>
                    <a:pt x="285750" y="238125"/>
                  </a:lnTo>
                  <a:lnTo>
                    <a:pt x="325205" y="198671"/>
                  </a:lnTo>
                  <a:cubicBezTo>
                    <a:pt x="360928" y="162945"/>
                    <a:pt x="381000" y="114491"/>
                    <a:pt x="381000" y="63967"/>
                  </a:cubicBezTo>
                  <a:lnTo>
                    <a:pt x="381000" y="0"/>
                  </a:lnTo>
                  <a:lnTo>
                    <a:pt x="317032" y="0"/>
                  </a:lnTo>
                  <a:cubicBezTo>
                    <a:pt x="266510" y="0"/>
                    <a:pt x="218054" y="20070"/>
                    <a:pt x="182329" y="55796"/>
                  </a:cubicBezTo>
                  <a:lnTo>
                    <a:pt x="142875" y="95250"/>
                  </a:lnTo>
                  <a:lnTo>
                    <a:pt x="47625" y="95250"/>
                  </a:lnTo>
                  <a:lnTo>
                    <a:pt x="0" y="142875"/>
                  </a:lnTo>
                  <a:lnTo>
                    <a:pt x="238125" y="381000"/>
                  </a:lnTo>
                  <a:close/>
                  <a:moveTo>
                    <a:pt x="250031" y="166688"/>
                  </a:moveTo>
                  <a:cubicBezTo>
                    <a:pt x="269758" y="166688"/>
                    <a:pt x="285750" y="150696"/>
                    <a:pt x="285750" y="130969"/>
                  </a:cubicBezTo>
                  <a:cubicBezTo>
                    <a:pt x="285750" y="111242"/>
                    <a:pt x="269758" y="95250"/>
                    <a:pt x="250031" y="95250"/>
                  </a:cubicBezTo>
                  <a:cubicBezTo>
                    <a:pt x="230304" y="95250"/>
                    <a:pt x="214312" y="111242"/>
                    <a:pt x="214312" y="130969"/>
                  </a:cubicBezTo>
                  <a:cubicBezTo>
                    <a:pt x="214312" y="150696"/>
                    <a:pt x="230304" y="166688"/>
                    <a:pt x="250031" y="166688"/>
                  </a:cubicBezTo>
                  <a:close/>
                </a:path>
              </a:pathLst>
            </a:custGeom>
            <a:solidFill>
              <a:srgbClr val="4A90D9"/>
            </a:solidFill>
            <a:ln>
              <a:noFill/>
            </a:ln>
          </p:spPr>
          <p:txBody>
            <a:bodyPr/>
            <a:lstStyle/>
            <a:p>
              <a:endParaRPr lang="en-US"/>
            </a:p>
          </p:txBody>
        </p:sp>
        <p:sp>
          <p:nvSpPr>
            <p:cNvPr id="43" name="Freeform 43"/>
            <p:cNvSpPr/>
            <p:nvPr/>
          </p:nvSpPr>
          <p:spPr>
            <a:xfrm>
              <a:off x="10239375" y="2216291"/>
              <a:ext cx="117334" cy="117334"/>
            </a:xfrm>
            <a:custGeom>
              <a:avLst/>
              <a:gdLst/>
              <a:ahLst/>
              <a:cxnLst/>
              <a:rect l="l" t="t" r="r" b="b"/>
              <a:pathLst>
                <a:path w="117334" h="117334">
                  <a:moveTo>
                    <a:pt x="117334" y="63894"/>
                  </a:moveTo>
                  <a:lnTo>
                    <a:pt x="53441" y="0"/>
                  </a:lnTo>
                  <a:lnTo>
                    <a:pt x="0" y="93521"/>
                  </a:lnTo>
                  <a:lnTo>
                    <a:pt x="23812" y="117334"/>
                  </a:lnTo>
                  <a:lnTo>
                    <a:pt x="117334" y="63894"/>
                  </a:lnTo>
                  <a:close/>
                </a:path>
              </a:pathLst>
            </a:custGeom>
            <a:solidFill>
              <a:srgbClr val="4A90D9"/>
            </a:solidFill>
            <a:ln>
              <a:noFill/>
            </a:ln>
          </p:spPr>
          <p:txBody>
            <a:bodyPr/>
            <a:lstStyle/>
            <a:p>
              <a:endParaRPr lang="en-US"/>
            </a:p>
          </p:txBody>
        </p:sp>
      </p:grpSp>
      <p:sp>
        <p:nvSpPr>
          <p:cNvPr id="45" name="TextBox 45"/>
          <p:cNvSpPr txBox="1"/>
          <p:nvPr/>
        </p:nvSpPr>
        <p:spPr>
          <a:xfrm>
            <a:off x="10048961" y="2583180"/>
            <a:ext cx="761829" cy="426720"/>
          </a:xfrm>
          <a:prstGeom prst="rect">
            <a:avLst/>
          </a:prstGeom>
          <a:noFill/>
          <a:ln>
            <a:noFill/>
          </a:ln>
        </p:spPr>
        <p:txBody>
          <a:bodyPr wrap="none" lIns="0" tIns="0" rIns="0" bIns="0" anchor="t" anchorCtr="0">
            <a:spAutoFit/>
          </a:bodyPr>
          <a:lstStyle/>
          <a:p>
            <a:pPr algn="ctr"/>
            <a:r>
              <a:rPr lang="zh-CN" sz="2100" b="1" dirty="0">
                <a:solidFill>
                  <a:srgbClr val="4A90D9"/>
                </a:solidFill>
                <a:latin typeface="Arial"/>
                <a:ea typeface="Microsoft YaHei"/>
                <a:cs typeface="Arial"/>
              </a:rPr>
              <a:t>Push</a:t>
            </a:r>
          </a:p>
        </p:txBody>
      </p:sp>
      <p:sp>
        <p:nvSpPr>
          <p:cNvPr id="46" name="Line 46"/>
          <p:cNvSpPr/>
          <p:nvPr/>
        </p:nvSpPr>
        <p:spPr>
          <a:xfrm>
            <a:off x="9906000" y="2952750"/>
            <a:ext cx="1047750" cy="9525"/>
          </a:xfrm>
          <a:custGeom>
            <a:avLst/>
            <a:gdLst/>
            <a:ahLst/>
            <a:cxnLst/>
            <a:rect l="l" t="t" r="r" b="b"/>
            <a:pathLst>
              <a:path w="1047750" h="9525">
                <a:moveTo>
                  <a:pt x="0" y="0"/>
                </a:moveTo>
                <a:lnTo>
                  <a:pt x="1047750" y="0"/>
                </a:lnTo>
              </a:path>
            </a:pathLst>
          </a:custGeom>
          <a:noFill/>
          <a:ln w="9525">
            <a:solidFill>
              <a:srgbClr val="E2E8F0"/>
            </a:solidFill>
          </a:ln>
        </p:spPr>
        <p:txBody>
          <a:bodyPr/>
          <a:lstStyle/>
          <a:p>
            <a:endParaRPr lang="en-US"/>
          </a:p>
        </p:txBody>
      </p:sp>
      <p:sp>
        <p:nvSpPr>
          <p:cNvPr id="47" name="TextBox 47"/>
          <p:cNvSpPr txBox="1"/>
          <p:nvPr/>
        </p:nvSpPr>
        <p:spPr>
          <a:xfrm>
            <a:off x="10024682" y="3156585"/>
            <a:ext cx="810387" cy="243840"/>
          </a:xfrm>
          <a:prstGeom prst="rect">
            <a:avLst/>
          </a:prstGeom>
          <a:noFill/>
          <a:ln>
            <a:noFill/>
          </a:ln>
        </p:spPr>
        <p:txBody>
          <a:bodyPr wrap="none" lIns="0" tIns="0" rIns="0" bIns="0" anchor="t" anchorCtr="0">
            <a:spAutoFit/>
          </a:bodyPr>
          <a:lstStyle/>
          <a:p>
            <a:pPr algn="ctr"/>
            <a:r>
              <a:rPr lang="zh-CN" sz="1200" dirty="0">
                <a:solidFill>
                  <a:srgbClr val="1A1A2E"/>
                </a:solidFill>
                <a:latin typeface="Arial"/>
                <a:ea typeface="Microsoft YaHei"/>
                <a:cs typeface="Arial"/>
              </a:rPr>
              <a:t>Upload to</a:t>
            </a:r>
          </a:p>
        </p:txBody>
      </p:sp>
      <p:sp>
        <p:nvSpPr>
          <p:cNvPr id="48" name="TextBox 48"/>
          <p:cNvSpPr txBox="1"/>
          <p:nvPr/>
        </p:nvSpPr>
        <p:spPr>
          <a:xfrm>
            <a:off x="10147364" y="3394710"/>
            <a:ext cx="565023" cy="243840"/>
          </a:xfrm>
          <a:prstGeom prst="rect">
            <a:avLst/>
          </a:prstGeom>
          <a:noFill/>
          <a:ln>
            <a:noFill/>
          </a:ln>
        </p:spPr>
        <p:txBody>
          <a:bodyPr wrap="none" lIns="0" tIns="0" rIns="0" bIns="0" anchor="t" anchorCtr="0">
            <a:spAutoFit/>
          </a:bodyPr>
          <a:lstStyle/>
          <a:p>
            <a:pPr algn="ctr"/>
            <a:r>
              <a:rPr lang="zh-CN" sz="1200" dirty="0">
                <a:solidFill>
                  <a:srgbClr val="1A1A2E"/>
                </a:solidFill>
                <a:latin typeface="Arial"/>
                <a:ea typeface="Microsoft YaHei"/>
                <a:cs typeface="Arial"/>
              </a:rPr>
              <a:t>GitHub</a:t>
            </a:r>
          </a:p>
        </p:txBody>
      </p:sp>
      <p:sp>
        <p:nvSpPr>
          <p:cNvPr id="49" name="Rectangle 49"/>
          <p:cNvSpPr/>
          <p:nvPr/>
        </p:nvSpPr>
        <p:spPr>
          <a:xfrm>
            <a:off x="9525000" y="3952875"/>
            <a:ext cx="1809750" cy="304800"/>
          </a:xfrm>
          <a:prstGeom prst="rect">
            <a:avLst/>
          </a:prstGeom>
          <a:solidFill>
            <a:srgbClr val="4A90D9">
              <a:alpha val="8000"/>
            </a:srgbClr>
          </a:solidFill>
          <a:ln>
            <a:noFill/>
          </a:ln>
        </p:spPr>
        <p:txBody>
          <a:bodyPr/>
          <a:lstStyle/>
          <a:p>
            <a:endParaRPr lang="en-US"/>
          </a:p>
        </p:txBody>
      </p:sp>
      <p:sp>
        <p:nvSpPr>
          <p:cNvPr id="50" name="TextBox 50"/>
          <p:cNvSpPr txBox="1"/>
          <p:nvPr/>
        </p:nvSpPr>
        <p:spPr>
          <a:xfrm>
            <a:off x="9658685" y="4057174"/>
            <a:ext cx="1542380" cy="198120"/>
          </a:xfrm>
          <a:prstGeom prst="rect">
            <a:avLst/>
          </a:prstGeom>
          <a:noFill/>
          <a:ln>
            <a:noFill/>
          </a:ln>
        </p:spPr>
        <p:txBody>
          <a:bodyPr wrap="none" lIns="0" tIns="0" rIns="0" bIns="0" anchor="t" anchorCtr="0">
            <a:spAutoFit/>
          </a:bodyPr>
          <a:lstStyle/>
          <a:p>
            <a:pPr algn="ctr"/>
            <a:r>
              <a:rPr lang="zh-CN" sz="975" b="1" dirty="0">
                <a:solidFill>
                  <a:srgbClr val="4A90D9"/>
                </a:solidFill>
                <a:latin typeface="Arial"/>
                <a:ea typeface="Microsoft YaHei"/>
                <a:cs typeface="Arial"/>
              </a:rPr>
              <a:t>Share with the world</a:t>
            </a:r>
          </a:p>
        </p:txBody>
      </p:sp>
      <p:sp>
        <p:nvSpPr>
          <p:cNvPr id="51" name="TextBox 51"/>
          <p:cNvSpPr txBox="1"/>
          <p:nvPr/>
        </p:nvSpPr>
        <p:spPr>
          <a:xfrm>
            <a:off x="10124187" y="4470082"/>
            <a:ext cx="611376" cy="640080"/>
          </a:xfrm>
          <a:prstGeom prst="rect">
            <a:avLst/>
          </a:prstGeom>
          <a:noFill/>
          <a:ln>
            <a:noFill/>
          </a:ln>
        </p:spPr>
        <p:txBody>
          <a:bodyPr wrap="none" lIns="0" tIns="0" rIns="0" bIns="0" anchor="t" anchorCtr="0">
            <a:spAutoFit/>
          </a:bodyPr>
          <a:lstStyle/>
          <a:p>
            <a:pPr algn="ctr"/>
            <a:r>
              <a:rPr lang="zh-CN" sz="3150" b="1" dirty="0">
                <a:solidFill>
                  <a:srgbClr val="4A90D9">
                    <a:alpha val="15000"/>
                  </a:srgbClr>
                </a:solidFill>
                <a:latin typeface="Arial"/>
                <a:ea typeface="Microsoft YaHei"/>
                <a:cs typeface="Arial"/>
              </a:rPr>
              <a:t>04</a:t>
            </a:r>
          </a:p>
        </p:txBody>
      </p:sp>
      <p:sp>
        <p:nvSpPr>
          <p:cNvPr id="52" name="TextBox 52"/>
          <p:cNvSpPr txBox="1"/>
          <p:nvPr/>
        </p:nvSpPr>
        <p:spPr>
          <a:xfrm>
            <a:off x="3814286" y="5593556"/>
            <a:ext cx="4563428" cy="228600"/>
          </a:xfrm>
          <a:prstGeom prst="rect">
            <a:avLst/>
          </a:prstGeom>
          <a:noFill/>
          <a:ln>
            <a:noFill/>
          </a:ln>
        </p:spPr>
        <p:txBody>
          <a:bodyPr wrap="none" lIns="0" tIns="0" rIns="0" bIns="0" anchor="t" anchorCtr="0">
            <a:spAutoFit/>
          </a:bodyPr>
          <a:lstStyle/>
          <a:p>
            <a:pPr algn="ctr"/>
            <a:r>
              <a:rPr lang="zh-CN" sz="1125" dirty="0">
                <a:solidFill>
                  <a:srgbClr val="64748B"/>
                </a:solidFill>
                <a:latin typeface="Arial"/>
                <a:ea typeface="Microsoft YaHei"/>
                <a:cs typeface="Arial"/>
              </a:rPr>
              <a:t>From the Aniket Panjwani video you watched before class</a:t>
            </a:r>
          </a:p>
        </p:txBody>
      </p:sp>
      <p:sp>
        <p:nvSpPr>
          <p:cNvPr id="53" name="TextBox 53"/>
          <p:cNvSpPr txBox="1"/>
          <p:nvPr/>
        </p:nvSpPr>
        <p:spPr>
          <a:xfrm>
            <a:off x="5887141" y="6411278"/>
            <a:ext cx="417719"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5 / 15</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sp>
        <p:nvSpPr>
          <p:cNvPr id="3" name="Rectangle 3"/>
          <p:cNvSpPr/>
          <p:nvPr/>
        </p:nvSpPr>
        <p:spPr>
          <a:xfrm>
            <a:off x="0" y="0"/>
            <a:ext cx="12192000" cy="57150"/>
          </a:xfrm>
          <a:prstGeom prst="rect">
            <a:avLst/>
          </a:prstGeom>
          <a:solidFill>
            <a:srgbClr val="D97757"/>
          </a:solidFill>
          <a:ln>
            <a:noFill/>
          </a:ln>
        </p:spPr>
        <p:txBody>
          <a:bodyPr/>
          <a:lstStyle/>
          <a:p>
            <a:endParaRPr lang="en-US"/>
          </a:p>
        </p:txBody>
      </p:sp>
      <p:sp>
        <p:nvSpPr>
          <p:cNvPr id="4" name="TextBox 4"/>
          <p:cNvSpPr txBox="1"/>
          <p:nvPr/>
        </p:nvSpPr>
        <p:spPr>
          <a:xfrm>
            <a:off x="558165" y="410528"/>
            <a:ext cx="908447" cy="213360"/>
          </a:xfrm>
          <a:prstGeom prst="rect">
            <a:avLst/>
          </a:prstGeom>
          <a:noFill/>
          <a:ln>
            <a:noFill/>
          </a:ln>
        </p:spPr>
        <p:txBody>
          <a:bodyPr wrap="none" lIns="0" tIns="0" rIns="0" bIns="0" anchor="t" anchorCtr="0">
            <a:spAutoFit/>
          </a:bodyPr>
          <a:lstStyle/>
          <a:p>
            <a:pPr algn="l"/>
            <a:r>
              <a:rPr lang="zh-CN" sz="1050" dirty="0">
                <a:solidFill>
                  <a:srgbClr val="D97757"/>
                </a:solidFill>
                <a:latin typeface="Arial"/>
                <a:ea typeface="Microsoft YaHei"/>
                <a:cs typeface="Arial"/>
              </a:rPr>
              <a:t>APPLICATION</a:t>
            </a:r>
          </a:p>
        </p:txBody>
      </p:sp>
      <p:sp>
        <p:nvSpPr>
          <p:cNvPr id="5" name="TextBox 5"/>
          <p:cNvSpPr txBox="1"/>
          <p:nvPr/>
        </p:nvSpPr>
        <p:spPr>
          <a:xfrm>
            <a:off x="542925" y="709612"/>
            <a:ext cx="8976515" cy="457200"/>
          </a:xfrm>
          <a:prstGeom prst="rect">
            <a:avLst/>
          </a:prstGeom>
          <a:noFill/>
          <a:ln>
            <a:noFill/>
          </a:ln>
        </p:spPr>
        <p:txBody>
          <a:bodyPr wrap="none" lIns="0" tIns="0" rIns="0" bIns="0" anchor="t" anchorCtr="0">
            <a:spAutoFit/>
          </a:bodyPr>
          <a:lstStyle/>
          <a:p>
            <a:pPr algn="l"/>
            <a:r>
              <a:rPr lang="zh-CN" sz="2250" b="1" dirty="0">
                <a:solidFill>
                  <a:srgbClr val="1A1A2E"/>
                </a:solidFill>
                <a:latin typeface="Arial"/>
                <a:ea typeface="Microsoft YaHei"/>
                <a:cs typeface="Arial"/>
              </a:rPr>
              <a:t>Your Group Has a Coordination Problem. Git Solves It.</a:t>
            </a:r>
          </a:p>
        </p:txBody>
      </p:sp>
      <p:sp>
        <p:nvSpPr>
          <p:cNvPr id="6" name="Rectangle 6"/>
          <p:cNvSpPr/>
          <p:nvPr/>
        </p:nvSpPr>
        <p:spPr>
          <a:xfrm>
            <a:off x="571500" y="1285875"/>
            <a:ext cx="5334000" cy="4286250"/>
          </a:xfrm>
          <a:prstGeom prst="rect">
            <a:avLst/>
          </a:prstGeom>
          <a:solidFill>
            <a:srgbClr val="FEF2F2"/>
          </a:solidFill>
          <a:ln w="9525">
            <a:solidFill>
              <a:srgbClr val="FECACA"/>
            </a:solidFill>
          </a:ln>
          <a:effectLst>
            <a:outerShdw blurRad="228600" dist="57150" dir="10799427" algn="tl" rotWithShape="0">
              <a:srgbClr val="000000">
                <a:alpha val="12000"/>
              </a:srgbClr>
            </a:outerShdw>
          </a:effectLst>
        </p:spPr>
        <p:txBody>
          <a:bodyPr/>
          <a:lstStyle/>
          <a:p>
            <a:endParaRPr lang="en-US"/>
          </a:p>
        </p:txBody>
      </p:sp>
      <p:sp>
        <p:nvSpPr>
          <p:cNvPr id="7" name="Rectangle 7"/>
          <p:cNvSpPr/>
          <p:nvPr/>
        </p:nvSpPr>
        <p:spPr>
          <a:xfrm>
            <a:off x="571500" y="1285875"/>
            <a:ext cx="5334000" cy="57150"/>
          </a:xfrm>
          <a:prstGeom prst="rect">
            <a:avLst/>
          </a:prstGeom>
          <a:solidFill>
            <a:srgbClr val="EF4444"/>
          </a:solidFill>
          <a:ln>
            <a:noFill/>
          </a:ln>
        </p:spPr>
        <p:txBody>
          <a:bodyPr/>
          <a:lstStyle/>
          <a:p>
            <a:endParaRPr lang="en-US"/>
          </a:p>
        </p:txBody>
      </p:sp>
      <p:sp>
        <p:nvSpPr>
          <p:cNvPr id="8" name="Freeform 8"/>
          <p:cNvSpPr/>
          <p:nvPr/>
        </p:nvSpPr>
        <p:spPr>
          <a:xfrm>
            <a:off x="857250" y="1571625"/>
            <a:ext cx="304800" cy="304800"/>
          </a:xfrm>
          <a:custGeom>
            <a:avLst/>
            <a:gdLst/>
            <a:ahLst/>
            <a:cxnLst/>
            <a:rect l="l" t="t" r="r" b="b"/>
            <a:pathLst>
              <a:path w="304800" h="304800">
                <a:moveTo>
                  <a:pt x="152400" y="304800"/>
                </a:moveTo>
                <a:cubicBezTo>
                  <a:pt x="236569" y="304800"/>
                  <a:pt x="304800" y="236569"/>
                  <a:pt x="304800" y="152400"/>
                </a:cubicBezTo>
                <a:cubicBezTo>
                  <a:pt x="304800" y="68232"/>
                  <a:pt x="236569" y="0"/>
                  <a:pt x="152400" y="0"/>
                </a:cubicBezTo>
                <a:cubicBezTo>
                  <a:pt x="68232" y="0"/>
                  <a:pt x="0" y="68232"/>
                  <a:pt x="0" y="152400"/>
                </a:cubicBezTo>
                <a:cubicBezTo>
                  <a:pt x="0" y="236569"/>
                  <a:pt x="68232" y="304800"/>
                  <a:pt x="152400" y="304800"/>
                </a:cubicBezTo>
                <a:close/>
                <a:moveTo>
                  <a:pt x="81780" y="108720"/>
                </a:moveTo>
                <a:lnTo>
                  <a:pt x="125459" y="152400"/>
                </a:lnTo>
                <a:lnTo>
                  <a:pt x="81780" y="196080"/>
                </a:lnTo>
                <a:lnTo>
                  <a:pt x="108720" y="223020"/>
                </a:lnTo>
                <a:lnTo>
                  <a:pt x="152400" y="179341"/>
                </a:lnTo>
                <a:lnTo>
                  <a:pt x="196080" y="223020"/>
                </a:lnTo>
                <a:lnTo>
                  <a:pt x="223020" y="196080"/>
                </a:lnTo>
                <a:lnTo>
                  <a:pt x="179341" y="152400"/>
                </a:lnTo>
                <a:lnTo>
                  <a:pt x="223020" y="108720"/>
                </a:lnTo>
                <a:lnTo>
                  <a:pt x="196080" y="81780"/>
                </a:lnTo>
                <a:lnTo>
                  <a:pt x="152400" y="125459"/>
                </a:lnTo>
                <a:lnTo>
                  <a:pt x="108720" y="81780"/>
                </a:lnTo>
                <a:lnTo>
                  <a:pt x="81780" y="108720"/>
                </a:lnTo>
                <a:close/>
              </a:path>
            </a:pathLst>
          </a:custGeom>
          <a:solidFill>
            <a:srgbClr val="EF4444"/>
          </a:solidFill>
          <a:ln>
            <a:noFill/>
          </a:ln>
        </p:spPr>
        <p:txBody>
          <a:bodyPr/>
          <a:lstStyle/>
          <a:p>
            <a:endParaRPr lang="en-US"/>
          </a:p>
        </p:txBody>
      </p:sp>
      <p:sp>
        <p:nvSpPr>
          <p:cNvPr id="9" name="TextBox 9"/>
          <p:cNvSpPr txBox="1"/>
          <p:nvPr/>
        </p:nvSpPr>
        <p:spPr>
          <a:xfrm>
            <a:off x="1264920" y="1631632"/>
            <a:ext cx="1433584" cy="335280"/>
          </a:xfrm>
          <a:prstGeom prst="rect">
            <a:avLst/>
          </a:prstGeom>
          <a:noFill/>
          <a:ln>
            <a:noFill/>
          </a:ln>
        </p:spPr>
        <p:txBody>
          <a:bodyPr wrap="none" lIns="0" tIns="0" rIns="0" bIns="0" anchor="t" anchorCtr="0">
            <a:spAutoFit/>
          </a:bodyPr>
          <a:lstStyle/>
          <a:p>
            <a:pPr algn="l"/>
            <a:r>
              <a:rPr lang="zh-CN" sz="1650" b="1" dirty="0">
                <a:solidFill>
                  <a:srgbClr val="EF4444"/>
                </a:solidFill>
                <a:latin typeface="Arial"/>
                <a:ea typeface="Microsoft YaHei"/>
                <a:cs typeface="Arial"/>
              </a:rPr>
              <a:t>Without Git</a:t>
            </a:r>
          </a:p>
        </p:txBody>
      </p:sp>
      <p:sp>
        <p:nvSpPr>
          <p:cNvPr id="10" name="TextBox 10"/>
          <p:cNvSpPr txBox="1"/>
          <p:nvPr/>
        </p:nvSpPr>
        <p:spPr>
          <a:xfrm>
            <a:off x="840105" y="2140268"/>
            <a:ext cx="3248120" cy="274320"/>
          </a:xfrm>
          <a:prstGeom prst="rect">
            <a:avLst/>
          </a:prstGeom>
          <a:noFill/>
          <a:ln>
            <a:noFill/>
          </a:ln>
        </p:spPr>
        <p:txBody>
          <a:bodyPr wrap="none" lIns="0" tIns="0" rIns="0" bIns="0" anchor="t" anchorCtr="0">
            <a:spAutoFit/>
          </a:bodyPr>
          <a:lstStyle/>
          <a:p>
            <a:pPr algn="l"/>
            <a:r>
              <a:rPr lang="zh-CN" sz="1350" dirty="0">
                <a:solidFill>
                  <a:srgbClr val="1A1A2E"/>
                </a:solidFill>
                <a:latin typeface="Arial"/>
                <a:ea typeface="Microsoft YaHei"/>
                <a:cs typeface="Arial"/>
              </a:rPr>
              <a:t>Final_Report_v3_REAL_FINAL.docx</a:t>
            </a:r>
          </a:p>
        </p:txBody>
      </p:sp>
      <p:sp>
        <p:nvSpPr>
          <p:cNvPr id="11" name="Rectangle 11"/>
          <p:cNvSpPr/>
          <p:nvPr/>
        </p:nvSpPr>
        <p:spPr>
          <a:xfrm>
            <a:off x="857250" y="2428875"/>
            <a:ext cx="4762500" cy="9525"/>
          </a:xfrm>
          <a:prstGeom prst="rect">
            <a:avLst/>
          </a:prstGeom>
          <a:solidFill>
            <a:srgbClr val="FECACA"/>
          </a:solidFill>
          <a:ln>
            <a:noFill/>
          </a:ln>
        </p:spPr>
        <p:txBody>
          <a:bodyPr/>
          <a:lstStyle/>
          <a:p>
            <a:endParaRPr lang="en-US"/>
          </a:p>
        </p:txBody>
      </p:sp>
      <p:sp>
        <p:nvSpPr>
          <p:cNvPr id="12" name="TextBox 12"/>
          <p:cNvSpPr txBox="1"/>
          <p:nvPr/>
        </p:nvSpPr>
        <p:spPr>
          <a:xfrm>
            <a:off x="841058" y="2576989"/>
            <a:ext cx="3989427"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Four copies, nobody knows which is current</a:t>
            </a:r>
          </a:p>
        </p:txBody>
      </p:sp>
      <p:sp>
        <p:nvSpPr>
          <p:cNvPr id="13" name="Rectangle 13"/>
          <p:cNvSpPr/>
          <p:nvPr/>
        </p:nvSpPr>
        <p:spPr>
          <a:xfrm>
            <a:off x="857250" y="2857500"/>
            <a:ext cx="4762500" cy="9525"/>
          </a:xfrm>
          <a:prstGeom prst="rect">
            <a:avLst/>
          </a:prstGeom>
          <a:solidFill>
            <a:srgbClr val="FECACA"/>
          </a:solidFill>
          <a:ln>
            <a:noFill/>
          </a:ln>
        </p:spPr>
        <p:txBody>
          <a:bodyPr/>
          <a:lstStyle/>
          <a:p>
            <a:endParaRPr lang="en-US"/>
          </a:p>
        </p:txBody>
      </p:sp>
      <p:sp>
        <p:nvSpPr>
          <p:cNvPr id="14" name="TextBox 14"/>
          <p:cNvSpPr txBox="1"/>
          <p:nvPr/>
        </p:nvSpPr>
        <p:spPr>
          <a:xfrm>
            <a:off x="841058" y="3005614"/>
            <a:ext cx="3700796"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One person does all editing (bottleneck)</a:t>
            </a:r>
          </a:p>
        </p:txBody>
      </p:sp>
      <p:sp>
        <p:nvSpPr>
          <p:cNvPr id="15" name="Rectangle 15"/>
          <p:cNvSpPr/>
          <p:nvPr/>
        </p:nvSpPr>
        <p:spPr>
          <a:xfrm>
            <a:off x="857250" y="3286125"/>
            <a:ext cx="4762500" cy="9525"/>
          </a:xfrm>
          <a:prstGeom prst="rect">
            <a:avLst/>
          </a:prstGeom>
          <a:solidFill>
            <a:srgbClr val="FECACA"/>
          </a:solidFill>
          <a:ln>
            <a:noFill/>
          </a:ln>
        </p:spPr>
        <p:txBody>
          <a:bodyPr/>
          <a:lstStyle/>
          <a:p>
            <a:endParaRPr lang="en-US"/>
          </a:p>
        </p:txBody>
      </p:sp>
      <p:sp>
        <p:nvSpPr>
          <p:cNvPr id="16" name="TextBox 16"/>
          <p:cNvSpPr txBox="1"/>
          <p:nvPr/>
        </p:nvSpPr>
        <p:spPr>
          <a:xfrm>
            <a:off x="841058" y="3434239"/>
            <a:ext cx="3049048"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Someone overwrites your section</a:t>
            </a:r>
          </a:p>
        </p:txBody>
      </p:sp>
      <p:sp>
        <p:nvSpPr>
          <p:cNvPr id="17" name="Rectangle 17"/>
          <p:cNvSpPr/>
          <p:nvPr/>
        </p:nvSpPr>
        <p:spPr>
          <a:xfrm>
            <a:off x="857250" y="3714750"/>
            <a:ext cx="4762500" cy="9525"/>
          </a:xfrm>
          <a:prstGeom prst="rect">
            <a:avLst/>
          </a:prstGeom>
          <a:solidFill>
            <a:srgbClr val="FECACA"/>
          </a:solidFill>
          <a:ln>
            <a:noFill/>
          </a:ln>
        </p:spPr>
        <p:txBody>
          <a:bodyPr/>
          <a:lstStyle/>
          <a:p>
            <a:endParaRPr lang="en-US"/>
          </a:p>
        </p:txBody>
      </p:sp>
      <p:sp>
        <p:nvSpPr>
          <p:cNvPr id="18" name="TextBox 18"/>
          <p:cNvSpPr txBox="1"/>
          <p:nvPr/>
        </p:nvSpPr>
        <p:spPr>
          <a:xfrm>
            <a:off x="841058" y="3862864"/>
            <a:ext cx="3160776"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Email chains of draft attachments</a:t>
            </a:r>
          </a:p>
        </p:txBody>
      </p:sp>
      <p:sp>
        <p:nvSpPr>
          <p:cNvPr id="19" name="Rectangle 19"/>
          <p:cNvSpPr/>
          <p:nvPr/>
        </p:nvSpPr>
        <p:spPr>
          <a:xfrm>
            <a:off x="857250" y="4143375"/>
            <a:ext cx="4762500" cy="9525"/>
          </a:xfrm>
          <a:prstGeom prst="rect">
            <a:avLst/>
          </a:prstGeom>
          <a:solidFill>
            <a:srgbClr val="FECACA"/>
          </a:solidFill>
          <a:ln>
            <a:noFill/>
          </a:ln>
        </p:spPr>
        <p:txBody>
          <a:bodyPr/>
          <a:lstStyle/>
          <a:p>
            <a:endParaRPr lang="en-US"/>
          </a:p>
        </p:txBody>
      </p:sp>
      <p:sp>
        <p:nvSpPr>
          <p:cNvPr id="20" name="TextBox 20"/>
          <p:cNvSpPr txBox="1"/>
          <p:nvPr/>
        </p:nvSpPr>
        <p:spPr>
          <a:xfrm>
            <a:off x="841058" y="4291489"/>
            <a:ext cx="2806970"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"Just don't touch my section"</a:t>
            </a:r>
          </a:p>
        </p:txBody>
      </p:sp>
      <p:sp>
        <p:nvSpPr>
          <p:cNvPr id="21" name="TextBox 21"/>
          <p:cNvSpPr txBox="1"/>
          <p:nvPr/>
        </p:nvSpPr>
        <p:spPr>
          <a:xfrm>
            <a:off x="2485981" y="4851082"/>
            <a:ext cx="1505038" cy="640080"/>
          </a:xfrm>
          <a:prstGeom prst="rect">
            <a:avLst/>
          </a:prstGeom>
          <a:noFill/>
          <a:ln>
            <a:noFill/>
          </a:ln>
        </p:spPr>
        <p:txBody>
          <a:bodyPr wrap="none" lIns="0" tIns="0" rIns="0" bIns="0" anchor="t" anchorCtr="0">
            <a:spAutoFit/>
          </a:bodyPr>
          <a:lstStyle/>
          <a:p>
            <a:pPr algn="ctr"/>
            <a:r>
              <a:rPr lang="zh-CN" sz="3150" b="1" dirty="0">
                <a:solidFill>
                  <a:srgbClr val="EF4444">
                    <a:alpha val="15000"/>
                  </a:srgbClr>
                </a:solidFill>
                <a:latin typeface="Arial"/>
                <a:ea typeface="Microsoft YaHei"/>
                <a:cs typeface="Arial"/>
              </a:rPr>
              <a:t>CHAOS</a:t>
            </a:r>
          </a:p>
        </p:txBody>
      </p:sp>
      <p:sp>
        <p:nvSpPr>
          <p:cNvPr id="22" name="Rectangle 22"/>
          <p:cNvSpPr/>
          <p:nvPr/>
        </p:nvSpPr>
        <p:spPr>
          <a:xfrm>
            <a:off x="6286500" y="1285875"/>
            <a:ext cx="5334000" cy="4286250"/>
          </a:xfrm>
          <a:prstGeom prst="rect">
            <a:avLst/>
          </a:prstGeom>
          <a:solidFill>
            <a:srgbClr val="F0FDF4"/>
          </a:solidFill>
          <a:ln w="9525">
            <a:solidFill>
              <a:srgbClr val="BBF7D0"/>
            </a:solidFill>
          </a:ln>
          <a:effectLst>
            <a:outerShdw blurRad="228600" dist="57150" dir="10799427" algn="tl" rotWithShape="0">
              <a:srgbClr val="000000">
                <a:alpha val="12000"/>
              </a:srgbClr>
            </a:outerShdw>
          </a:effectLst>
        </p:spPr>
        <p:txBody>
          <a:bodyPr/>
          <a:lstStyle/>
          <a:p>
            <a:endParaRPr lang="en-US"/>
          </a:p>
        </p:txBody>
      </p:sp>
      <p:sp>
        <p:nvSpPr>
          <p:cNvPr id="23" name="Rectangle 23"/>
          <p:cNvSpPr/>
          <p:nvPr/>
        </p:nvSpPr>
        <p:spPr>
          <a:xfrm>
            <a:off x="6286500" y="1285875"/>
            <a:ext cx="5334000" cy="57150"/>
          </a:xfrm>
          <a:prstGeom prst="rect">
            <a:avLst/>
          </a:prstGeom>
          <a:solidFill>
            <a:srgbClr val="10B981"/>
          </a:solidFill>
          <a:ln>
            <a:noFill/>
          </a:ln>
        </p:spPr>
        <p:txBody>
          <a:bodyPr/>
          <a:lstStyle/>
          <a:p>
            <a:endParaRPr lang="en-US"/>
          </a:p>
        </p:txBody>
      </p:sp>
      <p:sp>
        <p:nvSpPr>
          <p:cNvPr id="24" name="Freeform 24"/>
          <p:cNvSpPr/>
          <p:nvPr/>
        </p:nvSpPr>
        <p:spPr>
          <a:xfrm>
            <a:off x="6572250" y="1571625"/>
            <a:ext cx="304800" cy="304800"/>
          </a:xfrm>
          <a:custGeom>
            <a:avLst/>
            <a:gdLst/>
            <a:ahLst/>
            <a:cxnLst/>
            <a:rect l="l" t="t" r="r" b="b"/>
            <a:pathLst>
              <a:path w="304800" h="304800">
                <a:moveTo>
                  <a:pt x="152400" y="304800"/>
                </a:moveTo>
                <a:cubicBezTo>
                  <a:pt x="236569" y="304800"/>
                  <a:pt x="304800" y="236569"/>
                  <a:pt x="304800" y="152400"/>
                </a:cubicBezTo>
                <a:cubicBezTo>
                  <a:pt x="304800" y="68232"/>
                  <a:pt x="236569" y="0"/>
                  <a:pt x="152400" y="0"/>
                </a:cubicBezTo>
                <a:cubicBezTo>
                  <a:pt x="68232" y="0"/>
                  <a:pt x="0" y="68232"/>
                  <a:pt x="0" y="152400"/>
                </a:cubicBezTo>
                <a:cubicBezTo>
                  <a:pt x="0" y="236569"/>
                  <a:pt x="68232" y="304800"/>
                  <a:pt x="152400" y="304800"/>
                </a:cubicBezTo>
                <a:close/>
                <a:moveTo>
                  <a:pt x="242070" y="108720"/>
                </a:moveTo>
                <a:lnTo>
                  <a:pt x="215130" y="81780"/>
                </a:lnTo>
                <a:lnTo>
                  <a:pt x="123825" y="173084"/>
                </a:lnTo>
                <a:lnTo>
                  <a:pt x="89670" y="138930"/>
                </a:lnTo>
                <a:lnTo>
                  <a:pt x="62730" y="165870"/>
                </a:lnTo>
                <a:lnTo>
                  <a:pt x="123825" y="226966"/>
                </a:lnTo>
                <a:lnTo>
                  <a:pt x="242070" y="108720"/>
                </a:lnTo>
                <a:close/>
              </a:path>
            </a:pathLst>
          </a:custGeom>
          <a:solidFill>
            <a:srgbClr val="10B981"/>
          </a:solidFill>
          <a:ln>
            <a:noFill/>
          </a:ln>
        </p:spPr>
        <p:txBody>
          <a:bodyPr/>
          <a:lstStyle/>
          <a:p>
            <a:endParaRPr lang="en-US"/>
          </a:p>
        </p:txBody>
      </p:sp>
      <p:sp>
        <p:nvSpPr>
          <p:cNvPr id="25" name="TextBox 25"/>
          <p:cNvSpPr txBox="1"/>
          <p:nvPr/>
        </p:nvSpPr>
        <p:spPr>
          <a:xfrm>
            <a:off x="6979920" y="1631632"/>
            <a:ext cx="1016082" cy="335280"/>
          </a:xfrm>
          <a:prstGeom prst="rect">
            <a:avLst/>
          </a:prstGeom>
          <a:noFill/>
          <a:ln>
            <a:noFill/>
          </a:ln>
        </p:spPr>
        <p:txBody>
          <a:bodyPr wrap="none" lIns="0" tIns="0" rIns="0" bIns="0" anchor="t" anchorCtr="0">
            <a:spAutoFit/>
          </a:bodyPr>
          <a:lstStyle/>
          <a:p>
            <a:pPr algn="l"/>
            <a:r>
              <a:rPr lang="zh-CN" sz="1650" b="1" dirty="0">
                <a:solidFill>
                  <a:srgbClr val="10B981"/>
                </a:solidFill>
                <a:latin typeface="Arial"/>
                <a:ea typeface="Microsoft YaHei"/>
                <a:cs typeface="Arial"/>
              </a:rPr>
              <a:t>With Git</a:t>
            </a:r>
          </a:p>
        </p:txBody>
      </p:sp>
      <p:sp>
        <p:nvSpPr>
          <p:cNvPr id="26" name="TextBox 26"/>
          <p:cNvSpPr txBox="1"/>
          <p:nvPr/>
        </p:nvSpPr>
        <p:spPr>
          <a:xfrm>
            <a:off x="6555105" y="2140268"/>
            <a:ext cx="4450842" cy="274320"/>
          </a:xfrm>
          <a:prstGeom prst="rect">
            <a:avLst/>
          </a:prstGeom>
          <a:noFill/>
          <a:ln>
            <a:noFill/>
          </a:ln>
        </p:spPr>
        <p:txBody>
          <a:bodyPr wrap="none" lIns="0" tIns="0" rIns="0" bIns="0" anchor="t" anchorCtr="0">
            <a:spAutoFit/>
          </a:bodyPr>
          <a:lstStyle/>
          <a:p>
            <a:pPr algn="l"/>
            <a:r>
              <a:rPr lang="zh-CN" sz="1350" dirty="0">
                <a:solidFill>
                  <a:srgbClr val="1A1A2E"/>
                </a:solidFill>
                <a:latin typeface="Arial"/>
                <a:ea typeface="Microsoft YaHei"/>
                <a:cs typeface="Arial"/>
              </a:rPr>
              <a:t>One repo, one history, every version tracked</a:t>
            </a:r>
          </a:p>
        </p:txBody>
      </p:sp>
      <p:sp>
        <p:nvSpPr>
          <p:cNvPr id="27" name="Rectangle 27"/>
          <p:cNvSpPr/>
          <p:nvPr/>
        </p:nvSpPr>
        <p:spPr>
          <a:xfrm>
            <a:off x="6572250" y="2428875"/>
            <a:ext cx="4762500" cy="9525"/>
          </a:xfrm>
          <a:prstGeom prst="rect">
            <a:avLst/>
          </a:prstGeom>
          <a:solidFill>
            <a:srgbClr val="BBF7D0"/>
          </a:solidFill>
          <a:ln>
            <a:noFill/>
          </a:ln>
        </p:spPr>
        <p:txBody>
          <a:bodyPr/>
          <a:lstStyle/>
          <a:p>
            <a:endParaRPr lang="en-US"/>
          </a:p>
        </p:txBody>
      </p:sp>
      <p:sp>
        <p:nvSpPr>
          <p:cNvPr id="28" name="TextBox 28"/>
          <p:cNvSpPr txBox="1"/>
          <p:nvPr/>
        </p:nvSpPr>
        <p:spPr>
          <a:xfrm>
            <a:off x="6556058" y="2576989"/>
            <a:ext cx="3980117"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Everyone works simultaneously on branches</a:t>
            </a:r>
          </a:p>
        </p:txBody>
      </p:sp>
      <p:sp>
        <p:nvSpPr>
          <p:cNvPr id="29" name="Rectangle 29"/>
          <p:cNvSpPr/>
          <p:nvPr/>
        </p:nvSpPr>
        <p:spPr>
          <a:xfrm>
            <a:off x="6572250" y="2857500"/>
            <a:ext cx="4762500" cy="9525"/>
          </a:xfrm>
          <a:prstGeom prst="rect">
            <a:avLst/>
          </a:prstGeom>
          <a:solidFill>
            <a:srgbClr val="BBF7D0"/>
          </a:solidFill>
          <a:ln>
            <a:noFill/>
          </a:ln>
        </p:spPr>
        <p:txBody>
          <a:bodyPr/>
          <a:lstStyle/>
          <a:p>
            <a:endParaRPr lang="en-US"/>
          </a:p>
        </p:txBody>
      </p:sp>
      <p:sp>
        <p:nvSpPr>
          <p:cNvPr id="30" name="TextBox 30"/>
          <p:cNvSpPr txBox="1"/>
          <p:nvPr/>
        </p:nvSpPr>
        <p:spPr>
          <a:xfrm>
            <a:off x="6556058" y="3005614"/>
            <a:ext cx="3049048"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Changes reviewed before merging</a:t>
            </a:r>
          </a:p>
        </p:txBody>
      </p:sp>
      <p:sp>
        <p:nvSpPr>
          <p:cNvPr id="31" name="Rectangle 31"/>
          <p:cNvSpPr/>
          <p:nvPr/>
        </p:nvSpPr>
        <p:spPr>
          <a:xfrm>
            <a:off x="6572250" y="3286125"/>
            <a:ext cx="4762500" cy="9525"/>
          </a:xfrm>
          <a:prstGeom prst="rect">
            <a:avLst/>
          </a:prstGeom>
          <a:solidFill>
            <a:srgbClr val="BBF7D0"/>
          </a:solidFill>
          <a:ln>
            <a:noFill/>
          </a:ln>
        </p:spPr>
        <p:txBody>
          <a:bodyPr/>
          <a:lstStyle/>
          <a:p>
            <a:endParaRPr lang="en-US"/>
          </a:p>
        </p:txBody>
      </p:sp>
      <p:sp>
        <p:nvSpPr>
          <p:cNvPr id="32" name="TextBox 32"/>
          <p:cNvSpPr txBox="1"/>
          <p:nvPr/>
        </p:nvSpPr>
        <p:spPr>
          <a:xfrm>
            <a:off x="6556058" y="3434239"/>
            <a:ext cx="1801416"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Nothing is ever lost</a:t>
            </a:r>
          </a:p>
        </p:txBody>
      </p:sp>
      <p:sp>
        <p:nvSpPr>
          <p:cNvPr id="33" name="Rectangle 33"/>
          <p:cNvSpPr/>
          <p:nvPr/>
        </p:nvSpPr>
        <p:spPr>
          <a:xfrm>
            <a:off x="6572250" y="3714750"/>
            <a:ext cx="4762500" cy="9525"/>
          </a:xfrm>
          <a:prstGeom prst="rect">
            <a:avLst/>
          </a:prstGeom>
          <a:solidFill>
            <a:srgbClr val="BBF7D0"/>
          </a:solidFill>
          <a:ln>
            <a:noFill/>
          </a:ln>
        </p:spPr>
        <p:txBody>
          <a:bodyPr/>
          <a:lstStyle/>
          <a:p>
            <a:endParaRPr lang="en-US"/>
          </a:p>
        </p:txBody>
      </p:sp>
      <p:sp>
        <p:nvSpPr>
          <p:cNvPr id="34" name="TextBox 34"/>
          <p:cNvSpPr txBox="1"/>
          <p:nvPr/>
        </p:nvSpPr>
        <p:spPr>
          <a:xfrm>
            <a:off x="6556058" y="3862864"/>
            <a:ext cx="3756660"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Every change documented with a message</a:t>
            </a:r>
          </a:p>
        </p:txBody>
      </p:sp>
      <p:sp>
        <p:nvSpPr>
          <p:cNvPr id="35" name="Rectangle 35"/>
          <p:cNvSpPr/>
          <p:nvPr/>
        </p:nvSpPr>
        <p:spPr>
          <a:xfrm>
            <a:off x="6572250" y="4143375"/>
            <a:ext cx="4762500" cy="9525"/>
          </a:xfrm>
          <a:prstGeom prst="rect">
            <a:avLst/>
          </a:prstGeom>
          <a:solidFill>
            <a:srgbClr val="BBF7D0"/>
          </a:solidFill>
          <a:ln>
            <a:noFill/>
          </a:ln>
        </p:spPr>
        <p:txBody>
          <a:bodyPr/>
          <a:lstStyle/>
          <a:p>
            <a:endParaRPr lang="en-US"/>
          </a:p>
        </p:txBody>
      </p:sp>
      <p:sp>
        <p:nvSpPr>
          <p:cNvPr id="36" name="TextBox 36"/>
          <p:cNvSpPr txBox="1"/>
          <p:nvPr/>
        </p:nvSpPr>
        <p:spPr>
          <a:xfrm>
            <a:off x="6556058" y="4291489"/>
            <a:ext cx="3756660" cy="259080"/>
          </a:xfrm>
          <a:prstGeom prst="rect">
            <a:avLst/>
          </a:prstGeom>
          <a:noFill/>
          <a:ln>
            <a:noFill/>
          </a:ln>
        </p:spPr>
        <p:txBody>
          <a:bodyPr wrap="none" lIns="0" tIns="0" rIns="0" bIns="0" anchor="t" anchorCtr="0">
            <a:spAutoFit/>
          </a:bodyPr>
          <a:lstStyle/>
          <a:p>
            <a:pPr algn="l"/>
            <a:r>
              <a:rPr lang="zh-CN" sz="1275" dirty="0">
                <a:solidFill>
                  <a:srgbClr val="64748B"/>
                </a:solidFill>
                <a:latin typeface="Arial"/>
                <a:ea typeface="Microsoft YaHei"/>
                <a:cs typeface="Arial"/>
              </a:rPr>
              <a:t>See exactly what your teammate changed</a:t>
            </a:r>
          </a:p>
        </p:txBody>
      </p:sp>
      <p:sp>
        <p:nvSpPr>
          <p:cNvPr id="37" name="TextBox 37"/>
          <p:cNvSpPr txBox="1"/>
          <p:nvPr/>
        </p:nvSpPr>
        <p:spPr>
          <a:xfrm>
            <a:off x="7886992" y="4851082"/>
            <a:ext cx="2133017" cy="640080"/>
          </a:xfrm>
          <a:prstGeom prst="rect">
            <a:avLst/>
          </a:prstGeom>
          <a:noFill/>
          <a:ln>
            <a:noFill/>
          </a:ln>
        </p:spPr>
        <p:txBody>
          <a:bodyPr wrap="none" lIns="0" tIns="0" rIns="0" bIns="0" anchor="t" anchorCtr="0">
            <a:spAutoFit/>
          </a:bodyPr>
          <a:lstStyle/>
          <a:p>
            <a:pPr algn="ctr"/>
            <a:r>
              <a:rPr lang="zh-CN" sz="3150" b="1" dirty="0">
                <a:solidFill>
                  <a:srgbClr val="10B981">
                    <a:alpha val="15000"/>
                  </a:srgbClr>
                </a:solidFill>
                <a:latin typeface="Arial"/>
                <a:ea typeface="Microsoft YaHei"/>
                <a:cs typeface="Arial"/>
              </a:rPr>
              <a:t>CONTROL</a:t>
            </a:r>
          </a:p>
        </p:txBody>
      </p:sp>
      <p:sp>
        <p:nvSpPr>
          <p:cNvPr id="38" name="TextBox 38"/>
          <p:cNvSpPr txBox="1"/>
          <p:nvPr/>
        </p:nvSpPr>
        <p:spPr>
          <a:xfrm>
            <a:off x="3140993" y="5823585"/>
            <a:ext cx="5910015" cy="243840"/>
          </a:xfrm>
          <a:prstGeom prst="rect">
            <a:avLst/>
          </a:prstGeom>
          <a:noFill/>
          <a:ln>
            <a:noFill/>
          </a:ln>
        </p:spPr>
        <p:txBody>
          <a:bodyPr wrap="none" lIns="0" tIns="0" rIns="0" bIns="0" anchor="t" anchorCtr="0">
            <a:spAutoFit/>
          </a:bodyPr>
          <a:lstStyle/>
          <a:p>
            <a:pPr algn="ctr"/>
            <a:r>
              <a:rPr lang="zh-CN" sz="1200" b="1" dirty="0">
                <a:solidFill>
                  <a:srgbClr val="D97757"/>
                </a:solidFill>
                <a:latin typeface="Arial"/>
                <a:ea typeface="Microsoft YaHei"/>
                <a:cs typeface="Arial"/>
              </a:rPr>
              <a:t>3-4 people editing the same P3 project? You need version control.</a:t>
            </a:r>
          </a:p>
        </p:txBody>
      </p:sp>
      <p:sp>
        <p:nvSpPr>
          <p:cNvPr id="39" name="TextBox 39"/>
          <p:cNvSpPr txBox="1"/>
          <p:nvPr/>
        </p:nvSpPr>
        <p:spPr>
          <a:xfrm>
            <a:off x="5887141" y="6411278"/>
            <a:ext cx="417719"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6 / 15</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sp>
        <p:nvSpPr>
          <p:cNvPr id="3" name="Rectangle 3"/>
          <p:cNvSpPr/>
          <p:nvPr/>
        </p:nvSpPr>
        <p:spPr>
          <a:xfrm>
            <a:off x="0" y="0"/>
            <a:ext cx="12192000" cy="57150"/>
          </a:xfrm>
          <a:prstGeom prst="rect">
            <a:avLst/>
          </a:prstGeom>
          <a:solidFill>
            <a:srgbClr val="D97757"/>
          </a:solidFill>
          <a:ln>
            <a:noFill/>
          </a:ln>
        </p:spPr>
        <p:txBody>
          <a:bodyPr/>
          <a:lstStyle/>
          <a:p>
            <a:endParaRPr lang="en-US"/>
          </a:p>
        </p:txBody>
      </p:sp>
      <p:sp>
        <p:nvSpPr>
          <p:cNvPr id="4" name="TextBox 4"/>
          <p:cNvSpPr txBox="1"/>
          <p:nvPr/>
        </p:nvSpPr>
        <p:spPr>
          <a:xfrm>
            <a:off x="558165" y="410528"/>
            <a:ext cx="824103" cy="213360"/>
          </a:xfrm>
          <a:prstGeom prst="rect">
            <a:avLst/>
          </a:prstGeom>
          <a:noFill/>
          <a:ln>
            <a:noFill/>
          </a:ln>
        </p:spPr>
        <p:txBody>
          <a:bodyPr wrap="none" lIns="0" tIns="0" rIns="0" bIns="0" anchor="t" anchorCtr="0">
            <a:spAutoFit/>
          </a:bodyPr>
          <a:lstStyle/>
          <a:p>
            <a:pPr algn="l"/>
            <a:r>
              <a:rPr lang="zh-CN" sz="1050" dirty="0">
                <a:solidFill>
                  <a:srgbClr val="D97757"/>
                </a:solidFill>
                <a:latin typeface="Arial"/>
                <a:ea typeface="Microsoft YaHei"/>
                <a:cs typeface="Arial"/>
              </a:rPr>
              <a:t>WORKFLOW</a:t>
            </a:r>
          </a:p>
        </p:txBody>
      </p:sp>
      <p:sp>
        <p:nvSpPr>
          <p:cNvPr id="5" name="TextBox 5"/>
          <p:cNvSpPr txBox="1"/>
          <p:nvPr/>
        </p:nvSpPr>
        <p:spPr>
          <a:xfrm>
            <a:off x="541020" y="693420"/>
            <a:ext cx="6520167" cy="487680"/>
          </a:xfrm>
          <a:prstGeom prst="rect">
            <a:avLst/>
          </a:prstGeom>
          <a:noFill/>
          <a:ln>
            <a:noFill/>
          </a:ln>
        </p:spPr>
        <p:txBody>
          <a:bodyPr wrap="none" lIns="0" tIns="0" rIns="0" bIns="0" anchor="t" anchorCtr="0">
            <a:spAutoFit/>
          </a:bodyPr>
          <a:lstStyle/>
          <a:p>
            <a:pPr algn="l"/>
            <a:r>
              <a:rPr lang="zh-CN" sz="2400" b="1" dirty="0">
                <a:solidFill>
                  <a:srgbClr val="1A1A2E"/>
                </a:solidFill>
                <a:latin typeface="Arial"/>
                <a:ea typeface="Microsoft YaHei"/>
                <a:cs typeface="Arial"/>
              </a:rPr>
              <a:t>One Manager, Multiple Contributors</a:t>
            </a:r>
          </a:p>
        </p:txBody>
      </p:sp>
      <p:sp>
        <p:nvSpPr>
          <p:cNvPr id="6" name="Rectangle 6"/>
          <p:cNvSpPr/>
          <p:nvPr/>
        </p:nvSpPr>
        <p:spPr>
          <a:xfrm>
            <a:off x="571500" y="1333500"/>
            <a:ext cx="11049000" cy="123825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7" name="Rectangle 7"/>
          <p:cNvSpPr/>
          <p:nvPr/>
        </p:nvSpPr>
        <p:spPr>
          <a:xfrm>
            <a:off x="571500" y="1333500"/>
            <a:ext cx="11049000" cy="57150"/>
          </a:xfrm>
          <a:prstGeom prst="rect">
            <a:avLst/>
          </a:prstGeom>
          <a:solidFill>
            <a:srgbClr val="D97757"/>
          </a:solidFill>
          <a:ln>
            <a:noFill/>
          </a:ln>
        </p:spPr>
        <p:txBody>
          <a:bodyPr/>
          <a:lstStyle/>
          <a:p>
            <a:endParaRPr lang="en-US"/>
          </a:p>
        </p:txBody>
      </p:sp>
      <p:sp>
        <p:nvSpPr>
          <p:cNvPr id="8" name="Ellipse 8"/>
          <p:cNvSpPr/>
          <p:nvPr/>
        </p:nvSpPr>
        <p:spPr>
          <a:xfrm>
            <a:off x="904875" y="1666875"/>
            <a:ext cx="666750" cy="666750"/>
          </a:xfrm>
          <a:prstGeom prst="ellipse">
            <a:avLst/>
          </a:prstGeom>
          <a:solidFill>
            <a:srgbClr val="D97757">
              <a:alpha val="10000"/>
            </a:srgbClr>
          </a:solidFill>
          <a:ln>
            <a:noFill/>
          </a:ln>
        </p:spPr>
        <p:txBody>
          <a:bodyPr/>
          <a:lstStyle/>
          <a:p>
            <a:endParaRPr lang="en-US"/>
          </a:p>
        </p:txBody>
      </p:sp>
      <p:sp>
        <p:nvSpPr>
          <p:cNvPr id="9" name="Freeform 9"/>
          <p:cNvSpPr/>
          <p:nvPr/>
        </p:nvSpPr>
        <p:spPr>
          <a:xfrm>
            <a:off x="1071562" y="1809750"/>
            <a:ext cx="333375" cy="381000"/>
          </a:xfrm>
          <a:custGeom>
            <a:avLst/>
            <a:gdLst/>
            <a:ahLst/>
            <a:cxnLst/>
            <a:rect l="l" t="t" r="r" b="b"/>
            <a:pathLst>
              <a:path w="333375" h="381000">
                <a:moveTo>
                  <a:pt x="166688" y="381000"/>
                </a:moveTo>
                <a:lnTo>
                  <a:pt x="79774" y="318918"/>
                </a:lnTo>
                <a:cubicBezTo>
                  <a:pt x="29712" y="283159"/>
                  <a:pt x="0" y="225425"/>
                  <a:pt x="0" y="163903"/>
                </a:cubicBezTo>
                <a:lnTo>
                  <a:pt x="0" y="71438"/>
                </a:lnTo>
                <a:lnTo>
                  <a:pt x="166688" y="0"/>
                </a:lnTo>
                <a:lnTo>
                  <a:pt x="333375" y="71438"/>
                </a:lnTo>
                <a:lnTo>
                  <a:pt x="333375" y="163903"/>
                </a:lnTo>
                <a:cubicBezTo>
                  <a:pt x="333375" y="225425"/>
                  <a:pt x="303664" y="283159"/>
                  <a:pt x="253601" y="318918"/>
                </a:cubicBezTo>
                <a:lnTo>
                  <a:pt x="166688" y="381000"/>
                </a:lnTo>
                <a:close/>
                <a:moveTo>
                  <a:pt x="266869" y="135901"/>
                </a:moveTo>
                <a:lnTo>
                  <a:pt x="233193" y="102224"/>
                </a:lnTo>
                <a:lnTo>
                  <a:pt x="142875" y="192543"/>
                </a:lnTo>
                <a:lnTo>
                  <a:pt x="100182" y="149849"/>
                </a:lnTo>
                <a:lnTo>
                  <a:pt x="66506" y="183526"/>
                </a:lnTo>
                <a:lnTo>
                  <a:pt x="142875" y="259894"/>
                </a:lnTo>
                <a:lnTo>
                  <a:pt x="266869" y="135901"/>
                </a:lnTo>
                <a:close/>
              </a:path>
            </a:pathLst>
          </a:custGeom>
          <a:solidFill>
            <a:srgbClr val="D97757"/>
          </a:solidFill>
          <a:ln>
            <a:noFill/>
          </a:ln>
        </p:spPr>
        <p:txBody>
          <a:bodyPr/>
          <a:lstStyle/>
          <a:p>
            <a:endParaRPr lang="en-US"/>
          </a:p>
        </p:txBody>
      </p:sp>
      <p:sp>
        <p:nvSpPr>
          <p:cNvPr id="10" name="TextBox 10"/>
          <p:cNvSpPr txBox="1"/>
          <p:nvPr/>
        </p:nvSpPr>
        <p:spPr>
          <a:xfrm>
            <a:off x="1739265" y="1663065"/>
            <a:ext cx="1163660" cy="365760"/>
          </a:xfrm>
          <a:prstGeom prst="rect">
            <a:avLst/>
          </a:prstGeom>
          <a:noFill/>
          <a:ln>
            <a:noFill/>
          </a:ln>
        </p:spPr>
        <p:txBody>
          <a:bodyPr wrap="none" lIns="0" tIns="0" rIns="0" bIns="0" anchor="t" anchorCtr="0">
            <a:spAutoFit/>
          </a:bodyPr>
          <a:lstStyle/>
          <a:p>
            <a:pPr algn="l"/>
            <a:r>
              <a:rPr lang="zh-CN" sz="1800" b="1" dirty="0">
                <a:solidFill>
                  <a:srgbClr val="D97757"/>
                </a:solidFill>
                <a:latin typeface="Arial"/>
                <a:ea typeface="Microsoft YaHei"/>
                <a:cs typeface="Arial"/>
              </a:rPr>
              <a:t>Manager</a:t>
            </a:r>
          </a:p>
        </p:txBody>
      </p:sp>
      <p:sp>
        <p:nvSpPr>
          <p:cNvPr id="11" name="TextBox 11"/>
          <p:cNvSpPr txBox="1"/>
          <p:nvPr/>
        </p:nvSpPr>
        <p:spPr>
          <a:xfrm>
            <a:off x="3316605" y="1711642"/>
            <a:ext cx="1296162" cy="274320"/>
          </a:xfrm>
          <a:prstGeom prst="rect">
            <a:avLst/>
          </a:prstGeom>
          <a:noFill/>
          <a:ln>
            <a:noFill/>
          </a:ln>
        </p:spPr>
        <p:txBody>
          <a:bodyPr wrap="none" lIns="0" tIns="0" rIns="0" bIns="0" anchor="t" anchorCtr="0">
            <a:spAutoFit/>
          </a:bodyPr>
          <a:lstStyle/>
          <a:p>
            <a:pPr algn="l"/>
            <a:r>
              <a:rPr lang="zh-CN" sz="1350" dirty="0">
                <a:solidFill>
                  <a:srgbClr val="64748B"/>
                </a:solidFill>
                <a:latin typeface="Arial"/>
                <a:ea typeface="Microsoft YaHei"/>
                <a:cs typeface="Arial"/>
              </a:rPr>
              <a:t>(1 per group)</a:t>
            </a:r>
          </a:p>
        </p:txBody>
      </p:sp>
      <p:sp>
        <p:nvSpPr>
          <p:cNvPr id="12" name="TextBox 12"/>
          <p:cNvSpPr txBox="1"/>
          <p:nvPr/>
        </p:nvSpPr>
        <p:spPr>
          <a:xfrm>
            <a:off x="1745932" y="2034064"/>
            <a:ext cx="7285411"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Owns the main branch. Reviews pull requests. Merges approved work into main.</a:t>
            </a:r>
          </a:p>
        </p:txBody>
      </p:sp>
      <p:sp>
        <p:nvSpPr>
          <p:cNvPr id="13" name="TextBox 13"/>
          <p:cNvSpPr txBox="1"/>
          <p:nvPr/>
        </p:nvSpPr>
        <p:spPr>
          <a:xfrm>
            <a:off x="1747838" y="2278856"/>
            <a:ext cx="5269944" cy="228600"/>
          </a:xfrm>
          <a:prstGeom prst="rect">
            <a:avLst/>
          </a:prstGeom>
          <a:noFill/>
          <a:ln>
            <a:noFill/>
          </a:ln>
        </p:spPr>
        <p:txBody>
          <a:bodyPr wrap="none" lIns="0" tIns="0" rIns="0" bIns="0" anchor="t" anchorCtr="0">
            <a:spAutoFit/>
          </a:bodyPr>
          <a:lstStyle/>
          <a:p>
            <a:pPr algn="l"/>
            <a:r>
              <a:rPr lang="zh-CN" sz="1125" dirty="0">
                <a:solidFill>
                  <a:srgbClr val="64748B"/>
                </a:solidFill>
                <a:latin typeface="Arial"/>
                <a:ea typeface="Microsoft YaHei"/>
                <a:cs typeface="Arial"/>
              </a:rPr>
              <a:t>The gatekeeper who protects the official version of the project.</a:t>
            </a:r>
          </a:p>
        </p:txBody>
      </p:sp>
      <p:sp>
        <p:nvSpPr>
          <p:cNvPr id="14" name="Rectangle 14"/>
          <p:cNvSpPr/>
          <p:nvPr/>
        </p:nvSpPr>
        <p:spPr>
          <a:xfrm>
            <a:off x="571500" y="2762250"/>
            <a:ext cx="11049000" cy="123825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15" name="Rectangle 15"/>
          <p:cNvSpPr/>
          <p:nvPr/>
        </p:nvSpPr>
        <p:spPr>
          <a:xfrm>
            <a:off x="571500" y="2762250"/>
            <a:ext cx="11049000" cy="57150"/>
          </a:xfrm>
          <a:prstGeom prst="rect">
            <a:avLst/>
          </a:prstGeom>
          <a:solidFill>
            <a:srgbClr val="4A90D9"/>
          </a:solidFill>
          <a:ln>
            <a:noFill/>
          </a:ln>
        </p:spPr>
        <p:txBody>
          <a:bodyPr/>
          <a:lstStyle/>
          <a:p>
            <a:endParaRPr lang="en-US"/>
          </a:p>
        </p:txBody>
      </p:sp>
      <p:sp>
        <p:nvSpPr>
          <p:cNvPr id="16" name="Ellipse 16"/>
          <p:cNvSpPr/>
          <p:nvPr/>
        </p:nvSpPr>
        <p:spPr>
          <a:xfrm>
            <a:off x="904875" y="3095625"/>
            <a:ext cx="666750" cy="666750"/>
          </a:xfrm>
          <a:prstGeom prst="ellipse">
            <a:avLst/>
          </a:prstGeom>
          <a:solidFill>
            <a:srgbClr val="4A90D9">
              <a:alpha val="10000"/>
            </a:srgbClr>
          </a:solidFill>
          <a:ln>
            <a:noFill/>
          </a:ln>
        </p:spPr>
        <p:txBody>
          <a:bodyPr/>
          <a:lstStyle/>
          <a:p>
            <a:endParaRPr lang="en-US"/>
          </a:p>
        </p:txBody>
      </p:sp>
      <p:grpSp>
        <p:nvGrpSpPr>
          <p:cNvPr id="29" name="Group 29"/>
          <p:cNvGrpSpPr/>
          <p:nvPr/>
        </p:nvGrpSpPr>
        <p:grpSpPr>
          <a:xfrm>
            <a:off x="1071562" y="3262312"/>
            <a:ext cx="333375" cy="333375"/>
            <a:chOff x="1071562" y="3262312"/>
            <a:chExt cx="333375" cy="333375"/>
          </a:xfrm>
        </p:grpSpPr>
        <p:sp>
          <p:nvSpPr>
            <p:cNvPr id="17" name="Freeform 17"/>
            <p:cNvSpPr/>
            <p:nvPr/>
          </p:nvSpPr>
          <p:spPr>
            <a:xfrm>
              <a:off x="1071562" y="3262312"/>
              <a:ext cx="47625" cy="47625"/>
            </a:xfrm>
            <a:custGeom>
              <a:avLst/>
              <a:gdLst/>
              <a:ahLst/>
              <a:cxnLst/>
              <a:rect l="l" t="t" r="r" b="b"/>
              <a:pathLst>
                <a:path w="47625" h="47625">
                  <a:moveTo>
                    <a:pt x="47625" y="0"/>
                  </a:moveTo>
                  <a:lnTo>
                    <a:pt x="0" y="0"/>
                  </a:lnTo>
                  <a:lnTo>
                    <a:pt x="0" y="47625"/>
                  </a:lnTo>
                  <a:lnTo>
                    <a:pt x="47625" y="47625"/>
                  </a:lnTo>
                  <a:lnTo>
                    <a:pt x="47625" y="0"/>
                  </a:lnTo>
                  <a:close/>
                </a:path>
              </a:pathLst>
            </a:custGeom>
            <a:solidFill>
              <a:srgbClr val="4A90D9"/>
            </a:solidFill>
            <a:ln>
              <a:noFill/>
            </a:ln>
          </p:spPr>
          <p:txBody>
            <a:bodyPr/>
            <a:lstStyle/>
            <a:p>
              <a:endParaRPr lang="en-US"/>
            </a:p>
          </p:txBody>
        </p:sp>
        <p:sp>
          <p:nvSpPr>
            <p:cNvPr id="18" name="Freeform 18"/>
            <p:cNvSpPr/>
            <p:nvPr/>
          </p:nvSpPr>
          <p:spPr>
            <a:xfrm>
              <a:off x="1071562" y="3548062"/>
              <a:ext cx="47625" cy="47625"/>
            </a:xfrm>
            <a:custGeom>
              <a:avLst/>
              <a:gdLst/>
              <a:ahLst/>
              <a:cxnLst/>
              <a:rect l="l" t="t" r="r" b="b"/>
              <a:pathLst>
                <a:path w="47625" h="47625">
                  <a:moveTo>
                    <a:pt x="47625" y="0"/>
                  </a:moveTo>
                  <a:lnTo>
                    <a:pt x="0" y="0"/>
                  </a:lnTo>
                  <a:lnTo>
                    <a:pt x="0" y="47625"/>
                  </a:lnTo>
                  <a:lnTo>
                    <a:pt x="47625" y="47625"/>
                  </a:lnTo>
                  <a:lnTo>
                    <a:pt x="47625" y="0"/>
                  </a:lnTo>
                  <a:close/>
                </a:path>
              </a:pathLst>
            </a:custGeom>
            <a:solidFill>
              <a:srgbClr val="4A90D9"/>
            </a:solidFill>
            <a:ln>
              <a:noFill/>
            </a:ln>
          </p:spPr>
          <p:txBody>
            <a:bodyPr/>
            <a:lstStyle/>
            <a:p>
              <a:endParaRPr lang="en-US"/>
            </a:p>
          </p:txBody>
        </p:sp>
        <p:sp>
          <p:nvSpPr>
            <p:cNvPr id="19" name="Freeform 19"/>
            <p:cNvSpPr/>
            <p:nvPr/>
          </p:nvSpPr>
          <p:spPr>
            <a:xfrm>
              <a:off x="1071562" y="3452812"/>
              <a:ext cx="47625" cy="47625"/>
            </a:xfrm>
            <a:custGeom>
              <a:avLst/>
              <a:gdLst/>
              <a:ahLst/>
              <a:cxnLst/>
              <a:rect l="l" t="t" r="r" b="b"/>
              <a:pathLst>
                <a:path w="47625" h="47625">
                  <a:moveTo>
                    <a:pt x="0" y="0"/>
                  </a:moveTo>
                  <a:lnTo>
                    <a:pt x="47625" y="0"/>
                  </a:lnTo>
                  <a:lnTo>
                    <a:pt x="47625" y="47625"/>
                  </a:lnTo>
                  <a:lnTo>
                    <a:pt x="0" y="47625"/>
                  </a:lnTo>
                  <a:lnTo>
                    <a:pt x="0" y="0"/>
                  </a:lnTo>
                  <a:close/>
                </a:path>
              </a:pathLst>
            </a:custGeom>
            <a:solidFill>
              <a:srgbClr val="4A90D9"/>
            </a:solidFill>
            <a:ln>
              <a:noFill/>
            </a:ln>
          </p:spPr>
          <p:txBody>
            <a:bodyPr/>
            <a:lstStyle/>
            <a:p>
              <a:endParaRPr lang="en-US"/>
            </a:p>
          </p:txBody>
        </p:sp>
        <p:sp>
          <p:nvSpPr>
            <p:cNvPr id="20" name="Freeform 20"/>
            <p:cNvSpPr/>
            <p:nvPr/>
          </p:nvSpPr>
          <p:spPr>
            <a:xfrm>
              <a:off x="1071562" y="3357562"/>
              <a:ext cx="47625" cy="47625"/>
            </a:xfrm>
            <a:custGeom>
              <a:avLst/>
              <a:gdLst/>
              <a:ahLst/>
              <a:cxnLst/>
              <a:rect l="l" t="t" r="r" b="b"/>
              <a:pathLst>
                <a:path w="47625" h="47625">
                  <a:moveTo>
                    <a:pt x="47625" y="0"/>
                  </a:moveTo>
                  <a:lnTo>
                    <a:pt x="0" y="0"/>
                  </a:lnTo>
                  <a:lnTo>
                    <a:pt x="0" y="47625"/>
                  </a:lnTo>
                  <a:lnTo>
                    <a:pt x="47625" y="47625"/>
                  </a:lnTo>
                  <a:lnTo>
                    <a:pt x="47625" y="0"/>
                  </a:lnTo>
                  <a:close/>
                </a:path>
              </a:pathLst>
            </a:custGeom>
            <a:solidFill>
              <a:srgbClr val="4A90D9"/>
            </a:solidFill>
            <a:ln>
              <a:noFill/>
            </a:ln>
          </p:spPr>
          <p:txBody>
            <a:bodyPr/>
            <a:lstStyle/>
            <a:p>
              <a:endParaRPr lang="en-US"/>
            </a:p>
          </p:txBody>
        </p:sp>
        <p:sp>
          <p:nvSpPr>
            <p:cNvPr id="21" name="Freeform 21"/>
            <p:cNvSpPr/>
            <p:nvPr/>
          </p:nvSpPr>
          <p:spPr>
            <a:xfrm>
              <a:off x="1166812" y="3262312"/>
              <a:ext cx="47625" cy="47625"/>
            </a:xfrm>
            <a:custGeom>
              <a:avLst/>
              <a:gdLst/>
              <a:ahLst/>
              <a:cxnLst/>
              <a:rect l="l" t="t" r="r" b="b"/>
              <a:pathLst>
                <a:path w="47625" h="47625">
                  <a:moveTo>
                    <a:pt x="0" y="0"/>
                  </a:moveTo>
                  <a:lnTo>
                    <a:pt x="47625" y="0"/>
                  </a:lnTo>
                  <a:lnTo>
                    <a:pt x="47625" y="47625"/>
                  </a:lnTo>
                  <a:lnTo>
                    <a:pt x="0" y="47625"/>
                  </a:lnTo>
                  <a:lnTo>
                    <a:pt x="0" y="0"/>
                  </a:lnTo>
                  <a:close/>
                </a:path>
              </a:pathLst>
            </a:custGeom>
            <a:solidFill>
              <a:srgbClr val="4A90D9"/>
            </a:solidFill>
            <a:ln>
              <a:noFill/>
            </a:ln>
          </p:spPr>
          <p:txBody>
            <a:bodyPr/>
            <a:lstStyle/>
            <a:p>
              <a:endParaRPr lang="en-US"/>
            </a:p>
          </p:txBody>
        </p:sp>
        <p:sp>
          <p:nvSpPr>
            <p:cNvPr id="22" name="Freeform 22"/>
            <p:cNvSpPr/>
            <p:nvPr/>
          </p:nvSpPr>
          <p:spPr>
            <a:xfrm>
              <a:off x="1166812" y="3548062"/>
              <a:ext cx="47625" cy="47625"/>
            </a:xfrm>
            <a:custGeom>
              <a:avLst/>
              <a:gdLst/>
              <a:ahLst/>
              <a:cxnLst/>
              <a:rect l="l" t="t" r="r" b="b"/>
              <a:pathLst>
                <a:path w="47625" h="47625">
                  <a:moveTo>
                    <a:pt x="47625" y="0"/>
                  </a:moveTo>
                  <a:lnTo>
                    <a:pt x="0" y="0"/>
                  </a:lnTo>
                  <a:lnTo>
                    <a:pt x="0" y="47625"/>
                  </a:lnTo>
                  <a:lnTo>
                    <a:pt x="47625" y="47625"/>
                  </a:lnTo>
                  <a:lnTo>
                    <a:pt x="47625" y="0"/>
                  </a:lnTo>
                  <a:close/>
                </a:path>
              </a:pathLst>
            </a:custGeom>
            <a:solidFill>
              <a:srgbClr val="4A90D9"/>
            </a:solidFill>
            <a:ln>
              <a:noFill/>
            </a:ln>
          </p:spPr>
          <p:txBody>
            <a:bodyPr/>
            <a:lstStyle/>
            <a:p>
              <a:endParaRPr lang="en-US"/>
            </a:p>
          </p:txBody>
        </p:sp>
        <p:sp>
          <p:nvSpPr>
            <p:cNvPr id="23" name="Freeform 23"/>
            <p:cNvSpPr/>
            <p:nvPr/>
          </p:nvSpPr>
          <p:spPr>
            <a:xfrm>
              <a:off x="1262062" y="3262312"/>
              <a:ext cx="47625" cy="47625"/>
            </a:xfrm>
            <a:custGeom>
              <a:avLst/>
              <a:gdLst/>
              <a:ahLst/>
              <a:cxnLst/>
              <a:rect l="l" t="t" r="r" b="b"/>
              <a:pathLst>
                <a:path w="47625" h="47625">
                  <a:moveTo>
                    <a:pt x="0" y="0"/>
                  </a:moveTo>
                  <a:lnTo>
                    <a:pt x="47625" y="0"/>
                  </a:lnTo>
                  <a:lnTo>
                    <a:pt x="47625" y="47625"/>
                  </a:lnTo>
                  <a:lnTo>
                    <a:pt x="0" y="47625"/>
                  </a:lnTo>
                  <a:lnTo>
                    <a:pt x="0" y="0"/>
                  </a:lnTo>
                  <a:close/>
                </a:path>
              </a:pathLst>
            </a:custGeom>
            <a:solidFill>
              <a:srgbClr val="4A90D9"/>
            </a:solidFill>
            <a:ln>
              <a:noFill/>
            </a:ln>
          </p:spPr>
          <p:txBody>
            <a:bodyPr/>
            <a:lstStyle/>
            <a:p>
              <a:endParaRPr lang="en-US"/>
            </a:p>
          </p:txBody>
        </p:sp>
        <p:sp>
          <p:nvSpPr>
            <p:cNvPr id="24" name="Freeform 24"/>
            <p:cNvSpPr/>
            <p:nvPr/>
          </p:nvSpPr>
          <p:spPr>
            <a:xfrm>
              <a:off x="1262062" y="3548062"/>
              <a:ext cx="47625" cy="47625"/>
            </a:xfrm>
            <a:custGeom>
              <a:avLst/>
              <a:gdLst/>
              <a:ahLst/>
              <a:cxnLst/>
              <a:rect l="l" t="t" r="r" b="b"/>
              <a:pathLst>
                <a:path w="47625" h="47625">
                  <a:moveTo>
                    <a:pt x="47625" y="0"/>
                  </a:moveTo>
                  <a:lnTo>
                    <a:pt x="0" y="0"/>
                  </a:lnTo>
                  <a:lnTo>
                    <a:pt x="0" y="47625"/>
                  </a:lnTo>
                  <a:lnTo>
                    <a:pt x="47625" y="47625"/>
                  </a:lnTo>
                  <a:lnTo>
                    <a:pt x="47625" y="0"/>
                  </a:lnTo>
                  <a:close/>
                </a:path>
              </a:pathLst>
            </a:custGeom>
            <a:solidFill>
              <a:srgbClr val="4A90D9"/>
            </a:solidFill>
            <a:ln>
              <a:noFill/>
            </a:ln>
          </p:spPr>
          <p:txBody>
            <a:bodyPr/>
            <a:lstStyle/>
            <a:p>
              <a:endParaRPr lang="en-US"/>
            </a:p>
          </p:txBody>
        </p:sp>
        <p:sp>
          <p:nvSpPr>
            <p:cNvPr id="25" name="Freeform 25"/>
            <p:cNvSpPr/>
            <p:nvPr/>
          </p:nvSpPr>
          <p:spPr>
            <a:xfrm>
              <a:off x="1357312" y="3262312"/>
              <a:ext cx="47625" cy="47625"/>
            </a:xfrm>
            <a:custGeom>
              <a:avLst/>
              <a:gdLst/>
              <a:ahLst/>
              <a:cxnLst/>
              <a:rect l="l" t="t" r="r" b="b"/>
              <a:pathLst>
                <a:path w="47625" h="47625">
                  <a:moveTo>
                    <a:pt x="0" y="0"/>
                  </a:moveTo>
                  <a:lnTo>
                    <a:pt x="47625" y="0"/>
                  </a:lnTo>
                  <a:lnTo>
                    <a:pt x="47625" y="47625"/>
                  </a:lnTo>
                  <a:lnTo>
                    <a:pt x="0" y="47625"/>
                  </a:lnTo>
                  <a:lnTo>
                    <a:pt x="0" y="0"/>
                  </a:lnTo>
                  <a:close/>
                </a:path>
              </a:pathLst>
            </a:custGeom>
            <a:solidFill>
              <a:srgbClr val="4A90D9"/>
            </a:solidFill>
            <a:ln>
              <a:noFill/>
            </a:ln>
          </p:spPr>
          <p:txBody>
            <a:bodyPr/>
            <a:lstStyle/>
            <a:p>
              <a:endParaRPr lang="en-US"/>
            </a:p>
          </p:txBody>
        </p:sp>
        <p:sp>
          <p:nvSpPr>
            <p:cNvPr id="26" name="Freeform 26"/>
            <p:cNvSpPr/>
            <p:nvPr/>
          </p:nvSpPr>
          <p:spPr>
            <a:xfrm>
              <a:off x="1357312" y="3548062"/>
              <a:ext cx="47625" cy="47625"/>
            </a:xfrm>
            <a:custGeom>
              <a:avLst/>
              <a:gdLst/>
              <a:ahLst/>
              <a:cxnLst/>
              <a:rect l="l" t="t" r="r" b="b"/>
              <a:pathLst>
                <a:path w="47625" h="47625">
                  <a:moveTo>
                    <a:pt x="47625" y="0"/>
                  </a:moveTo>
                  <a:lnTo>
                    <a:pt x="0" y="0"/>
                  </a:lnTo>
                  <a:lnTo>
                    <a:pt x="0" y="47625"/>
                  </a:lnTo>
                  <a:lnTo>
                    <a:pt x="47625" y="47625"/>
                  </a:lnTo>
                  <a:lnTo>
                    <a:pt x="47625" y="0"/>
                  </a:lnTo>
                  <a:close/>
                </a:path>
              </a:pathLst>
            </a:custGeom>
            <a:solidFill>
              <a:srgbClr val="4A90D9"/>
            </a:solidFill>
            <a:ln>
              <a:noFill/>
            </a:ln>
          </p:spPr>
          <p:txBody>
            <a:bodyPr/>
            <a:lstStyle/>
            <a:p>
              <a:endParaRPr lang="en-US"/>
            </a:p>
          </p:txBody>
        </p:sp>
        <p:sp>
          <p:nvSpPr>
            <p:cNvPr id="27" name="Freeform 27"/>
            <p:cNvSpPr/>
            <p:nvPr/>
          </p:nvSpPr>
          <p:spPr>
            <a:xfrm>
              <a:off x="1357312" y="3452812"/>
              <a:ext cx="47625" cy="47625"/>
            </a:xfrm>
            <a:custGeom>
              <a:avLst/>
              <a:gdLst/>
              <a:ahLst/>
              <a:cxnLst/>
              <a:rect l="l" t="t" r="r" b="b"/>
              <a:pathLst>
                <a:path w="47625" h="47625">
                  <a:moveTo>
                    <a:pt x="0" y="0"/>
                  </a:moveTo>
                  <a:lnTo>
                    <a:pt x="47625" y="0"/>
                  </a:lnTo>
                  <a:lnTo>
                    <a:pt x="47625" y="47625"/>
                  </a:lnTo>
                  <a:lnTo>
                    <a:pt x="0" y="47625"/>
                  </a:lnTo>
                  <a:lnTo>
                    <a:pt x="0" y="0"/>
                  </a:lnTo>
                  <a:close/>
                </a:path>
              </a:pathLst>
            </a:custGeom>
            <a:solidFill>
              <a:srgbClr val="4A90D9"/>
            </a:solidFill>
            <a:ln>
              <a:noFill/>
            </a:ln>
          </p:spPr>
          <p:txBody>
            <a:bodyPr/>
            <a:lstStyle/>
            <a:p>
              <a:endParaRPr lang="en-US"/>
            </a:p>
          </p:txBody>
        </p:sp>
        <p:sp>
          <p:nvSpPr>
            <p:cNvPr id="28" name="Freeform 28"/>
            <p:cNvSpPr/>
            <p:nvPr/>
          </p:nvSpPr>
          <p:spPr>
            <a:xfrm>
              <a:off x="1357312" y="3357562"/>
              <a:ext cx="47625" cy="47625"/>
            </a:xfrm>
            <a:custGeom>
              <a:avLst/>
              <a:gdLst/>
              <a:ahLst/>
              <a:cxnLst/>
              <a:rect l="l" t="t" r="r" b="b"/>
              <a:pathLst>
                <a:path w="47625" h="47625">
                  <a:moveTo>
                    <a:pt x="47625" y="0"/>
                  </a:moveTo>
                  <a:lnTo>
                    <a:pt x="0" y="0"/>
                  </a:lnTo>
                  <a:lnTo>
                    <a:pt x="0" y="47625"/>
                  </a:lnTo>
                  <a:lnTo>
                    <a:pt x="47625" y="47625"/>
                  </a:lnTo>
                  <a:lnTo>
                    <a:pt x="47625" y="0"/>
                  </a:lnTo>
                  <a:close/>
                </a:path>
              </a:pathLst>
            </a:custGeom>
            <a:solidFill>
              <a:srgbClr val="4A90D9"/>
            </a:solidFill>
            <a:ln>
              <a:noFill/>
            </a:ln>
          </p:spPr>
          <p:txBody>
            <a:bodyPr/>
            <a:lstStyle/>
            <a:p>
              <a:endParaRPr lang="en-US"/>
            </a:p>
          </p:txBody>
        </p:sp>
      </p:grpSp>
      <p:sp>
        <p:nvSpPr>
          <p:cNvPr id="30" name="TextBox 30"/>
          <p:cNvSpPr txBox="1"/>
          <p:nvPr/>
        </p:nvSpPr>
        <p:spPr>
          <a:xfrm>
            <a:off x="1739265" y="3091815"/>
            <a:ext cx="1218867" cy="365760"/>
          </a:xfrm>
          <a:prstGeom prst="rect">
            <a:avLst/>
          </a:prstGeom>
          <a:noFill/>
          <a:ln>
            <a:noFill/>
          </a:ln>
        </p:spPr>
        <p:txBody>
          <a:bodyPr wrap="none" lIns="0" tIns="0" rIns="0" bIns="0" anchor="t" anchorCtr="0">
            <a:spAutoFit/>
          </a:bodyPr>
          <a:lstStyle/>
          <a:p>
            <a:pPr algn="l"/>
            <a:r>
              <a:rPr lang="zh-CN" sz="1800" b="1" dirty="0">
                <a:solidFill>
                  <a:srgbClr val="4A90D9"/>
                </a:solidFill>
                <a:latin typeface="Arial"/>
                <a:ea typeface="Microsoft YaHei"/>
                <a:cs typeface="Arial"/>
              </a:rPr>
              <a:t>Members</a:t>
            </a:r>
          </a:p>
        </p:txBody>
      </p:sp>
      <p:sp>
        <p:nvSpPr>
          <p:cNvPr id="31" name="TextBox 31"/>
          <p:cNvSpPr txBox="1"/>
          <p:nvPr/>
        </p:nvSpPr>
        <p:spPr>
          <a:xfrm>
            <a:off x="3507105" y="3140392"/>
            <a:ext cx="2331291" cy="274320"/>
          </a:xfrm>
          <a:prstGeom prst="rect">
            <a:avLst/>
          </a:prstGeom>
          <a:noFill/>
          <a:ln>
            <a:noFill/>
          </a:ln>
        </p:spPr>
        <p:txBody>
          <a:bodyPr wrap="none" lIns="0" tIns="0" rIns="0" bIns="0" anchor="t" anchorCtr="0">
            <a:spAutoFit/>
          </a:bodyPr>
          <a:lstStyle/>
          <a:p>
            <a:pPr algn="l"/>
            <a:r>
              <a:rPr lang="zh-CN" sz="1350" dirty="0">
                <a:solidFill>
                  <a:srgbClr val="64748B"/>
                </a:solidFill>
                <a:latin typeface="Arial"/>
                <a:ea typeface="Microsoft YaHei"/>
                <a:cs typeface="Arial"/>
              </a:rPr>
              <a:t>(everyone in the group)</a:t>
            </a:r>
          </a:p>
        </p:txBody>
      </p:sp>
      <p:sp>
        <p:nvSpPr>
          <p:cNvPr id="32" name="TextBox 32"/>
          <p:cNvSpPr txBox="1"/>
          <p:nvPr/>
        </p:nvSpPr>
        <p:spPr>
          <a:xfrm>
            <a:off x="1745932" y="3462814"/>
            <a:ext cx="7750945"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Work on their own branch. Push changes to GitHub. Create pull requests when ready.</a:t>
            </a:r>
          </a:p>
        </p:txBody>
      </p:sp>
      <p:sp>
        <p:nvSpPr>
          <p:cNvPr id="33" name="TextBox 33"/>
          <p:cNvSpPr txBox="1"/>
          <p:nvPr/>
        </p:nvSpPr>
        <p:spPr>
          <a:xfrm>
            <a:off x="1747838" y="3707606"/>
            <a:ext cx="5738217" cy="228600"/>
          </a:xfrm>
          <a:prstGeom prst="rect">
            <a:avLst/>
          </a:prstGeom>
          <a:noFill/>
          <a:ln>
            <a:noFill/>
          </a:ln>
        </p:spPr>
        <p:txBody>
          <a:bodyPr wrap="none" lIns="0" tIns="0" rIns="0" bIns="0" anchor="t" anchorCtr="0">
            <a:spAutoFit/>
          </a:bodyPr>
          <a:lstStyle/>
          <a:p>
            <a:pPr algn="l"/>
            <a:r>
              <a:rPr lang="zh-CN" sz="1125" dirty="0">
                <a:solidFill>
                  <a:srgbClr val="64748B"/>
                </a:solidFill>
                <a:latin typeface="Arial"/>
                <a:ea typeface="Microsoft YaHei"/>
                <a:cs typeface="Arial"/>
              </a:rPr>
              <a:t>Each person works independently without breaking anyone else's work.</a:t>
            </a:r>
          </a:p>
        </p:txBody>
      </p:sp>
      <p:sp>
        <p:nvSpPr>
          <p:cNvPr id="34" name="TextBox 34"/>
          <p:cNvSpPr txBox="1"/>
          <p:nvPr/>
        </p:nvSpPr>
        <p:spPr>
          <a:xfrm>
            <a:off x="5505688" y="4168616"/>
            <a:ext cx="1180624" cy="243840"/>
          </a:xfrm>
          <a:prstGeom prst="rect">
            <a:avLst/>
          </a:prstGeom>
          <a:noFill/>
          <a:ln>
            <a:noFill/>
          </a:ln>
        </p:spPr>
        <p:txBody>
          <a:bodyPr wrap="none" lIns="0" tIns="0" rIns="0" bIns="0" anchor="t" anchorCtr="0">
            <a:spAutoFit/>
          </a:bodyPr>
          <a:lstStyle/>
          <a:p>
            <a:pPr algn="ctr"/>
            <a:r>
              <a:rPr lang="zh-CN" sz="1200" b="1" dirty="0">
                <a:solidFill>
                  <a:srgbClr val="1A1A2E"/>
                </a:solidFill>
                <a:latin typeface="Arial"/>
                <a:ea typeface="Microsoft YaHei"/>
                <a:cs typeface="Arial"/>
              </a:rPr>
              <a:t>How It Works</a:t>
            </a:r>
          </a:p>
        </p:txBody>
      </p:sp>
      <p:sp>
        <p:nvSpPr>
          <p:cNvPr id="35" name="Line 35"/>
          <p:cNvSpPr/>
          <p:nvPr/>
        </p:nvSpPr>
        <p:spPr>
          <a:xfrm>
            <a:off x="1905000" y="5048250"/>
            <a:ext cx="8382000" cy="9525"/>
          </a:xfrm>
          <a:custGeom>
            <a:avLst/>
            <a:gdLst/>
            <a:ahLst/>
            <a:cxnLst/>
            <a:rect l="l" t="t" r="r" b="b"/>
            <a:pathLst>
              <a:path w="8382000" h="9525">
                <a:moveTo>
                  <a:pt x="0" y="0"/>
                </a:moveTo>
                <a:lnTo>
                  <a:pt x="8382000" y="0"/>
                </a:lnTo>
              </a:path>
            </a:pathLst>
          </a:custGeom>
          <a:noFill/>
          <a:ln w="38100">
            <a:solidFill>
              <a:srgbClr val="10B981"/>
            </a:solidFill>
          </a:ln>
        </p:spPr>
        <p:txBody>
          <a:bodyPr/>
          <a:lstStyle/>
          <a:p>
            <a:endParaRPr lang="en-US"/>
          </a:p>
        </p:txBody>
      </p:sp>
      <p:sp>
        <p:nvSpPr>
          <p:cNvPr id="36" name="TextBox 36"/>
          <p:cNvSpPr txBox="1"/>
          <p:nvPr/>
        </p:nvSpPr>
        <p:spPr>
          <a:xfrm>
            <a:off x="973972" y="4982528"/>
            <a:ext cx="372863" cy="213360"/>
          </a:xfrm>
          <a:prstGeom prst="rect">
            <a:avLst/>
          </a:prstGeom>
          <a:noFill/>
          <a:ln>
            <a:noFill/>
          </a:ln>
        </p:spPr>
        <p:txBody>
          <a:bodyPr wrap="none" lIns="0" tIns="0" rIns="0" bIns="0" anchor="t" anchorCtr="0">
            <a:spAutoFit/>
          </a:bodyPr>
          <a:lstStyle/>
          <a:p>
            <a:pPr algn="r"/>
            <a:r>
              <a:rPr lang="zh-CN" sz="1050" b="1" dirty="0">
                <a:solidFill>
                  <a:srgbClr val="10B981"/>
                </a:solidFill>
                <a:latin typeface="Arial"/>
                <a:ea typeface="Microsoft YaHei"/>
                <a:cs typeface="Arial"/>
              </a:rPr>
              <a:t>main</a:t>
            </a:r>
          </a:p>
        </p:txBody>
      </p:sp>
      <p:sp>
        <p:nvSpPr>
          <p:cNvPr id="37" name="Ellipse 37"/>
          <p:cNvSpPr/>
          <p:nvPr/>
        </p:nvSpPr>
        <p:spPr>
          <a:xfrm>
            <a:off x="1828800" y="4972050"/>
            <a:ext cx="152400" cy="152400"/>
          </a:xfrm>
          <a:prstGeom prst="ellipse">
            <a:avLst/>
          </a:prstGeom>
          <a:solidFill>
            <a:srgbClr val="10B981"/>
          </a:solidFill>
          <a:ln>
            <a:noFill/>
          </a:ln>
        </p:spPr>
        <p:txBody>
          <a:bodyPr/>
          <a:lstStyle/>
          <a:p>
            <a:endParaRPr lang="en-US"/>
          </a:p>
        </p:txBody>
      </p:sp>
      <p:sp>
        <p:nvSpPr>
          <p:cNvPr id="38" name="Ellipse 38"/>
          <p:cNvSpPr/>
          <p:nvPr/>
        </p:nvSpPr>
        <p:spPr>
          <a:xfrm>
            <a:off x="10210800" y="4972050"/>
            <a:ext cx="152400" cy="152400"/>
          </a:xfrm>
          <a:prstGeom prst="ellipse">
            <a:avLst/>
          </a:prstGeom>
          <a:solidFill>
            <a:srgbClr val="10B981"/>
          </a:solidFill>
          <a:ln>
            <a:noFill/>
          </a:ln>
        </p:spPr>
        <p:txBody>
          <a:bodyPr/>
          <a:lstStyle/>
          <a:p>
            <a:endParaRPr lang="en-US"/>
          </a:p>
        </p:txBody>
      </p:sp>
      <p:sp>
        <p:nvSpPr>
          <p:cNvPr id="39" name="Freeform 39"/>
          <p:cNvSpPr/>
          <p:nvPr/>
        </p:nvSpPr>
        <p:spPr>
          <a:xfrm>
            <a:off x="3333750" y="4603750"/>
            <a:ext cx="1428750" cy="444500"/>
          </a:xfrm>
          <a:custGeom>
            <a:avLst/>
            <a:gdLst/>
            <a:ahLst/>
            <a:cxnLst/>
            <a:rect l="l" t="t" r="r" b="b"/>
            <a:pathLst>
              <a:path w="1428750" h="444500">
                <a:moveTo>
                  <a:pt x="0" y="444500"/>
                </a:moveTo>
                <a:cubicBezTo>
                  <a:pt x="317500" y="127000"/>
                  <a:pt x="793750" y="0"/>
                  <a:pt x="1428750" y="63500"/>
                </a:cubicBezTo>
              </a:path>
            </a:pathLst>
          </a:custGeom>
          <a:noFill/>
          <a:ln w="19050">
            <a:solidFill>
              <a:srgbClr val="4A90D9"/>
            </a:solidFill>
          </a:ln>
        </p:spPr>
        <p:txBody>
          <a:bodyPr/>
          <a:lstStyle/>
          <a:p>
            <a:endParaRPr lang="en-US"/>
          </a:p>
        </p:txBody>
      </p:sp>
      <p:sp>
        <p:nvSpPr>
          <p:cNvPr id="40" name="Line 40"/>
          <p:cNvSpPr/>
          <p:nvPr/>
        </p:nvSpPr>
        <p:spPr>
          <a:xfrm>
            <a:off x="4762500" y="4667250"/>
            <a:ext cx="1905000" cy="9525"/>
          </a:xfrm>
          <a:custGeom>
            <a:avLst/>
            <a:gdLst/>
            <a:ahLst/>
            <a:cxnLst/>
            <a:rect l="l" t="t" r="r" b="b"/>
            <a:pathLst>
              <a:path w="1905000" h="9525">
                <a:moveTo>
                  <a:pt x="0" y="0"/>
                </a:moveTo>
                <a:lnTo>
                  <a:pt x="1905000" y="0"/>
                </a:lnTo>
              </a:path>
            </a:pathLst>
          </a:custGeom>
          <a:noFill/>
          <a:ln w="19050">
            <a:solidFill>
              <a:srgbClr val="4A90D9"/>
            </a:solidFill>
          </a:ln>
        </p:spPr>
        <p:txBody>
          <a:bodyPr/>
          <a:lstStyle/>
          <a:p>
            <a:endParaRPr lang="en-US"/>
          </a:p>
        </p:txBody>
      </p:sp>
      <p:sp>
        <p:nvSpPr>
          <p:cNvPr id="41" name="Freeform 41"/>
          <p:cNvSpPr/>
          <p:nvPr/>
        </p:nvSpPr>
        <p:spPr>
          <a:xfrm>
            <a:off x="6667500" y="4667250"/>
            <a:ext cx="952500" cy="381000"/>
          </a:xfrm>
          <a:custGeom>
            <a:avLst/>
            <a:gdLst/>
            <a:ahLst/>
            <a:cxnLst/>
            <a:rect l="l" t="t" r="r" b="b"/>
            <a:pathLst>
              <a:path w="952500" h="381000">
                <a:moveTo>
                  <a:pt x="0" y="0"/>
                </a:moveTo>
                <a:cubicBezTo>
                  <a:pt x="317500" y="63500"/>
                  <a:pt x="635000" y="190500"/>
                  <a:pt x="952500" y="381000"/>
                </a:cubicBezTo>
              </a:path>
            </a:pathLst>
          </a:custGeom>
          <a:noFill/>
          <a:ln w="19050">
            <a:solidFill>
              <a:srgbClr val="4A90D9"/>
            </a:solidFill>
          </a:ln>
        </p:spPr>
        <p:txBody>
          <a:bodyPr/>
          <a:lstStyle/>
          <a:p>
            <a:endParaRPr lang="en-US"/>
          </a:p>
        </p:txBody>
      </p:sp>
      <p:sp>
        <p:nvSpPr>
          <p:cNvPr id="42" name="Ellipse 42"/>
          <p:cNvSpPr/>
          <p:nvPr/>
        </p:nvSpPr>
        <p:spPr>
          <a:xfrm>
            <a:off x="4714875" y="4619625"/>
            <a:ext cx="95250" cy="95250"/>
          </a:xfrm>
          <a:prstGeom prst="ellipse">
            <a:avLst/>
          </a:prstGeom>
          <a:solidFill>
            <a:srgbClr val="4A90D9"/>
          </a:solidFill>
          <a:ln>
            <a:noFill/>
          </a:ln>
        </p:spPr>
        <p:txBody>
          <a:bodyPr/>
          <a:lstStyle/>
          <a:p>
            <a:endParaRPr lang="en-US"/>
          </a:p>
        </p:txBody>
      </p:sp>
      <p:sp>
        <p:nvSpPr>
          <p:cNvPr id="43" name="Ellipse 43"/>
          <p:cNvSpPr/>
          <p:nvPr/>
        </p:nvSpPr>
        <p:spPr>
          <a:xfrm>
            <a:off x="5667375" y="4619625"/>
            <a:ext cx="95250" cy="95250"/>
          </a:xfrm>
          <a:prstGeom prst="ellipse">
            <a:avLst/>
          </a:prstGeom>
          <a:solidFill>
            <a:srgbClr val="4A90D9"/>
          </a:solidFill>
          <a:ln>
            <a:noFill/>
          </a:ln>
        </p:spPr>
        <p:txBody>
          <a:bodyPr/>
          <a:lstStyle/>
          <a:p>
            <a:endParaRPr lang="en-US"/>
          </a:p>
        </p:txBody>
      </p:sp>
      <p:sp>
        <p:nvSpPr>
          <p:cNvPr id="44" name="Ellipse 44"/>
          <p:cNvSpPr/>
          <p:nvPr/>
        </p:nvSpPr>
        <p:spPr>
          <a:xfrm>
            <a:off x="6619875" y="4619625"/>
            <a:ext cx="95250" cy="95250"/>
          </a:xfrm>
          <a:prstGeom prst="ellipse">
            <a:avLst/>
          </a:prstGeom>
          <a:solidFill>
            <a:srgbClr val="4A90D9"/>
          </a:solidFill>
          <a:ln>
            <a:noFill/>
          </a:ln>
        </p:spPr>
        <p:txBody>
          <a:bodyPr/>
          <a:lstStyle/>
          <a:p>
            <a:endParaRPr lang="en-US"/>
          </a:p>
        </p:txBody>
      </p:sp>
      <p:sp>
        <p:nvSpPr>
          <p:cNvPr id="45" name="TextBox 45"/>
          <p:cNvSpPr txBox="1"/>
          <p:nvPr/>
        </p:nvSpPr>
        <p:spPr>
          <a:xfrm>
            <a:off x="5319093" y="4455795"/>
            <a:ext cx="791813" cy="182880"/>
          </a:xfrm>
          <a:prstGeom prst="rect">
            <a:avLst/>
          </a:prstGeom>
          <a:noFill/>
          <a:ln>
            <a:noFill/>
          </a:ln>
        </p:spPr>
        <p:txBody>
          <a:bodyPr wrap="none" lIns="0" tIns="0" rIns="0" bIns="0" anchor="t" anchorCtr="0">
            <a:spAutoFit/>
          </a:bodyPr>
          <a:lstStyle/>
          <a:p>
            <a:pPr algn="ctr"/>
            <a:r>
              <a:rPr lang="zh-CN" sz="900" dirty="0">
                <a:solidFill>
                  <a:srgbClr val="4A90D9"/>
                </a:solidFill>
                <a:latin typeface="Arial"/>
                <a:ea typeface="Microsoft YaHei"/>
                <a:cs typeface="Arial"/>
              </a:rPr>
              <a:t>analysis/rq1</a:t>
            </a:r>
          </a:p>
        </p:txBody>
      </p:sp>
      <p:sp>
        <p:nvSpPr>
          <p:cNvPr id="46" name="Freeform 46"/>
          <p:cNvSpPr/>
          <p:nvPr/>
        </p:nvSpPr>
        <p:spPr>
          <a:xfrm>
            <a:off x="4286250" y="5048250"/>
            <a:ext cx="1428750" cy="444500"/>
          </a:xfrm>
          <a:custGeom>
            <a:avLst/>
            <a:gdLst/>
            <a:ahLst/>
            <a:cxnLst/>
            <a:rect l="l" t="t" r="r" b="b"/>
            <a:pathLst>
              <a:path w="1428750" h="444500">
                <a:moveTo>
                  <a:pt x="0" y="0"/>
                </a:moveTo>
                <a:cubicBezTo>
                  <a:pt x="317500" y="317500"/>
                  <a:pt x="793750" y="444500"/>
                  <a:pt x="1428750" y="381000"/>
                </a:cubicBezTo>
              </a:path>
            </a:pathLst>
          </a:custGeom>
          <a:noFill/>
          <a:ln w="19050">
            <a:solidFill>
              <a:srgbClr val="D97757"/>
            </a:solidFill>
          </a:ln>
        </p:spPr>
        <p:txBody>
          <a:bodyPr/>
          <a:lstStyle/>
          <a:p>
            <a:endParaRPr lang="en-US"/>
          </a:p>
        </p:txBody>
      </p:sp>
      <p:sp>
        <p:nvSpPr>
          <p:cNvPr id="47" name="Line 47"/>
          <p:cNvSpPr/>
          <p:nvPr/>
        </p:nvSpPr>
        <p:spPr>
          <a:xfrm>
            <a:off x="5715000" y="5429250"/>
            <a:ext cx="2381250" cy="9525"/>
          </a:xfrm>
          <a:custGeom>
            <a:avLst/>
            <a:gdLst/>
            <a:ahLst/>
            <a:cxnLst/>
            <a:rect l="l" t="t" r="r" b="b"/>
            <a:pathLst>
              <a:path w="2381250" h="9525">
                <a:moveTo>
                  <a:pt x="0" y="0"/>
                </a:moveTo>
                <a:lnTo>
                  <a:pt x="2381250" y="0"/>
                </a:lnTo>
              </a:path>
            </a:pathLst>
          </a:custGeom>
          <a:noFill/>
          <a:ln w="19050">
            <a:solidFill>
              <a:srgbClr val="D97757"/>
            </a:solidFill>
          </a:ln>
        </p:spPr>
        <p:txBody>
          <a:bodyPr/>
          <a:lstStyle/>
          <a:p>
            <a:endParaRPr lang="en-US"/>
          </a:p>
        </p:txBody>
      </p:sp>
      <p:sp>
        <p:nvSpPr>
          <p:cNvPr id="48" name="Freeform 48"/>
          <p:cNvSpPr/>
          <p:nvPr/>
        </p:nvSpPr>
        <p:spPr>
          <a:xfrm>
            <a:off x="8096250" y="5048250"/>
            <a:ext cx="952500" cy="381000"/>
          </a:xfrm>
          <a:custGeom>
            <a:avLst/>
            <a:gdLst/>
            <a:ahLst/>
            <a:cxnLst/>
            <a:rect l="l" t="t" r="r" b="b"/>
            <a:pathLst>
              <a:path w="952500" h="381000">
                <a:moveTo>
                  <a:pt x="0" y="381000"/>
                </a:moveTo>
                <a:cubicBezTo>
                  <a:pt x="317500" y="317500"/>
                  <a:pt x="635000" y="190500"/>
                  <a:pt x="952500" y="0"/>
                </a:cubicBezTo>
              </a:path>
            </a:pathLst>
          </a:custGeom>
          <a:noFill/>
          <a:ln w="19050">
            <a:solidFill>
              <a:srgbClr val="D97757"/>
            </a:solidFill>
          </a:ln>
        </p:spPr>
        <p:txBody>
          <a:bodyPr/>
          <a:lstStyle/>
          <a:p>
            <a:endParaRPr lang="en-US"/>
          </a:p>
        </p:txBody>
      </p:sp>
      <p:sp>
        <p:nvSpPr>
          <p:cNvPr id="49" name="Ellipse 49"/>
          <p:cNvSpPr/>
          <p:nvPr/>
        </p:nvSpPr>
        <p:spPr>
          <a:xfrm>
            <a:off x="5667375" y="5381625"/>
            <a:ext cx="95250" cy="95250"/>
          </a:xfrm>
          <a:prstGeom prst="ellipse">
            <a:avLst/>
          </a:prstGeom>
          <a:solidFill>
            <a:srgbClr val="D97757"/>
          </a:solidFill>
          <a:ln>
            <a:noFill/>
          </a:ln>
        </p:spPr>
        <p:txBody>
          <a:bodyPr/>
          <a:lstStyle/>
          <a:p>
            <a:endParaRPr lang="en-US"/>
          </a:p>
        </p:txBody>
      </p:sp>
      <p:sp>
        <p:nvSpPr>
          <p:cNvPr id="50" name="Ellipse 50"/>
          <p:cNvSpPr/>
          <p:nvPr/>
        </p:nvSpPr>
        <p:spPr>
          <a:xfrm>
            <a:off x="6858000" y="5381625"/>
            <a:ext cx="95250" cy="95250"/>
          </a:xfrm>
          <a:prstGeom prst="ellipse">
            <a:avLst/>
          </a:prstGeom>
          <a:solidFill>
            <a:srgbClr val="D97757"/>
          </a:solidFill>
          <a:ln>
            <a:noFill/>
          </a:ln>
        </p:spPr>
        <p:txBody>
          <a:bodyPr/>
          <a:lstStyle/>
          <a:p>
            <a:endParaRPr lang="en-US"/>
          </a:p>
        </p:txBody>
      </p:sp>
      <p:sp>
        <p:nvSpPr>
          <p:cNvPr id="51" name="Ellipse 51"/>
          <p:cNvSpPr/>
          <p:nvPr/>
        </p:nvSpPr>
        <p:spPr>
          <a:xfrm>
            <a:off x="8048625" y="5381625"/>
            <a:ext cx="95250" cy="95250"/>
          </a:xfrm>
          <a:prstGeom prst="ellipse">
            <a:avLst/>
          </a:prstGeom>
          <a:solidFill>
            <a:srgbClr val="D97757"/>
          </a:solidFill>
          <a:ln>
            <a:noFill/>
          </a:ln>
        </p:spPr>
        <p:txBody>
          <a:bodyPr/>
          <a:lstStyle/>
          <a:p>
            <a:endParaRPr lang="en-US"/>
          </a:p>
        </p:txBody>
      </p:sp>
      <p:sp>
        <p:nvSpPr>
          <p:cNvPr id="52" name="TextBox 52"/>
          <p:cNvSpPr txBox="1"/>
          <p:nvPr/>
        </p:nvSpPr>
        <p:spPr>
          <a:xfrm>
            <a:off x="6358557" y="5560695"/>
            <a:ext cx="1094137" cy="182880"/>
          </a:xfrm>
          <a:prstGeom prst="rect">
            <a:avLst/>
          </a:prstGeom>
          <a:noFill/>
          <a:ln>
            <a:noFill/>
          </a:ln>
        </p:spPr>
        <p:txBody>
          <a:bodyPr wrap="none" lIns="0" tIns="0" rIns="0" bIns="0" anchor="t" anchorCtr="0">
            <a:spAutoFit/>
          </a:bodyPr>
          <a:lstStyle/>
          <a:p>
            <a:pPr algn="ctr"/>
            <a:r>
              <a:rPr lang="zh-CN" sz="900" dirty="0">
                <a:solidFill>
                  <a:srgbClr val="D97757"/>
                </a:solidFill>
                <a:latin typeface="Arial"/>
                <a:ea typeface="Microsoft YaHei"/>
                <a:cs typeface="Arial"/>
              </a:rPr>
              <a:t>writing/methods</a:t>
            </a:r>
          </a:p>
        </p:txBody>
      </p:sp>
      <p:sp>
        <p:nvSpPr>
          <p:cNvPr id="53" name="Rectangle 53"/>
          <p:cNvSpPr/>
          <p:nvPr/>
        </p:nvSpPr>
        <p:spPr>
          <a:xfrm>
            <a:off x="7477125" y="4933950"/>
            <a:ext cx="285750" cy="228600"/>
          </a:xfrm>
          <a:prstGeom prst="rect">
            <a:avLst/>
          </a:prstGeom>
          <a:solidFill>
            <a:srgbClr val="D97757">
              <a:alpha val="20000"/>
            </a:srgbClr>
          </a:solidFill>
          <a:ln>
            <a:noFill/>
          </a:ln>
        </p:spPr>
        <p:txBody>
          <a:bodyPr/>
          <a:lstStyle/>
          <a:p>
            <a:endParaRPr lang="en-US"/>
          </a:p>
        </p:txBody>
      </p:sp>
      <p:sp>
        <p:nvSpPr>
          <p:cNvPr id="54" name="TextBox 54"/>
          <p:cNvSpPr txBox="1"/>
          <p:nvPr/>
        </p:nvSpPr>
        <p:spPr>
          <a:xfrm>
            <a:off x="7547217" y="5014912"/>
            <a:ext cx="145566" cy="152400"/>
          </a:xfrm>
          <a:prstGeom prst="rect">
            <a:avLst/>
          </a:prstGeom>
          <a:noFill/>
          <a:ln>
            <a:noFill/>
          </a:ln>
        </p:spPr>
        <p:txBody>
          <a:bodyPr wrap="none" lIns="0" tIns="0" rIns="0" bIns="0" anchor="t" anchorCtr="0">
            <a:spAutoFit/>
          </a:bodyPr>
          <a:lstStyle/>
          <a:p>
            <a:pPr algn="ctr"/>
            <a:r>
              <a:rPr lang="zh-CN" sz="750" b="1" dirty="0">
                <a:solidFill>
                  <a:srgbClr val="D97757"/>
                </a:solidFill>
                <a:latin typeface="Arial"/>
                <a:ea typeface="Microsoft YaHei"/>
                <a:cs typeface="Arial"/>
              </a:rPr>
              <a:t>PR</a:t>
            </a:r>
          </a:p>
        </p:txBody>
      </p:sp>
      <p:sp>
        <p:nvSpPr>
          <p:cNvPr id="55" name="Rectangle 55"/>
          <p:cNvSpPr/>
          <p:nvPr/>
        </p:nvSpPr>
        <p:spPr>
          <a:xfrm>
            <a:off x="8905875" y="4933950"/>
            <a:ext cx="285750" cy="228600"/>
          </a:xfrm>
          <a:prstGeom prst="rect">
            <a:avLst/>
          </a:prstGeom>
          <a:solidFill>
            <a:srgbClr val="D97757">
              <a:alpha val="20000"/>
            </a:srgbClr>
          </a:solidFill>
          <a:ln>
            <a:noFill/>
          </a:ln>
        </p:spPr>
        <p:txBody>
          <a:bodyPr/>
          <a:lstStyle/>
          <a:p>
            <a:endParaRPr lang="en-US"/>
          </a:p>
        </p:txBody>
      </p:sp>
      <p:sp>
        <p:nvSpPr>
          <p:cNvPr id="56" name="TextBox 56"/>
          <p:cNvSpPr txBox="1"/>
          <p:nvPr/>
        </p:nvSpPr>
        <p:spPr>
          <a:xfrm>
            <a:off x="8975967" y="5014912"/>
            <a:ext cx="145566" cy="152400"/>
          </a:xfrm>
          <a:prstGeom prst="rect">
            <a:avLst/>
          </a:prstGeom>
          <a:noFill/>
          <a:ln>
            <a:noFill/>
          </a:ln>
        </p:spPr>
        <p:txBody>
          <a:bodyPr wrap="none" lIns="0" tIns="0" rIns="0" bIns="0" anchor="t" anchorCtr="0">
            <a:spAutoFit/>
          </a:bodyPr>
          <a:lstStyle/>
          <a:p>
            <a:pPr algn="ctr"/>
            <a:r>
              <a:rPr lang="zh-CN" sz="750" b="1" dirty="0">
                <a:solidFill>
                  <a:srgbClr val="D97757"/>
                </a:solidFill>
                <a:latin typeface="Arial"/>
                <a:ea typeface="Microsoft YaHei"/>
                <a:cs typeface="Arial"/>
              </a:rPr>
              <a:t>PR</a:t>
            </a:r>
          </a:p>
        </p:txBody>
      </p:sp>
      <p:sp>
        <p:nvSpPr>
          <p:cNvPr id="57" name="Ellipse 57"/>
          <p:cNvSpPr/>
          <p:nvPr/>
        </p:nvSpPr>
        <p:spPr>
          <a:xfrm>
            <a:off x="1847850" y="6038850"/>
            <a:ext cx="114300" cy="114300"/>
          </a:xfrm>
          <a:prstGeom prst="ellipse">
            <a:avLst/>
          </a:prstGeom>
          <a:solidFill>
            <a:srgbClr val="10B981"/>
          </a:solidFill>
          <a:ln>
            <a:noFill/>
          </a:ln>
        </p:spPr>
        <p:txBody>
          <a:bodyPr/>
          <a:lstStyle/>
          <a:p>
            <a:endParaRPr lang="en-US"/>
          </a:p>
        </p:txBody>
      </p:sp>
      <p:sp>
        <p:nvSpPr>
          <p:cNvPr id="58" name="TextBox 58"/>
          <p:cNvSpPr txBox="1"/>
          <p:nvPr/>
        </p:nvSpPr>
        <p:spPr>
          <a:xfrm>
            <a:off x="2035492" y="6038374"/>
            <a:ext cx="1477232"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Main branch (stable)</a:t>
            </a:r>
          </a:p>
        </p:txBody>
      </p:sp>
      <p:sp>
        <p:nvSpPr>
          <p:cNvPr id="59" name="Ellipse 59"/>
          <p:cNvSpPr/>
          <p:nvPr/>
        </p:nvSpPr>
        <p:spPr>
          <a:xfrm>
            <a:off x="4229100" y="6038850"/>
            <a:ext cx="114300" cy="114300"/>
          </a:xfrm>
          <a:prstGeom prst="ellipse">
            <a:avLst/>
          </a:prstGeom>
          <a:solidFill>
            <a:srgbClr val="4A90D9"/>
          </a:solidFill>
          <a:ln>
            <a:noFill/>
          </a:ln>
        </p:spPr>
        <p:txBody>
          <a:bodyPr/>
          <a:lstStyle/>
          <a:p>
            <a:endParaRPr lang="en-US"/>
          </a:p>
        </p:txBody>
      </p:sp>
      <p:sp>
        <p:nvSpPr>
          <p:cNvPr id="60" name="TextBox 60"/>
          <p:cNvSpPr txBox="1"/>
          <p:nvPr/>
        </p:nvSpPr>
        <p:spPr>
          <a:xfrm>
            <a:off x="4416742" y="6038374"/>
            <a:ext cx="1171075"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Feature branch 1</a:t>
            </a:r>
          </a:p>
        </p:txBody>
      </p:sp>
      <p:sp>
        <p:nvSpPr>
          <p:cNvPr id="61" name="Ellipse 61"/>
          <p:cNvSpPr/>
          <p:nvPr/>
        </p:nvSpPr>
        <p:spPr>
          <a:xfrm>
            <a:off x="6419850" y="6038850"/>
            <a:ext cx="114300" cy="114300"/>
          </a:xfrm>
          <a:prstGeom prst="ellipse">
            <a:avLst/>
          </a:prstGeom>
          <a:solidFill>
            <a:srgbClr val="D97757"/>
          </a:solidFill>
          <a:ln>
            <a:noFill/>
          </a:ln>
        </p:spPr>
        <p:txBody>
          <a:bodyPr/>
          <a:lstStyle/>
          <a:p>
            <a:endParaRPr lang="en-US"/>
          </a:p>
        </p:txBody>
      </p:sp>
      <p:sp>
        <p:nvSpPr>
          <p:cNvPr id="62" name="TextBox 62"/>
          <p:cNvSpPr txBox="1"/>
          <p:nvPr/>
        </p:nvSpPr>
        <p:spPr>
          <a:xfrm>
            <a:off x="6607492" y="6038374"/>
            <a:ext cx="1206675"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Feature branch 2</a:t>
            </a:r>
          </a:p>
        </p:txBody>
      </p:sp>
      <p:sp>
        <p:nvSpPr>
          <p:cNvPr id="63" name="Rectangle 63"/>
          <p:cNvSpPr/>
          <p:nvPr/>
        </p:nvSpPr>
        <p:spPr>
          <a:xfrm>
            <a:off x="8429625" y="6029325"/>
            <a:ext cx="228600" cy="152400"/>
          </a:xfrm>
          <a:prstGeom prst="rect">
            <a:avLst/>
          </a:prstGeom>
          <a:solidFill>
            <a:srgbClr val="D97757">
              <a:alpha val="20000"/>
            </a:srgbClr>
          </a:solidFill>
          <a:ln>
            <a:noFill/>
          </a:ln>
        </p:spPr>
        <p:txBody>
          <a:bodyPr/>
          <a:lstStyle/>
          <a:p>
            <a:endParaRPr lang="en-US"/>
          </a:p>
        </p:txBody>
      </p:sp>
      <p:sp>
        <p:nvSpPr>
          <p:cNvPr id="64" name="TextBox 64"/>
          <p:cNvSpPr txBox="1"/>
          <p:nvPr/>
        </p:nvSpPr>
        <p:spPr>
          <a:xfrm>
            <a:off x="8750618" y="6038374"/>
            <a:ext cx="187594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rial"/>
                <a:ea typeface="Microsoft YaHei"/>
                <a:cs typeface="Arial"/>
              </a:rPr>
              <a:t>Pull Request (review gate)</a:t>
            </a:r>
          </a:p>
        </p:txBody>
      </p:sp>
      <p:sp>
        <p:nvSpPr>
          <p:cNvPr id="65" name="TextBox 65"/>
          <p:cNvSpPr txBox="1"/>
          <p:nvPr/>
        </p:nvSpPr>
        <p:spPr>
          <a:xfrm>
            <a:off x="5887141" y="6411278"/>
            <a:ext cx="417719"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7 / 15</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A1A2E"/>
              </a:gs>
              <a:gs pos="50000">
                <a:srgbClr val="16213E"/>
              </a:gs>
              <a:gs pos="100000">
                <a:srgbClr val="0F0F1A"/>
              </a:gs>
            </a:gsLst>
            <a:lin ang="2700000" scaled="1"/>
          </a:gradFill>
          <a:ln>
            <a:noFill/>
          </a:ln>
        </p:spPr>
        <p:txBody>
          <a:bodyPr/>
          <a:lstStyle/>
          <a:p>
            <a:endParaRPr lang="en-US"/>
          </a:p>
        </p:txBody>
      </p:sp>
      <p:sp>
        <p:nvSpPr>
          <p:cNvPr id="3" name="Line 3"/>
          <p:cNvSpPr/>
          <p:nvPr/>
        </p:nvSpPr>
        <p:spPr>
          <a:xfrm>
            <a:off x="0" y="1714500"/>
            <a:ext cx="12192000" cy="9525"/>
          </a:xfrm>
          <a:custGeom>
            <a:avLst/>
            <a:gdLst/>
            <a:ahLst/>
            <a:cxnLst/>
            <a:rect l="l" t="t" r="r" b="b"/>
            <a:pathLst>
              <a:path w="12192000" h="9525">
                <a:moveTo>
                  <a:pt x="0" y="0"/>
                </a:moveTo>
                <a:lnTo>
                  <a:pt x="12192000" y="0"/>
                </a:lnTo>
              </a:path>
            </a:pathLst>
          </a:custGeom>
          <a:noFill/>
          <a:ln w="9525">
            <a:solidFill>
              <a:srgbClr val="FFFFFF">
                <a:alpha val="3000"/>
              </a:srgbClr>
            </a:solidFill>
          </a:ln>
        </p:spPr>
        <p:txBody>
          <a:bodyPr/>
          <a:lstStyle/>
          <a:p>
            <a:endParaRPr lang="en-US"/>
          </a:p>
        </p:txBody>
      </p:sp>
      <p:sp>
        <p:nvSpPr>
          <p:cNvPr id="4" name="Line 4"/>
          <p:cNvSpPr/>
          <p:nvPr/>
        </p:nvSpPr>
        <p:spPr>
          <a:xfrm>
            <a:off x="0" y="3429000"/>
            <a:ext cx="12192000" cy="9525"/>
          </a:xfrm>
          <a:custGeom>
            <a:avLst/>
            <a:gdLst/>
            <a:ahLst/>
            <a:cxnLst/>
            <a:rect l="l" t="t" r="r" b="b"/>
            <a:pathLst>
              <a:path w="12192000" h="9525">
                <a:moveTo>
                  <a:pt x="0" y="0"/>
                </a:moveTo>
                <a:lnTo>
                  <a:pt x="12192000" y="0"/>
                </a:lnTo>
              </a:path>
            </a:pathLst>
          </a:custGeom>
          <a:noFill/>
          <a:ln w="9525">
            <a:solidFill>
              <a:srgbClr val="FFFFFF">
                <a:alpha val="3000"/>
              </a:srgbClr>
            </a:solidFill>
          </a:ln>
        </p:spPr>
        <p:txBody>
          <a:bodyPr/>
          <a:lstStyle/>
          <a:p>
            <a:endParaRPr lang="en-US"/>
          </a:p>
        </p:txBody>
      </p:sp>
      <p:sp>
        <p:nvSpPr>
          <p:cNvPr id="5" name="Line 5"/>
          <p:cNvSpPr/>
          <p:nvPr/>
        </p:nvSpPr>
        <p:spPr>
          <a:xfrm>
            <a:off x="0" y="5143500"/>
            <a:ext cx="12192000" cy="9525"/>
          </a:xfrm>
          <a:custGeom>
            <a:avLst/>
            <a:gdLst/>
            <a:ahLst/>
            <a:cxnLst/>
            <a:rect l="l" t="t" r="r" b="b"/>
            <a:pathLst>
              <a:path w="12192000" h="9525">
                <a:moveTo>
                  <a:pt x="0" y="0"/>
                </a:moveTo>
                <a:lnTo>
                  <a:pt x="12192000" y="0"/>
                </a:lnTo>
              </a:path>
            </a:pathLst>
          </a:custGeom>
          <a:noFill/>
          <a:ln w="9525">
            <a:solidFill>
              <a:srgbClr val="FFFFFF">
                <a:alpha val="3000"/>
              </a:srgbClr>
            </a:solidFill>
          </a:ln>
        </p:spPr>
        <p:txBody>
          <a:bodyPr/>
          <a:lstStyle/>
          <a:p>
            <a:endParaRPr lang="en-US"/>
          </a:p>
        </p:txBody>
      </p:sp>
      <p:sp>
        <p:nvSpPr>
          <p:cNvPr id="6" name="Line 6"/>
          <p:cNvSpPr/>
          <p:nvPr/>
        </p:nvSpPr>
        <p:spPr>
          <a:xfrm>
            <a:off x="3048000" y="0"/>
            <a:ext cx="9525" cy="6858000"/>
          </a:xfrm>
          <a:custGeom>
            <a:avLst/>
            <a:gdLst/>
            <a:ahLst/>
            <a:cxnLst/>
            <a:rect l="l" t="t" r="r" b="b"/>
            <a:pathLst>
              <a:path w="9525" h="6858000">
                <a:moveTo>
                  <a:pt x="0" y="0"/>
                </a:moveTo>
                <a:lnTo>
                  <a:pt x="0" y="6858000"/>
                </a:lnTo>
              </a:path>
            </a:pathLst>
          </a:custGeom>
          <a:noFill/>
          <a:ln w="9525">
            <a:solidFill>
              <a:srgbClr val="FFFFFF">
                <a:alpha val="3000"/>
              </a:srgbClr>
            </a:solidFill>
          </a:ln>
        </p:spPr>
        <p:txBody>
          <a:bodyPr/>
          <a:lstStyle/>
          <a:p>
            <a:endParaRPr lang="en-US"/>
          </a:p>
        </p:txBody>
      </p:sp>
      <p:sp>
        <p:nvSpPr>
          <p:cNvPr id="7" name="Line 7"/>
          <p:cNvSpPr/>
          <p:nvPr/>
        </p:nvSpPr>
        <p:spPr>
          <a:xfrm>
            <a:off x="6096000" y="0"/>
            <a:ext cx="9525" cy="6858000"/>
          </a:xfrm>
          <a:custGeom>
            <a:avLst/>
            <a:gdLst/>
            <a:ahLst/>
            <a:cxnLst/>
            <a:rect l="l" t="t" r="r" b="b"/>
            <a:pathLst>
              <a:path w="9525" h="6858000">
                <a:moveTo>
                  <a:pt x="0" y="0"/>
                </a:moveTo>
                <a:lnTo>
                  <a:pt x="0" y="6858000"/>
                </a:lnTo>
              </a:path>
            </a:pathLst>
          </a:custGeom>
          <a:noFill/>
          <a:ln w="9525">
            <a:solidFill>
              <a:srgbClr val="FFFFFF">
                <a:alpha val="3000"/>
              </a:srgbClr>
            </a:solidFill>
          </a:ln>
        </p:spPr>
        <p:txBody>
          <a:bodyPr/>
          <a:lstStyle/>
          <a:p>
            <a:endParaRPr lang="en-US"/>
          </a:p>
        </p:txBody>
      </p:sp>
      <p:sp>
        <p:nvSpPr>
          <p:cNvPr id="8" name="Line 8"/>
          <p:cNvSpPr/>
          <p:nvPr/>
        </p:nvSpPr>
        <p:spPr>
          <a:xfrm>
            <a:off x="9144000" y="0"/>
            <a:ext cx="9525" cy="6858000"/>
          </a:xfrm>
          <a:custGeom>
            <a:avLst/>
            <a:gdLst/>
            <a:ahLst/>
            <a:cxnLst/>
            <a:rect l="l" t="t" r="r" b="b"/>
            <a:pathLst>
              <a:path w="9525" h="6858000">
                <a:moveTo>
                  <a:pt x="0" y="0"/>
                </a:moveTo>
                <a:lnTo>
                  <a:pt x="0" y="6858000"/>
                </a:lnTo>
              </a:path>
            </a:pathLst>
          </a:custGeom>
          <a:noFill/>
          <a:ln w="9525">
            <a:solidFill>
              <a:srgbClr val="FFFFFF">
                <a:alpha val="3000"/>
              </a:srgbClr>
            </a:solidFill>
          </a:ln>
        </p:spPr>
        <p:txBody>
          <a:bodyPr/>
          <a:lstStyle/>
          <a:p>
            <a:endParaRPr lang="en-US"/>
          </a:p>
        </p:txBody>
      </p:sp>
      <p:sp>
        <p:nvSpPr>
          <p:cNvPr id="9" name="Ellipse 9"/>
          <p:cNvSpPr/>
          <p:nvPr/>
        </p:nvSpPr>
        <p:spPr>
          <a:xfrm>
            <a:off x="2286000" y="1047750"/>
            <a:ext cx="7620000" cy="4762500"/>
          </a:xfrm>
          <a:prstGeom prst="ellipse">
            <a:avLst/>
          </a:prstGeom>
          <a:gradFill>
            <a:gsLst>
              <a:gs pos="0">
                <a:srgbClr val="D97757">
                  <a:alpha val="25000"/>
                </a:srgbClr>
              </a:gs>
              <a:gs pos="100000">
                <a:srgbClr val="D97757">
                  <a:alpha val="0"/>
                </a:srgbClr>
              </a:gs>
            </a:gsLst>
            <a:path path="circle">
              <a:fillToRect l="50000" t="50000" r="50000" b="50000"/>
            </a:path>
          </a:gradFill>
          <a:ln>
            <a:noFill/>
          </a:ln>
        </p:spPr>
        <p:txBody>
          <a:bodyPr/>
          <a:lstStyle/>
          <a:p>
            <a:endParaRPr lang="en-US"/>
          </a:p>
        </p:txBody>
      </p:sp>
      <p:sp>
        <p:nvSpPr>
          <p:cNvPr id="10" name="TextBox 10"/>
          <p:cNvSpPr txBox="1"/>
          <p:nvPr/>
        </p:nvSpPr>
        <p:spPr>
          <a:xfrm>
            <a:off x="5554980" y="822960"/>
            <a:ext cx="1082040" cy="243840"/>
          </a:xfrm>
          <a:prstGeom prst="rect">
            <a:avLst/>
          </a:prstGeom>
          <a:noFill/>
          <a:ln>
            <a:noFill/>
          </a:ln>
        </p:spPr>
        <p:txBody>
          <a:bodyPr wrap="none" lIns="0" tIns="0" rIns="0" bIns="0" anchor="t" anchorCtr="0">
            <a:spAutoFit/>
          </a:bodyPr>
          <a:lstStyle/>
          <a:p>
            <a:pPr algn="ctr"/>
            <a:r>
              <a:rPr lang="zh-CN" sz="1200" dirty="0">
                <a:solidFill>
                  <a:srgbClr val="D97757"/>
                </a:solidFill>
                <a:latin typeface="Arial"/>
                <a:ea typeface="Microsoft YaHei"/>
                <a:cs typeface="Arial"/>
              </a:rPr>
              <a:t>GOLDEN RULE</a:t>
            </a:r>
          </a:p>
        </p:txBody>
      </p:sp>
      <p:sp>
        <p:nvSpPr>
          <p:cNvPr id="11" name="Rectangle 11"/>
          <p:cNvSpPr/>
          <p:nvPr/>
        </p:nvSpPr>
        <p:spPr>
          <a:xfrm>
            <a:off x="5143500" y="1143000"/>
            <a:ext cx="1905000" cy="28575"/>
          </a:xfrm>
          <a:prstGeom prst="rect">
            <a:avLst/>
          </a:prstGeom>
          <a:gradFill>
            <a:gsLst>
              <a:gs pos="0">
                <a:srgbClr val="D97757"/>
              </a:gs>
              <a:gs pos="100000">
                <a:srgbClr val="E8956F"/>
              </a:gs>
            </a:gsLst>
            <a:lin ang="0" scaled="1"/>
          </a:gradFill>
          <a:ln>
            <a:noFill/>
          </a:ln>
        </p:spPr>
        <p:txBody>
          <a:bodyPr/>
          <a:lstStyle/>
          <a:p>
            <a:endParaRPr lang="en-US"/>
          </a:p>
        </p:txBody>
      </p:sp>
      <p:sp>
        <p:nvSpPr>
          <p:cNvPr id="12" name="Ellipse 12"/>
          <p:cNvSpPr/>
          <p:nvPr/>
        </p:nvSpPr>
        <p:spPr>
          <a:xfrm>
            <a:off x="5619750" y="1524000"/>
            <a:ext cx="952500" cy="952500"/>
          </a:xfrm>
          <a:prstGeom prst="ellipse">
            <a:avLst/>
          </a:prstGeom>
          <a:solidFill>
            <a:srgbClr val="D97757">
              <a:alpha val="10000"/>
            </a:srgbClr>
          </a:solidFill>
          <a:ln>
            <a:noFill/>
          </a:ln>
        </p:spPr>
        <p:txBody>
          <a:bodyPr/>
          <a:lstStyle/>
          <a:p>
            <a:endParaRPr lang="en-US"/>
          </a:p>
        </p:txBody>
      </p:sp>
      <p:sp>
        <p:nvSpPr>
          <p:cNvPr id="13" name="Freeform 13"/>
          <p:cNvSpPr/>
          <p:nvPr/>
        </p:nvSpPr>
        <p:spPr>
          <a:xfrm>
            <a:off x="5895975" y="1771650"/>
            <a:ext cx="400050" cy="457200"/>
          </a:xfrm>
          <a:custGeom>
            <a:avLst/>
            <a:gdLst/>
            <a:ahLst/>
            <a:cxnLst/>
            <a:rect l="l" t="t" r="r" b="b"/>
            <a:pathLst>
              <a:path w="400050" h="457200">
                <a:moveTo>
                  <a:pt x="200025" y="457200"/>
                </a:moveTo>
                <a:lnTo>
                  <a:pt x="95729" y="382702"/>
                </a:lnTo>
                <a:cubicBezTo>
                  <a:pt x="35654" y="339791"/>
                  <a:pt x="0" y="270510"/>
                  <a:pt x="0" y="196683"/>
                </a:cubicBezTo>
                <a:lnTo>
                  <a:pt x="0" y="85725"/>
                </a:lnTo>
                <a:lnTo>
                  <a:pt x="200025" y="0"/>
                </a:lnTo>
                <a:lnTo>
                  <a:pt x="400050" y="85725"/>
                </a:lnTo>
                <a:lnTo>
                  <a:pt x="400050" y="196683"/>
                </a:lnTo>
                <a:cubicBezTo>
                  <a:pt x="400050" y="270510"/>
                  <a:pt x="364397" y="339791"/>
                  <a:pt x="304321" y="382702"/>
                </a:cubicBezTo>
                <a:lnTo>
                  <a:pt x="200025" y="457200"/>
                </a:lnTo>
                <a:close/>
                <a:moveTo>
                  <a:pt x="320243" y="163081"/>
                </a:moveTo>
                <a:lnTo>
                  <a:pt x="279832" y="122669"/>
                </a:lnTo>
                <a:lnTo>
                  <a:pt x="171450" y="231051"/>
                </a:lnTo>
                <a:lnTo>
                  <a:pt x="120218" y="179819"/>
                </a:lnTo>
                <a:lnTo>
                  <a:pt x="79807" y="220231"/>
                </a:lnTo>
                <a:lnTo>
                  <a:pt x="171450" y="311873"/>
                </a:lnTo>
                <a:lnTo>
                  <a:pt x="320243" y="163081"/>
                </a:lnTo>
                <a:close/>
              </a:path>
            </a:pathLst>
          </a:custGeom>
          <a:solidFill>
            <a:srgbClr val="D97757"/>
          </a:solidFill>
          <a:ln>
            <a:noFill/>
          </a:ln>
        </p:spPr>
        <p:txBody>
          <a:bodyPr/>
          <a:lstStyle/>
          <a:p>
            <a:endParaRPr lang="en-US"/>
          </a:p>
        </p:txBody>
      </p:sp>
      <p:sp>
        <p:nvSpPr>
          <p:cNvPr id="14" name="TextBox 14"/>
          <p:cNvSpPr txBox="1"/>
          <p:nvPr/>
        </p:nvSpPr>
        <p:spPr>
          <a:xfrm>
            <a:off x="4256056" y="2564130"/>
            <a:ext cx="3679889" cy="731520"/>
          </a:xfrm>
          <a:prstGeom prst="rect">
            <a:avLst/>
          </a:prstGeom>
          <a:noFill/>
          <a:ln>
            <a:noFill/>
          </a:ln>
        </p:spPr>
        <p:txBody>
          <a:bodyPr wrap="none" lIns="0" tIns="0" rIns="0" bIns="0" anchor="t" anchorCtr="0">
            <a:spAutoFit/>
          </a:bodyPr>
          <a:lstStyle/>
          <a:p>
            <a:pPr algn="ctr"/>
            <a:r>
              <a:rPr lang="zh-CN" sz="3600" b="1" dirty="0">
                <a:solidFill>
                  <a:srgbClr val="FFFFFF"/>
                </a:solidFill>
                <a:latin typeface="Arial"/>
                <a:ea typeface="Microsoft YaHei"/>
                <a:cs typeface="Arial"/>
              </a:rPr>
              <a:t>Never Commit</a:t>
            </a:r>
          </a:p>
        </p:txBody>
      </p:sp>
      <p:sp>
        <p:nvSpPr>
          <p:cNvPr id="15" name="TextBox 15"/>
          <p:cNvSpPr txBox="1"/>
          <p:nvPr/>
        </p:nvSpPr>
        <p:spPr>
          <a:xfrm>
            <a:off x="3911013" y="3135630"/>
            <a:ext cx="4369975" cy="731520"/>
          </a:xfrm>
          <a:prstGeom prst="rect">
            <a:avLst/>
          </a:prstGeom>
          <a:noFill/>
          <a:ln>
            <a:noFill/>
          </a:ln>
        </p:spPr>
        <p:txBody>
          <a:bodyPr wrap="none" lIns="0" tIns="0" rIns="0" bIns="0" anchor="t" anchorCtr="0">
            <a:spAutoFit/>
          </a:bodyPr>
          <a:lstStyle/>
          <a:p>
            <a:pPr algn="ctr"/>
            <a:r>
              <a:rPr lang="zh-CN" sz="3600" b="1" dirty="0">
                <a:solidFill>
                  <a:srgbClr val="D97757"/>
                </a:solidFill>
                <a:latin typeface="Arial"/>
                <a:ea typeface="Microsoft YaHei"/>
                <a:cs typeface="Arial"/>
              </a:rPr>
              <a:t>Directly to Main</a:t>
            </a:r>
          </a:p>
        </p:txBody>
      </p:sp>
      <p:sp>
        <p:nvSpPr>
          <p:cNvPr id="16" name="Rectangle 16"/>
          <p:cNvSpPr/>
          <p:nvPr/>
        </p:nvSpPr>
        <p:spPr>
          <a:xfrm>
            <a:off x="4191000" y="3810000"/>
            <a:ext cx="3810000" cy="28575"/>
          </a:xfrm>
          <a:prstGeom prst="rect">
            <a:avLst/>
          </a:prstGeom>
          <a:gradFill>
            <a:gsLst>
              <a:gs pos="0">
                <a:srgbClr val="D97757"/>
              </a:gs>
              <a:gs pos="100000">
                <a:srgbClr val="E8956F"/>
              </a:gs>
            </a:gsLst>
            <a:lin ang="0" scaled="1"/>
          </a:gradFill>
          <a:ln>
            <a:noFill/>
          </a:ln>
        </p:spPr>
        <p:txBody>
          <a:bodyPr/>
          <a:lstStyle/>
          <a:p>
            <a:endParaRPr lang="en-US"/>
          </a:p>
        </p:txBody>
      </p:sp>
      <p:sp>
        <p:nvSpPr>
          <p:cNvPr id="17" name="TextBox 17"/>
          <p:cNvSpPr txBox="1"/>
          <p:nvPr/>
        </p:nvSpPr>
        <p:spPr>
          <a:xfrm>
            <a:off x="4882182" y="4155758"/>
            <a:ext cx="2427637" cy="335280"/>
          </a:xfrm>
          <a:prstGeom prst="rect">
            <a:avLst/>
          </a:prstGeom>
          <a:noFill/>
          <a:ln>
            <a:noFill/>
          </a:ln>
        </p:spPr>
        <p:txBody>
          <a:bodyPr wrap="none" lIns="0" tIns="0" rIns="0" bIns="0" anchor="t" anchorCtr="0">
            <a:spAutoFit/>
          </a:bodyPr>
          <a:lstStyle/>
          <a:p>
            <a:pPr algn="ctr"/>
            <a:r>
              <a:rPr lang="zh-CN" sz="1650" dirty="0">
                <a:solidFill>
                  <a:srgbClr val="FFFFFF">
                    <a:alpha val="85000"/>
                  </a:srgbClr>
                </a:solidFill>
                <a:latin typeface="Arial"/>
                <a:ea typeface="Microsoft YaHei"/>
                <a:cs typeface="Arial"/>
              </a:rPr>
              <a:t>Main = The Game Plan</a:t>
            </a:r>
          </a:p>
        </p:txBody>
      </p:sp>
      <p:sp>
        <p:nvSpPr>
          <p:cNvPr id="18" name="TextBox 18"/>
          <p:cNvSpPr txBox="1"/>
          <p:nvPr/>
        </p:nvSpPr>
        <p:spPr>
          <a:xfrm>
            <a:off x="4906280" y="4489132"/>
            <a:ext cx="2379440" cy="335280"/>
          </a:xfrm>
          <a:prstGeom prst="rect">
            <a:avLst/>
          </a:prstGeom>
          <a:noFill/>
          <a:ln>
            <a:noFill/>
          </a:ln>
        </p:spPr>
        <p:txBody>
          <a:bodyPr wrap="none" lIns="0" tIns="0" rIns="0" bIns="0" anchor="t" anchorCtr="0">
            <a:spAutoFit/>
          </a:bodyPr>
          <a:lstStyle/>
          <a:p>
            <a:pPr algn="ctr"/>
            <a:r>
              <a:rPr lang="zh-CN" sz="1650" dirty="0">
                <a:solidFill>
                  <a:srgbClr val="FFFFFF">
                    <a:alpha val="85000"/>
                  </a:srgbClr>
                </a:solidFill>
                <a:latin typeface="Arial"/>
                <a:ea typeface="Microsoft YaHei"/>
                <a:cs typeface="Arial"/>
              </a:rPr>
              <a:t>Branches = Practice</a:t>
            </a:r>
          </a:p>
        </p:txBody>
      </p:sp>
      <p:sp>
        <p:nvSpPr>
          <p:cNvPr id="19" name="Rectangle 19"/>
          <p:cNvSpPr/>
          <p:nvPr/>
        </p:nvSpPr>
        <p:spPr>
          <a:xfrm>
            <a:off x="2762250" y="5048250"/>
            <a:ext cx="6667500" cy="571500"/>
          </a:xfrm>
          <a:prstGeom prst="rect">
            <a:avLst/>
          </a:prstGeom>
          <a:solidFill>
            <a:srgbClr val="FFFFFF">
              <a:alpha val="5000"/>
            </a:srgbClr>
          </a:solidFill>
          <a:ln w="19050">
            <a:solidFill>
              <a:srgbClr val="D97757"/>
            </a:solidFill>
          </a:ln>
        </p:spPr>
        <p:txBody>
          <a:bodyPr/>
          <a:lstStyle/>
          <a:p>
            <a:endParaRPr lang="en-US"/>
          </a:p>
        </p:txBody>
      </p:sp>
      <p:sp>
        <p:nvSpPr>
          <p:cNvPr id="20" name="TextBox 20"/>
          <p:cNvSpPr txBox="1"/>
          <p:nvPr/>
        </p:nvSpPr>
        <p:spPr>
          <a:xfrm>
            <a:off x="3371374" y="5248275"/>
            <a:ext cx="5449252" cy="304800"/>
          </a:xfrm>
          <a:prstGeom prst="rect">
            <a:avLst/>
          </a:prstGeom>
          <a:noFill/>
          <a:ln>
            <a:noFill/>
          </a:ln>
        </p:spPr>
        <p:txBody>
          <a:bodyPr wrap="none" lIns="0" tIns="0" rIns="0" bIns="0" anchor="t" anchorCtr="0">
            <a:spAutoFit/>
          </a:bodyPr>
          <a:lstStyle/>
          <a:p>
            <a:pPr algn="ctr"/>
            <a:r>
              <a:rPr lang="zh-CN" sz="1500" dirty="0">
                <a:solidFill>
                  <a:srgbClr val="FFFFFF">
                    <a:alpha val="90000"/>
                  </a:srgbClr>
                </a:solidFill>
                <a:latin typeface="Arial"/>
                <a:ea typeface="Microsoft YaHei"/>
                <a:cs typeface="Arial"/>
              </a:rPr>
              <a:t>"No one puts an untested play into the game plan."</a:t>
            </a:r>
          </a:p>
        </p:txBody>
      </p:sp>
      <p:sp>
        <p:nvSpPr>
          <p:cNvPr id="21" name="TextBox 21"/>
          <p:cNvSpPr txBox="1"/>
          <p:nvPr/>
        </p:nvSpPr>
        <p:spPr>
          <a:xfrm>
            <a:off x="3009328" y="5966460"/>
            <a:ext cx="6173343" cy="243840"/>
          </a:xfrm>
          <a:prstGeom prst="rect">
            <a:avLst/>
          </a:prstGeom>
          <a:noFill/>
          <a:ln>
            <a:noFill/>
          </a:ln>
        </p:spPr>
        <p:txBody>
          <a:bodyPr wrap="none" lIns="0" tIns="0" rIns="0" bIns="0" anchor="t" anchorCtr="0">
            <a:spAutoFit/>
          </a:bodyPr>
          <a:lstStyle/>
          <a:p>
            <a:pPr algn="ctr"/>
            <a:r>
              <a:rPr lang="zh-CN" sz="1200" dirty="0">
                <a:solidFill>
                  <a:srgbClr val="64748B"/>
                </a:solidFill>
                <a:latin typeface="Arial"/>
                <a:ea typeface="Microsoft YaHei"/>
                <a:cs typeface="Arial"/>
              </a:rPr>
              <a:t>Always branch first. Then PR to merge. The manager is the gatekeeper.</a:t>
            </a:r>
          </a:p>
        </p:txBody>
      </p:sp>
      <p:sp>
        <p:nvSpPr>
          <p:cNvPr id="22" name="TextBox 22"/>
          <p:cNvSpPr txBox="1"/>
          <p:nvPr/>
        </p:nvSpPr>
        <p:spPr>
          <a:xfrm>
            <a:off x="5887141" y="6411278"/>
            <a:ext cx="417719"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8 / 15</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sp>
        <p:nvSpPr>
          <p:cNvPr id="3" name="Rectangle 3"/>
          <p:cNvSpPr/>
          <p:nvPr/>
        </p:nvSpPr>
        <p:spPr>
          <a:xfrm>
            <a:off x="0" y="0"/>
            <a:ext cx="12192000" cy="57150"/>
          </a:xfrm>
          <a:prstGeom prst="rect">
            <a:avLst/>
          </a:prstGeom>
          <a:solidFill>
            <a:srgbClr val="D97757"/>
          </a:solidFill>
          <a:ln>
            <a:noFill/>
          </a:ln>
        </p:spPr>
        <p:txBody>
          <a:bodyPr/>
          <a:lstStyle/>
          <a:p>
            <a:endParaRPr lang="en-US"/>
          </a:p>
        </p:txBody>
      </p:sp>
      <p:sp>
        <p:nvSpPr>
          <p:cNvPr id="4" name="TextBox 4"/>
          <p:cNvSpPr txBox="1"/>
          <p:nvPr/>
        </p:nvSpPr>
        <p:spPr>
          <a:xfrm>
            <a:off x="558165" y="410528"/>
            <a:ext cx="747427" cy="213360"/>
          </a:xfrm>
          <a:prstGeom prst="rect">
            <a:avLst/>
          </a:prstGeom>
          <a:noFill/>
          <a:ln>
            <a:noFill/>
          </a:ln>
        </p:spPr>
        <p:txBody>
          <a:bodyPr wrap="none" lIns="0" tIns="0" rIns="0" bIns="0" anchor="t" anchorCtr="0">
            <a:spAutoFit/>
          </a:bodyPr>
          <a:lstStyle/>
          <a:p>
            <a:pPr algn="l"/>
            <a:r>
              <a:rPr lang="zh-CN" sz="1050" dirty="0">
                <a:solidFill>
                  <a:srgbClr val="D97757"/>
                </a:solidFill>
                <a:latin typeface="Arial"/>
                <a:ea typeface="Microsoft YaHei"/>
                <a:cs typeface="Arial"/>
              </a:rPr>
              <a:t>BRANCHING</a:t>
            </a:r>
          </a:p>
        </p:txBody>
      </p:sp>
      <p:sp>
        <p:nvSpPr>
          <p:cNvPr id="5" name="TextBox 5"/>
          <p:cNvSpPr txBox="1"/>
          <p:nvPr/>
        </p:nvSpPr>
        <p:spPr>
          <a:xfrm>
            <a:off x="541020" y="693420"/>
            <a:ext cx="8268386" cy="487680"/>
          </a:xfrm>
          <a:prstGeom prst="rect">
            <a:avLst/>
          </a:prstGeom>
          <a:noFill/>
          <a:ln>
            <a:noFill/>
          </a:ln>
        </p:spPr>
        <p:txBody>
          <a:bodyPr wrap="none" lIns="0" tIns="0" rIns="0" bIns="0" anchor="t" anchorCtr="0">
            <a:spAutoFit/>
          </a:bodyPr>
          <a:lstStyle/>
          <a:p>
            <a:pPr algn="l"/>
            <a:r>
              <a:rPr lang="zh-CN" sz="2400" b="1" dirty="0">
                <a:solidFill>
                  <a:srgbClr val="1A1A2E"/>
                </a:solidFill>
                <a:latin typeface="Arial"/>
                <a:ea typeface="Microsoft YaHei"/>
                <a:cs typeface="Arial"/>
              </a:rPr>
              <a:t>Branches Keep Main Safe While You Experiment</a:t>
            </a:r>
          </a:p>
        </p:txBody>
      </p:sp>
      <p:sp>
        <p:nvSpPr>
          <p:cNvPr id="6" name="TextBox 6"/>
          <p:cNvSpPr txBox="1"/>
          <p:nvPr/>
        </p:nvSpPr>
        <p:spPr>
          <a:xfrm>
            <a:off x="746760" y="1680210"/>
            <a:ext cx="426129" cy="243840"/>
          </a:xfrm>
          <a:prstGeom prst="rect">
            <a:avLst/>
          </a:prstGeom>
          <a:noFill/>
          <a:ln>
            <a:noFill/>
          </a:ln>
        </p:spPr>
        <p:txBody>
          <a:bodyPr wrap="none" lIns="0" tIns="0" rIns="0" bIns="0" anchor="t" anchorCtr="0">
            <a:spAutoFit/>
          </a:bodyPr>
          <a:lstStyle/>
          <a:p>
            <a:pPr algn="l"/>
            <a:r>
              <a:rPr lang="zh-CN" sz="1200" b="1" dirty="0">
                <a:solidFill>
                  <a:srgbClr val="10B981"/>
                </a:solidFill>
                <a:latin typeface="Arial"/>
                <a:ea typeface="Microsoft YaHei"/>
                <a:cs typeface="Arial"/>
              </a:rPr>
              <a:t>main</a:t>
            </a:r>
          </a:p>
        </p:txBody>
      </p:sp>
      <p:sp>
        <p:nvSpPr>
          <p:cNvPr id="7" name="Line 7"/>
          <p:cNvSpPr/>
          <p:nvPr/>
        </p:nvSpPr>
        <p:spPr>
          <a:xfrm>
            <a:off x="1333500" y="1762125"/>
            <a:ext cx="9144000" cy="9525"/>
          </a:xfrm>
          <a:custGeom>
            <a:avLst/>
            <a:gdLst/>
            <a:ahLst/>
            <a:cxnLst/>
            <a:rect l="l" t="t" r="r" b="b"/>
            <a:pathLst>
              <a:path w="9144000" h="9525">
                <a:moveTo>
                  <a:pt x="0" y="0"/>
                </a:moveTo>
                <a:lnTo>
                  <a:pt x="9144000" y="0"/>
                </a:lnTo>
              </a:path>
            </a:pathLst>
          </a:custGeom>
          <a:noFill/>
          <a:ln w="38100">
            <a:solidFill>
              <a:srgbClr val="10B981"/>
            </a:solidFill>
          </a:ln>
        </p:spPr>
        <p:txBody>
          <a:bodyPr/>
          <a:lstStyle/>
          <a:p>
            <a:endParaRPr lang="en-US"/>
          </a:p>
        </p:txBody>
      </p:sp>
      <p:sp>
        <p:nvSpPr>
          <p:cNvPr id="8" name="Ellipse 8"/>
          <p:cNvSpPr/>
          <p:nvPr/>
        </p:nvSpPr>
        <p:spPr>
          <a:xfrm>
            <a:off x="1809750" y="1666875"/>
            <a:ext cx="190500" cy="190500"/>
          </a:xfrm>
          <a:prstGeom prst="ellipse">
            <a:avLst/>
          </a:prstGeom>
          <a:solidFill>
            <a:srgbClr val="10B981"/>
          </a:solidFill>
          <a:ln>
            <a:noFill/>
          </a:ln>
        </p:spPr>
        <p:txBody>
          <a:bodyPr/>
          <a:lstStyle/>
          <a:p>
            <a:endParaRPr lang="en-US"/>
          </a:p>
        </p:txBody>
      </p:sp>
      <p:sp>
        <p:nvSpPr>
          <p:cNvPr id="9" name="Ellipse 9"/>
          <p:cNvSpPr/>
          <p:nvPr/>
        </p:nvSpPr>
        <p:spPr>
          <a:xfrm>
            <a:off x="3714750" y="1666875"/>
            <a:ext cx="190500" cy="190500"/>
          </a:xfrm>
          <a:prstGeom prst="ellipse">
            <a:avLst/>
          </a:prstGeom>
          <a:solidFill>
            <a:srgbClr val="10B981"/>
          </a:solidFill>
          <a:ln>
            <a:noFill/>
          </a:ln>
        </p:spPr>
        <p:txBody>
          <a:bodyPr/>
          <a:lstStyle/>
          <a:p>
            <a:endParaRPr lang="en-US"/>
          </a:p>
        </p:txBody>
      </p:sp>
      <p:sp>
        <p:nvSpPr>
          <p:cNvPr id="10" name="Ellipse 10"/>
          <p:cNvSpPr/>
          <p:nvPr/>
        </p:nvSpPr>
        <p:spPr>
          <a:xfrm>
            <a:off x="9429750" y="1666875"/>
            <a:ext cx="190500" cy="190500"/>
          </a:xfrm>
          <a:prstGeom prst="ellipse">
            <a:avLst/>
          </a:prstGeom>
          <a:solidFill>
            <a:srgbClr val="10B981"/>
          </a:solidFill>
          <a:ln>
            <a:noFill/>
          </a:ln>
        </p:spPr>
        <p:txBody>
          <a:bodyPr/>
          <a:lstStyle/>
          <a:p>
            <a:endParaRPr lang="en-US"/>
          </a:p>
        </p:txBody>
      </p:sp>
      <p:sp>
        <p:nvSpPr>
          <p:cNvPr id="11" name="TextBox 11"/>
          <p:cNvSpPr txBox="1"/>
          <p:nvPr/>
        </p:nvSpPr>
        <p:spPr>
          <a:xfrm>
            <a:off x="1722822" y="1530191"/>
            <a:ext cx="364355"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initial</a:t>
            </a:r>
          </a:p>
        </p:txBody>
      </p:sp>
      <p:sp>
        <p:nvSpPr>
          <p:cNvPr id="12" name="TextBox 12"/>
          <p:cNvSpPr txBox="1"/>
          <p:nvPr/>
        </p:nvSpPr>
        <p:spPr>
          <a:xfrm>
            <a:off x="3498294" y="1530191"/>
            <a:ext cx="623411"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.gitignore</a:t>
            </a:r>
          </a:p>
        </p:txBody>
      </p:sp>
      <p:sp>
        <p:nvSpPr>
          <p:cNvPr id="13" name="TextBox 13"/>
          <p:cNvSpPr txBox="1"/>
          <p:nvPr/>
        </p:nvSpPr>
        <p:spPr>
          <a:xfrm>
            <a:off x="9274142" y="1530191"/>
            <a:ext cx="501715" cy="167640"/>
          </a:xfrm>
          <a:prstGeom prst="rect">
            <a:avLst/>
          </a:prstGeom>
          <a:noFill/>
          <a:ln>
            <a:noFill/>
          </a:ln>
        </p:spPr>
        <p:txBody>
          <a:bodyPr wrap="none" lIns="0" tIns="0" rIns="0" bIns="0" anchor="t" anchorCtr="0">
            <a:spAutoFit/>
          </a:bodyPr>
          <a:lstStyle/>
          <a:p>
            <a:pPr algn="ctr"/>
            <a:r>
              <a:rPr lang="zh-CN" sz="825" b="1" dirty="0">
                <a:solidFill>
                  <a:srgbClr val="10B981"/>
                </a:solidFill>
                <a:latin typeface="Arial"/>
                <a:ea typeface="Microsoft YaHei"/>
                <a:cs typeface="Arial"/>
              </a:rPr>
              <a:t>merged!</a:t>
            </a:r>
          </a:p>
        </p:txBody>
      </p:sp>
      <p:sp>
        <p:nvSpPr>
          <p:cNvPr id="14" name="Freeform 14"/>
          <p:cNvSpPr/>
          <p:nvPr/>
        </p:nvSpPr>
        <p:spPr>
          <a:xfrm>
            <a:off x="3810000" y="1762125"/>
            <a:ext cx="1428750" cy="809625"/>
          </a:xfrm>
          <a:custGeom>
            <a:avLst/>
            <a:gdLst/>
            <a:ahLst/>
            <a:cxnLst/>
            <a:rect l="l" t="t" r="r" b="b"/>
            <a:pathLst>
              <a:path w="1428750" h="809625">
                <a:moveTo>
                  <a:pt x="0" y="0"/>
                </a:moveTo>
                <a:cubicBezTo>
                  <a:pt x="317500" y="349250"/>
                  <a:pt x="793750" y="619125"/>
                  <a:pt x="1428750" y="809625"/>
                </a:cubicBezTo>
              </a:path>
            </a:pathLst>
          </a:custGeom>
          <a:noFill/>
          <a:ln w="28575">
            <a:solidFill>
              <a:srgbClr val="4A90D9"/>
            </a:solidFill>
          </a:ln>
        </p:spPr>
        <p:txBody>
          <a:bodyPr/>
          <a:lstStyle/>
          <a:p>
            <a:endParaRPr lang="en-US"/>
          </a:p>
        </p:txBody>
      </p:sp>
      <p:sp>
        <p:nvSpPr>
          <p:cNvPr id="15" name="Line 15"/>
          <p:cNvSpPr/>
          <p:nvPr/>
        </p:nvSpPr>
        <p:spPr>
          <a:xfrm>
            <a:off x="5238750" y="2571750"/>
            <a:ext cx="2857500" cy="9525"/>
          </a:xfrm>
          <a:custGeom>
            <a:avLst/>
            <a:gdLst/>
            <a:ahLst/>
            <a:cxnLst/>
            <a:rect l="l" t="t" r="r" b="b"/>
            <a:pathLst>
              <a:path w="2857500" h="9525">
                <a:moveTo>
                  <a:pt x="0" y="0"/>
                </a:moveTo>
                <a:lnTo>
                  <a:pt x="2857500" y="0"/>
                </a:lnTo>
              </a:path>
            </a:pathLst>
          </a:custGeom>
          <a:noFill/>
          <a:ln w="28575">
            <a:solidFill>
              <a:srgbClr val="4A90D9"/>
            </a:solidFill>
          </a:ln>
        </p:spPr>
        <p:txBody>
          <a:bodyPr/>
          <a:lstStyle/>
          <a:p>
            <a:endParaRPr lang="en-US"/>
          </a:p>
        </p:txBody>
      </p:sp>
      <p:sp>
        <p:nvSpPr>
          <p:cNvPr id="16" name="Freeform 16"/>
          <p:cNvSpPr/>
          <p:nvPr/>
        </p:nvSpPr>
        <p:spPr>
          <a:xfrm>
            <a:off x="8096250" y="1762125"/>
            <a:ext cx="1428750" cy="809625"/>
          </a:xfrm>
          <a:custGeom>
            <a:avLst/>
            <a:gdLst/>
            <a:ahLst/>
            <a:cxnLst/>
            <a:rect l="l" t="t" r="r" b="b"/>
            <a:pathLst>
              <a:path w="1428750" h="809625">
                <a:moveTo>
                  <a:pt x="0" y="809625"/>
                </a:moveTo>
                <a:cubicBezTo>
                  <a:pt x="444500" y="682625"/>
                  <a:pt x="920750" y="412750"/>
                  <a:pt x="1428750" y="0"/>
                </a:cubicBezTo>
              </a:path>
            </a:pathLst>
          </a:custGeom>
          <a:noFill/>
          <a:ln w="28575">
            <a:solidFill>
              <a:srgbClr val="4A90D9"/>
            </a:solidFill>
            <a:prstDash val="lgDash"/>
          </a:ln>
        </p:spPr>
        <p:txBody>
          <a:bodyPr/>
          <a:lstStyle/>
          <a:p>
            <a:endParaRPr lang="en-US"/>
          </a:p>
        </p:txBody>
      </p:sp>
      <p:sp>
        <p:nvSpPr>
          <p:cNvPr id="17" name="Ellipse 17"/>
          <p:cNvSpPr/>
          <p:nvPr/>
        </p:nvSpPr>
        <p:spPr>
          <a:xfrm>
            <a:off x="5162550" y="2495550"/>
            <a:ext cx="152400" cy="152400"/>
          </a:xfrm>
          <a:prstGeom prst="ellipse">
            <a:avLst/>
          </a:prstGeom>
          <a:solidFill>
            <a:srgbClr val="4A90D9"/>
          </a:solidFill>
          <a:ln>
            <a:noFill/>
          </a:ln>
        </p:spPr>
        <p:txBody>
          <a:bodyPr/>
          <a:lstStyle/>
          <a:p>
            <a:endParaRPr lang="en-US"/>
          </a:p>
        </p:txBody>
      </p:sp>
      <p:sp>
        <p:nvSpPr>
          <p:cNvPr id="18" name="Ellipse 18"/>
          <p:cNvSpPr/>
          <p:nvPr/>
        </p:nvSpPr>
        <p:spPr>
          <a:xfrm>
            <a:off x="6591300" y="2495550"/>
            <a:ext cx="152400" cy="152400"/>
          </a:xfrm>
          <a:prstGeom prst="ellipse">
            <a:avLst/>
          </a:prstGeom>
          <a:solidFill>
            <a:srgbClr val="4A90D9"/>
          </a:solidFill>
          <a:ln>
            <a:noFill/>
          </a:ln>
        </p:spPr>
        <p:txBody>
          <a:bodyPr/>
          <a:lstStyle/>
          <a:p>
            <a:endParaRPr lang="en-US"/>
          </a:p>
        </p:txBody>
      </p:sp>
      <p:sp>
        <p:nvSpPr>
          <p:cNvPr id="19" name="Ellipse 19"/>
          <p:cNvSpPr/>
          <p:nvPr/>
        </p:nvSpPr>
        <p:spPr>
          <a:xfrm>
            <a:off x="8020050" y="2495550"/>
            <a:ext cx="152400" cy="152400"/>
          </a:xfrm>
          <a:prstGeom prst="ellipse">
            <a:avLst/>
          </a:prstGeom>
          <a:solidFill>
            <a:srgbClr val="4A90D9"/>
          </a:solidFill>
          <a:ln>
            <a:noFill/>
          </a:ln>
        </p:spPr>
        <p:txBody>
          <a:bodyPr/>
          <a:lstStyle/>
          <a:p>
            <a:endParaRPr lang="en-US"/>
          </a:p>
        </p:txBody>
      </p:sp>
      <p:sp>
        <p:nvSpPr>
          <p:cNvPr id="20" name="TextBox 20"/>
          <p:cNvSpPr txBox="1"/>
          <p:nvPr/>
        </p:nvSpPr>
        <p:spPr>
          <a:xfrm>
            <a:off x="748665" y="2506028"/>
            <a:ext cx="743210" cy="213360"/>
          </a:xfrm>
          <a:prstGeom prst="rect">
            <a:avLst/>
          </a:prstGeom>
          <a:noFill/>
          <a:ln>
            <a:noFill/>
          </a:ln>
        </p:spPr>
        <p:txBody>
          <a:bodyPr wrap="none" lIns="0" tIns="0" rIns="0" bIns="0" anchor="t" anchorCtr="0">
            <a:spAutoFit/>
          </a:bodyPr>
          <a:lstStyle/>
          <a:p>
            <a:pPr algn="l"/>
            <a:r>
              <a:rPr lang="zh-CN" sz="1050" b="1" dirty="0">
                <a:solidFill>
                  <a:srgbClr val="4A90D9"/>
                </a:solidFill>
                <a:latin typeface="Arial"/>
                <a:ea typeface="Microsoft YaHei"/>
                <a:cs typeface="Arial"/>
              </a:rPr>
              <a:t>analysis/</a:t>
            </a:r>
          </a:p>
        </p:txBody>
      </p:sp>
      <p:sp>
        <p:nvSpPr>
          <p:cNvPr id="21" name="TextBox 21"/>
          <p:cNvSpPr txBox="1"/>
          <p:nvPr/>
        </p:nvSpPr>
        <p:spPr>
          <a:xfrm>
            <a:off x="748665" y="2677478"/>
            <a:ext cx="944485" cy="213360"/>
          </a:xfrm>
          <a:prstGeom prst="rect">
            <a:avLst/>
          </a:prstGeom>
          <a:noFill/>
          <a:ln>
            <a:noFill/>
          </a:ln>
        </p:spPr>
        <p:txBody>
          <a:bodyPr wrap="none" lIns="0" tIns="0" rIns="0" bIns="0" anchor="t" anchorCtr="0">
            <a:spAutoFit/>
          </a:bodyPr>
          <a:lstStyle/>
          <a:p>
            <a:pPr algn="l"/>
            <a:r>
              <a:rPr lang="zh-CN" sz="1050" b="1" dirty="0">
                <a:solidFill>
                  <a:srgbClr val="4A90D9"/>
                </a:solidFill>
                <a:latin typeface="Arial"/>
                <a:ea typeface="Microsoft YaHei"/>
                <a:cs typeface="Arial"/>
              </a:rPr>
              <a:t>engagement</a:t>
            </a:r>
          </a:p>
        </p:txBody>
      </p:sp>
      <p:sp>
        <p:nvSpPr>
          <p:cNvPr id="22" name="TextBox 22"/>
          <p:cNvSpPr txBox="1"/>
          <p:nvPr/>
        </p:nvSpPr>
        <p:spPr>
          <a:xfrm>
            <a:off x="4875836" y="2768441"/>
            <a:ext cx="725829"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add analysis</a:t>
            </a:r>
          </a:p>
        </p:txBody>
      </p:sp>
      <p:sp>
        <p:nvSpPr>
          <p:cNvPr id="23" name="TextBox 23"/>
          <p:cNvSpPr txBox="1"/>
          <p:nvPr/>
        </p:nvSpPr>
        <p:spPr>
          <a:xfrm>
            <a:off x="6373868" y="2768441"/>
            <a:ext cx="587264"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add chart</a:t>
            </a:r>
          </a:p>
        </p:txBody>
      </p:sp>
      <p:sp>
        <p:nvSpPr>
          <p:cNvPr id="24" name="TextBox 24"/>
          <p:cNvSpPr txBox="1"/>
          <p:nvPr/>
        </p:nvSpPr>
        <p:spPr>
          <a:xfrm>
            <a:off x="7718274" y="2768441"/>
            <a:ext cx="755952" cy="167640"/>
          </a:xfrm>
          <a:prstGeom prst="rect">
            <a:avLst/>
          </a:prstGeom>
          <a:noFill/>
          <a:ln>
            <a:noFill/>
          </a:ln>
        </p:spPr>
        <p:txBody>
          <a:bodyPr wrap="none" lIns="0" tIns="0" rIns="0" bIns="0" anchor="t" anchorCtr="0">
            <a:spAutoFit/>
          </a:bodyPr>
          <a:lstStyle/>
          <a:p>
            <a:pPr algn="ctr"/>
            <a:r>
              <a:rPr lang="zh-CN" sz="825" dirty="0">
                <a:solidFill>
                  <a:srgbClr val="64748B"/>
                </a:solidFill>
                <a:latin typeface="Arial"/>
                <a:ea typeface="Microsoft YaHei"/>
                <a:cs typeface="Arial"/>
              </a:rPr>
              <a:t>revise notes</a:t>
            </a:r>
          </a:p>
        </p:txBody>
      </p:sp>
      <p:sp>
        <p:nvSpPr>
          <p:cNvPr id="25" name="Rectangle 25"/>
          <p:cNvSpPr/>
          <p:nvPr/>
        </p:nvSpPr>
        <p:spPr>
          <a:xfrm>
            <a:off x="8667750" y="2047875"/>
            <a:ext cx="285750" cy="190500"/>
          </a:xfrm>
          <a:prstGeom prst="rect">
            <a:avLst/>
          </a:prstGeom>
          <a:solidFill>
            <a:srgbClr val="D97757">
              <a:alpha val="30000"/>
            </a:srgbClr>
          </a:solidFill>
          <a:ln>
            <a:noFill/>
          </a:ln>
        </p:spPr>
        <p:txBody>
          <a:bodyPr/>
          <a:lstStyle/>
          <a:p>
            <a:endParaRPr lang="en-US"/>
          </a:p>
        </p:txBody>
      </p:sp>
      <p:sp>
        <p:nvSpPr>
          <p:cNvPr id="26" name="TextBox 26"/>
          <p:cNvSpPr txBox="1"/>
          <p:nvPr/>
        </p:nvSpPr>
        <p:spPr>
          <a:xfrm>
            <a:off x="8737842" y="2109788"/>
            <a:ext cx="145566" cy="152400"/>
          </a:xfrm>
          <a:prstGeom prst="rect">
            <a:avLst/>
          </a:prstGeom>
          <a:noFill/>
          <a:ln>
            <a:noFill/>
          </a:ln>
        </p:spPr>
        <p:txBody>
          <a:bodyPr wrap="none" lIns="0" tIns="0" rIns="0" bIns="0" anchor="t" anchorCtr="0">
            <a:spAutoFit/>
          </a:bodyPr>
          <a:lstStyle/>
          <a:p>
            <a:pPr algn="ctr"/>
            <a:r>
              <a:rPr lang="zh-CN" sz="750" b="1" dirty="0">
                <a:solidFill>
                  <a:srgbClr val="D97757"/>
                </a:solidFill>
                <a:latin typeface="Arial"/>
                <a:ea typeface="Microsoft YaHei"/>
                <a:cs typeface="Arial"/>
              </a:rPr>
              <a:t>PR</a:t>
            </a:r>
          </a:p>
        </p:txBody>
      </p:sp>
      <p:sp>
        <p:nvSpPr>
          <p:cNvPr id="27" name="TextBox 27"/>
          <p:cNvSpPr txBox="1"/>
          <p:nvPr/>
        </p:nvSpPr>
        <p:spPr>
          <a:xfrm>
            <a:off x="3161426" y="3378518"/>
            <a:ext cx="1297148" cy="274320"/>
          </a:xfrm>
          <a:prstGeom prst="rect">
            <a:avLst/>
          </a:prstGeom>
          <a:noFill/>
          <a:ln>
            <a:noFill/>
          </a:ln>
        </p:spPr>
        <p:txBody>
          <a:bodyPr wrap="none" lIns="0" tIns="0" rIns="0" bIns="0" anchor="t" anchorCtr="0">
            <a:spAutoFit/>
          </a:bodyPr>
          <a:lstStyle/>
          <a:p>
            <a:pPr algn="ctr"/>
            <a:r>
              <a:rPr lang="zh-CN" sz="1350" b="1" dirty="0">
                <a:solidFill>
                  <a:srgbClr val="1A1A2E"/>
                </a:solidFill>
                <a:latin typeface="Arial"/>
                <a:ea typeface="Microsoft YaHei"/>
                <a:cs typeface="Arial"/>
              </a:rPr>
              <a:t>Files on Main</a:t>
            </a:r>
          </a:p>
        </p:txBody>
      </p:sp>
      <p:sp>
        <p:nvSpPr>
          <p:cNvPr id="28" name="TextBox 28"/>
          <p:cNvSpPr txBox="1"/>
          <p:nvPr/>
        </p:nvSpPr>
        <p:spPr>
          <a:xfrm>
            <a:off x="7804886" y="3378518"/>
            <a:ext cx="1535228" cy="274320"/>
          </a:xfrm>
          <a:prstGeom prst="rect">
            <a:avLst/>
          </a:prstGeom>
          <a:noFill/>
          <a:ln>
            <a:noFill/>
          </a:ln>
        </p:spPr>
        <p:txBody>
          <a:bodyPr wrap="none" lIns="0" tIns="0" rIns="0" bIns="0" anchor="t" anchorCtr="0">
            <a:spAutoFit/>
          </a:bodyPr>
          <a:lstStyle/>
          <a:p>
            <a:pPr algn="ctr"/>
            <a:r>
              <a:rPr lang="zh-CN" sz="1350" b="1" dirty="0">
                <a:solidFill>
                  <a:srgbClr val="1A1A2E"/>
                </a:solidFill>
                <a:latin typeface="Arial"/>
                <a:ea typeface="Microsoft YaHei"/>
                <a:cs typeface="Arial"/>
              </a:rPr>
              <a:t>Files on Branch</a:t>
            </a:r>
          </a:p>
        </p:txBody>
      </p:sp>
      <p:sp>
        <p:nvSpPr>
          <p:cNvPr id="29" name="Rectangle 29"/>
          <p:cNvSpPr/>
          <p:nvPr/>
        </p:nvSpPr>
        <p:spPr>
          <a:xfrm>
            <a:off x="2190750" y="3714750"/>
            <a:ext cx="3238500" cy="476250"/>
          </a:xfrm>
          <a:prstGeom prst="rect">
            <a:avLst/>
          </a:prstGeom>
          <a:solidFill>
            <a:srgbClr val="10B981">
              <a:alpha val="6000"/>
            </a:srgbClr>
          </a:solidFill>
          <a:ln>
            <a:noFill/>
          </a:ln>
        </p:spPr>
        <p:txBody>
          <a:bodyPr/>
          <a:lstStyle/>
          <a:p>
            <a:endParaRPr lang="en-US"/>
          </a:p>
        </p:txBody>
      </p:sp>
      <p:sp>
        <p:nvSpPr>
          <p:cNvPr id="30" name="Freeform 30"/>
          <p:cNvSpPr/>
          <p:nvPr/>
        </p:nvSpPr>
        <p:spPr>
          <a:xfrm>
            <a:off x="2333625" y="3852862"/>
            <a:ext cx="228600" cy="185738"/>
          </a:xfrm>
          <a:custGeom>
            <a:avLst/>
            <a:gdLst/>
            <a:ahLst/>
            <a:cxnLst/>
            <a:rect l="l" t="t" r="r" b="b"/>
            <a:pathLst>
              <a:path w="228600" h="185738">
                <a:moveTo>
                  <a:pt x="0" y="0"/>
                </a:moveTo>
                <a:lnTo>
                  <a:pt x="85725" y="0"/>
                </a:lnTo>
                <a:lnTo>
                  <a:pt x="128588" y="42862"/>
                </a:lnTo>
                <a:lnTo>
                  <a:pt x="228600" y="42862"/>
                </a:lnTo>
                <a:lnTo>
                  <a:pt x="228600" y="185738"/>
                </a:lnTo>
                <a:lnTo>
                  <a:pt x="0" y="185738"/>
                </a:lnTo>
                <a:lnTo>
                  <a:pt x="0" y="0"/>
                </a:lnTo>
                <a:close/>
              </a:path>
            </a:pathLst>
          </a:custGeom>
          <a:solidFill>
            <a:srgbClr val="10B981"/>
          </a:solidFill>
          <a:ln>
            <a:noFill/>
          </a:ln>
        </p:spPr>
        <p:txBody>
          <a:bodyPr/>
          <a:lstStyle/>
          <a:p>
            <a:endParaRPr lang="en-US"/>
          </a:p>
        </p:txBody>
      </p:sp>
      <p:sp>
        <p:nvSpPr>
          <p:cNvPr id="31" name="TextBox 31"/>
          <p:cNvSpPr txBox="1"/>
          <p:nvPr/>
        </p:nvSpPr>
        <p:spPr>
          <a:xfrm>
            <a:off x="2651760" y="3870960"/>
            <a:ext cx="968121"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README.md</a:t>
            </a:r>
          </a:p>
        </p:txBody>
      </p:sp>
      <p:sp>
        <p:nvSpPr>
          <p:cNvPr id="32" name="Rectangle 32"/>
          <p:cNvSpPr/>
          <p:nvPr/>
        </p:nvSpPr>
        <p:spPr>
          <a:xfrm>
            <a:off x="2190750" y="4286250"/>
            <a:ext cx="3238500" cy="476250"/>
          </a:xfrm>
          <a:prstGeom prst="rect">
            <a:avLst/>
          </a:prstGeom>
          <a:solidFill>
            <a:srgbClr val="10B981">
              <a:alpha val="6000"/>
            </a:srgbClr>
          </a:solidFill>
          <a:ln>
            <a:noFill/>
          </a:ln>
        </p:spPr>
        <p:txBody>
          <a:bodyPr/>
          <a:lstStyle/>
          <a:p>
            <a:endParaRPr lang="en-US"/>
          </a:p>
        </p:txBody>
      </p:sp>
      <p:sp>
        <p:nvSpPr>
          <p:cNvPr id="33" name="Freeform 33"/>
          <p:cNvSpPr/>
          <p:nvPr/>
        </p:nvSpPr>
        <p:spPr>
          <a:xfrm>
            <a:off x="2333625" y="4424362"/>
            <a:ext cx="228600" cy="185738"/>
          </a:xfrm>
          <a:custGeom>
            <a:avLst/>
            <a:gdLst/>
            <a:ahLst/>
            <a:cxnLst/>
            <a:rect l="l" t="t" r="r" b="b"/>
            <a:pathLst>
              <a:path w="228600" h="185738">
                <a:moveTo>
                  <a:pt x="0" y="0"/>
                </a:moveTo>
                <a:lnTo>
                  <a:pt x="85725" y="0"/>
                </a:lnTo>
                <a:lnTo>
                  <a:pt x="128588" y="42862"/>
                </a:lnTo>
                <a:lnTo>
                  <a:pt x="228600" y="42862"/>
                </a:lnTo>
                <a:lnTo>
                  <a:pt x="228600" y="185738"/>
                </a:lnTo>
                <a:lnTo>
                  <a:pt x="0" y="185738"/>
                </a:lnTo>
                <a:lnTo>
                  <a:pt x="0" y="0"/>
                </a:lnTo>
                <a:close/>
              </a:path>
            </a:pathLst>
          </a:custGeom>
          <a:solidFill>
            <a:srgbClr val="10B981"/>
          </a:solidFill>
          <a:ln>
            <a:noFill/>
          </a:ln>
        </p:spPr>
        <p:txBody>
          <a:bodyPr/>
          <a:lstStyle/>
          <a:p>
            <a:endParaRPr lang="en-US"/>
          </a:p>
        </p:txBody>
      </p:sp>
      <p:sp>
        <p:nvSpPr>
          <p:cNvPr id="34" name="TextBox 34"/>
          <p:cNvSpPr txBox="1"/>
          <p:nvPr/>
        </p:nvSpPr>
        <p:spPr>
          <a:xfrm>
            <a:off x="2651760" y="4442460"/>
            <a:ext cx="906780"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.gitignore</a:t>
            </a:r>
          </a:p>
        </p:txBody>
      </p:sp>
      <p:sp>
        <p:nvSpPr>
          <p:cNvPr id="35" name="Rectangle 35"/>
          <p:cNvSpPr/>
          <p:nvPr/>
        </p:nvSpPr>
        <p:spPr>
          <a:xfrm>
            <a:off x="6953250" y="3714750"/>
            <a:ext cx="3238500" cy="476250"/>
          </a:xfrm>
          <a:prstGeom prst="rect">
            <a:avLst/>
          </a:prstGeom>
          <a:solidFill>
            <a:srgbClr val="4A90D9">
              <a:alpha val="6000"/>
            </a:srgbClr>
          </a:solidFill>
          <a:ln>
            <a:noFill/>
          </a:ln>
        </p:spPr>
        <p:txBody>
          <a:bodyPr/>
          <a:lstStyle/>
          <a:p>
            <a:endParaRPr lang="en-US"/>
          </a:p>
        </p:txBody>
      </p:sp>
      <p:sp>
        <p:nvSpPr>
          <p:cNvPr id="36" name="Freeform 36"/>
          <p:cNvSpPr/>
          <p:nvPr/>
        </p:nvSpPr>
        <p:spPr>
          <a:xfrm>
            <a:off x="7096125" y="3852862"/>
            <a:ext cx="228600" cy="185738"/>
          </a:xfrm>
          <a:custGeom>
            <a:avLst/>
            <a:gdLst/>
            <a:ahLst/>
            <a:cxnLst/>
            <a:rect l="l" t="t" r="r" b="b"/>
            <a:pathLst>
              <a:path w="228600" h="185738">
                <a:moveTo>
                  <a:pt x="0" y="0"/>
                </a:moveTo>
                <a:lnTo>
                  <a:pt x="85725" y="0"/>
                </a:lnTo>
                <a:lnTo>
                  <a:pt x="128588" y="42862"/>
                </a:lnTo>
                <a:lnTo>
                  <a:pt x="228600" y="42862"/>
                </a:lnTo>
                <a:lnTo>
                  <a:pt x="228600" y="185738"/>
                </a:lnTo>
                <a:lnTo>
                  <a:pt x="0" y="185738"/>
                </a:lnTo>
                <a:lnTo>
                  <a:pt x="0" y="0"/>
                </a:lnTo>
                <a:close/>
              </a:path>
            </a:pathLst>
          </a:custGeom>
          <a:solidFill>
            <a:srgbClr val="4A90D9"/>
          </a:solidFill>
          <a:ln>
            <a:noFill/>
          </a:ln>
        </p:spPr>
        <p:txBody>
          <a:bodyPr/>
          <a:lstStyle/>
          <a:p>
            <a:endParaRPr lang="en-US"/>
          </a:p>
        </p:txBody>
      </p:sp>
      <p:sp>
        <p:nvSpPr>
          <p:cNvPr id="37" name="TextBox 37"/>
          <p:cNvSpPr txBox="1"/>
          <p:nvPr/>
        </p:nvSpPr>
        <p:spPr>
          <a:xfrm>
            <a:off x="7414260" y="3870960"/>
            <a:ext cx="968121"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README.md</a:t>
            </a:r>
          </a:p>
        </p:txBody>
      </p:sp>
      <p:sp>
        <p:nvSpPr>
          <p:cNvPr id="38" name="Rectangle 38"/>
          <p:cNvSpPr/>
          <p:nvPr/>
        </p:nvSpPr>
        <p:spPr>
          <a:xfrm>
            <a:off x="6953250" y="4286250"/>
            <a:ext cx="3238500" cy="476250"/>
          </a:xfrm>
          <a:prstGeom prst="rect">
            <a:avLst/>
          </a:prstGeom>
          <a:solidFill>
            <a:srgbClr val="4A90D9">
              <a:alpha val="6000"/>
            </a:srgbClr>
          </a:solidFill>
          <a:ln>
            <a:noFill/>
          </a:ln>
        </p:spPr>
        <p:txBody>
          <a:bodyPr/>
          <a:lstStyle/>
          <a:p>
            <a:endParaRPr lang="en-US"/>
          </a:p>
        </p:txBody>
      </p:sp>
      <p:sp>
        <p:nvSpPr>
          <p:cNvPr id="39" name="Freeform 39"/>
          <p:cNvSpPr/>
          <p:nvPr/>
        </p:nvSpPr>
        <p:spPr>
          <a:xfrm>
            <a:off x="7096125" y="4424362"/>
            <a:ext cx="228600" cy="185738"/>
          </a:xfrm>
          <a:custGeom>
            <a:avLst/>
            <a:gdLst/>
            <a:ahLst/>
            <a:cxnLst/>
            <a:rect l="l" t="t" r="r" b="b"/>
            <a:pathLst>
              <a:path w="228600" h="185738">
                <a:moveTo>
                  <a:pt x="0" y="0"/>
                </a:moveTo>
                <a:lnTo>
                  <a:pt x="85725" y="0"/>
                </a:lnTo>
                <a:lnTo>
                  <a:pt x="128588" y="42862"/>
                </a:lnTo>
                <a:lnTo>
                  <a:pt x="228600" y="42862"/>
                </a:lnTo>
                <a:lnTo>
                  <a:pt x="228600" y="185738"/>
                </a:lnTo>
                <a:lnTo>
                  <a:pt x="0" y="185738"/>
                </a:lnTo>
                <a:lnTo>
                  <a:pt x="0" y="0"/>
                </a:lnTo>
                <a:close/>
              </a:path>
            </a:pathLst>
          </a:custGeom>
          <a:solidFill>
            <a:srgbClr val="4A90D9"/>
          </a:solidFill>
          <a:ln>
            <a:noFill/>
          </a:ln>
        </p:spPr>
        <p:txBody>
          <a:bodyPr/>
          <a:lstStyle/>
          <a:p>
            <a:endParaRPr lang="en-US"/>
          </a:p>
        </p:txBody>
      </p:sp>
      <p:sp>
        <p:nvSpPr>
          <p:cNvPr id="40" name="TextBox 40"/>
          <p:cNvSpPr txBox="1"/>
          <p:nvPr/>
        </p:nvSpPr>
        <p:spPr>
          <a:xfrm>
            <a:off x="7414260" y="4442460"/>
            <a:ext cx="906780"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.gitignore</a:t>
            </a:r>
          </a:p>
        </p:txBody>
      </p:sp>
      <p:sp>
        <p:nvSpPr>
          <p:cNvPr id="41" name="Rectangle 41"/>
          <p:cNvSpPr/>
          <p:nvPr/>
        </p:nvSpPr>
        <p:spPr>
          <a:xfrm>
            <a:off x="6953250" y="4857750"/>
            <a:ext cx="3238500" cy="476250"/>
          </a:xfrm>
          <a:prstGeom prst="rect">
            <a:avLst/>
          </a:prstGeom>
          <a:solidFill>
            <a:srgbClr val="D97757">
              <a:alpha val="8000"/>
            </a:srgbClr>
          </a:solidFill>
          <a:ln w="9525">
            <a:solidFill>
              <a:srgbClr val="D97757"/>
            </a:solidFill>
          </a:ln>
        </p:spPr>
        <p:txBody>
          <a:bodyPr/>
          <a:lstStyle/>
          <a:p>
            <a:endParaRPr lang="en-US"/>
          </a:p>
        </p:txBody>
      </p:sp>
      <p:grpSp>
        <p:nvGrpSpPr>
          <p:cNvPr id="44" name="Group 44"/>
          <p:cNvGrpSpPr/>
          <p:nvPr/>
        </p:nvGrpSpPr>
        <p:grpSpPr>
          <a:xfrm>
            <a:off x="7124700" y="4981575"/>
            <a:ext cx="171450" cy="228600"/>
            <a:chOff x="7124700" y="4981575"/>
            <a:chExt cx="171450" cy="228600"/>
          </a:xfrm>
        </p:grpSpPr>
        <p:sp>
          <p:nvSpPr>
            <p:cNvPr id="42" name="Freeform 42"/>
            <p:cNvSpPr/>
            <p:nvPr/>
          </p:nvSpPr>
          <p:spPr>
            <a:xfrm>
              <a:off x="7124700" y="4981575"/>
              <a:ext cx="171450" cy="228600"/>
            </a:xfrm>
            <a:custGeom>
              <a:avLst/>
              <a:gdLst/>
              <a:ahLst/>
              <a:cxnLst/>
              <a:rect l="l" t="t" r="r" b="b"/>
              <a:pathLst>
                <a:path w="171450" h="228600">
                  <a:moveTo>
                    <a:pt x="71438" y="0"/>
                  </a:moveTo>
                  <a:lnTo>
                    <a:pt x="0" y="0"/>
                  </a:lnTo>
                  <a:lnTo>
                    <a:pt x="0" y="228600"/>
                  </a:lnTo>
                  <a:lnTo>
                    <a:pt x="171450" y="228600"/>
                  </a:lnTo>
                  <a:lnTo>
                    <a:pt x="171450" y="100012"/>
                  </a:lnTo>
                  <a:lnTo>
                    <a:pt x="71438" y="100012"/>
                  </a:lnTo>
                  <a:lnTo>
                    <a:pt x="71438" y="0"/>
                  </a:lnTo>
                  <a:close/>
                </a:path>
              </a:pathLst>
            </a:custGeom>
            <a:solidFill>
              <a:srgbClr val="D97757"/>
            </a:solidFill>
            <a:ln>
              <a:noFill/>
            </a:ln>
          </p:spPr>
          <p:txBody>
            <a:bodyPr/>
            <a:lstStyle/>
            <a:p>
              <a:endParaRPr lang="en-US"/>
            </a:p>
          </p:txBody>
        </p:sp>
        <p:sp>
          <p:nvSpPr>
            <p:cNvPr id="43" name="Freeform 43"/>
            <p:cNvSpPr/>
            <p:nvPr/>
          </p:nvSpPr>
          <p:spPr>
            <a:xfrm>
              <a:off x="7224712" y="4981575"/>
              <a:ext cx="71438" cy="71438"/>
            </a:xfrm>
            <a:custGeom>
              <a:avLst/>
              <a:gdLst/>
              <a:ahLst/>
              <a:cxnLst/>
              <a:rect l="l" t="t" r="r" b="b"/>
              <a:pathLst>
                <a:path w="71438" h="71438">
                  <a:moveTo>
                    <a:pt x="0" y="0"/>
                  </a:moveTo>
                  <a:lnTo>
                    <a:pt x="0" y="71438"/>
                  </a:lnTo>
                  <a:lnTo>
                    <a:pt x="71438" y="71438"/>
                  </a:lnTo>
                  <a:lnTo>
                    <a:pt x="0" y="0"/>
                  </a:lnTo>
                  <a:close/>
                </a:path>
              </a:pathLst>
            </a:custGeom>
            <a:solidFill>
              <a:srgbClr val="D97757"/>
            </a:solidFill>
            <a:ln>
              <a:noFill/>
            </a:ln>
          </p:spPr>
          <p:txBody>
            <a:bodyPr/>
            <a:lstStyle/>
            <a:p>
              <a:endParaRPr lang="en-US"/>
            </a:p>
          </p:txBody>
        </p:sp>
      </p:grpSp>
      <p:sp>
        <p:nvSpPr>
          <p:cNvPr id="45" name="TextBox 45"/>
          <p:cNvSpPr txBox="1"/>
          <p:nvPr/>
        </p:nvSpPr>
        <p:spPr>
          <a:xfrm>
            <a:off x="7414260" y="5013960"/>
            <a:ext cx="2238756" cy="243840"/>
          </a:xfrm>
          <a:prstGeom prst="rect">
            <a:avLst/>
          </a:prstGeom>
          <a:noFill/>
          <a:ln>
            <a:noFill/>
          </a:ln>
        </p:spPr>
        <p:txBody>
          <a:bodyPr wrap="none" lIns="0" tIns="0" rIns="0" bIns="0" anchor="t" anchorCtr="0">
            <a:spAutoFit/>
          </a:bodyPr>
          <a:lstStyle/>
          <a:p>
            <a:pPr algn="l"/>
            <a:r>
              <a:rPr lang="zh-CN" sz="1200" b="1" dirty="0">
                <a:solidFill>
                  <a:srgbClr val="D97757"/>
                </a:solidFill>
                <a:latin typeface="Arial"/>
                <a:ea typeface="Microsoft YaHei"/>
                <a:cs typeface="Arial"/>
              </a:rPr>
              <a:t>engagement_analysis.md</a:t>
            </a:r>
          </a:p>
        </p:txBody>
      </p:sp>
      <p:sp>
        <p:nvSpPr>
          <p:cNvPr id="46" name="Rectangle 46"/>
          <p:cNvSpPr/>
          <p:nvPr/>
        </p:nvSpPr>
        <p:spPr>
          <a:xfrm>
            <a:off x="6953250" y="5429250"/>
            <a:ext cx="3238500" cy="476250"/>
          </a:xfrm>
          <a:prstGeom prst="rect">
            <a:avLst/>
          </a:prstGeom>
          <a:solidFill>
            <a:srgbClr val="D97757">
              <a:alpha val="8000"/>
            </a:srgbClr>
          </a:solidFill>
          <a:ln w="9525">
            <a:solidFill>
              <a:srgbClr val="D97757"/>
            </a:solidFill>
          </a:ln>
        </p:spPr>
        <p:txBody>
          <a:bodyPr/>
          <a:lstStyle/>
          <a:p>
            <a:endParaRPr lang="en-US"/>
          </a:p>
        </p:txBody>
      </p:sp>
      <p:grpSp>
        <p:nvGrpSpPr>
          <p:cNvPr id="49" name="Group 49"/>
          <p:cNvGrpSpPr/>
          <p:nvPr/>
        </p:nvGrpSpPr>
        <p:grpSpPr>
          <a:xfrm>
            <a:off x="7124700" y="5553075"/>
            <a:ext cx="171450" cy="228600"/>
            <a:chOff x="7124700" y="5553075"/>
            <a:chExt cx="171450" cy="228600"/>
          </a:xfrm>
        </p:grpSpPr>
        <p:sp>
          <p:nvSpPr>
            <p:cNvPr id="47" name="Freeform 47"/>
            <p:cNvSpPr/>
            <p:nvPr/>
          </p:nvSpPr>
          <p:spPr>
            <a:xfrm>
              <a:off x="7124700" y="5553075"/>
              <a:ext cx="171450" cy="228600"/>
            </a:xfrm>
            <a:custGeom>
              <a:avLst/>
              <a:gdLst/>
              <a:ahLst/>
              <a:cxnLst/>
              <a:rect l="l" t="t" r="r" b="b"/>
              <a:pathLst>
                <a:path w="171450" h="228600">
                  <a:moveTo>
                    <a:pt x="71438" y="0"/>
                  </a:moveTo>
                  <a:lnTo>
                    <a:pt x="0" y="0"/>
                  </a:lnTo>
                  <a:lnTo>
                    <a:pt x="0" y="228600"/>
                  </a:lnTo>
                  <a:lnTo>
                    <a:pt x="171450" y="228600"/>
                  </a:lnTo>
                  <a:lnTo>
                    <a:pt x="171450" y="100012"/>
                  </a:lnTo>
                  <a:lnTo>
                    <a:pt x="71438" y="100012"/>
                  </a:lnTo>
                  <a:lnTo>
                    <a:pt x="71438" y="0"/>
                  </a:lnTo>
                  <a:close/>
                </a:path>
              </a:pathLst>
            </a:custGeom>
            <a:solidFill>
              <a:srgbClr val="D97757"/>
            </a:solidFill>
            <a:ln>
              <a:noFill/>
            </a:ln>
          </p:spPr>
          <p:txBody>
            <a:bodyPr/>
            <a:lstStyle/>
            <a:p>
              <a:endParaRPr lang="en-US"/>
            </a:p>
          </p:txBody>
        </p:sp>
        <p:sp>
          <p:nvSpPr>
            <p:cNvPr id="48" name="Freeform 48"/>
            <p:cNvSpPr/>
            <p:nvPr/>
          </p:nvSpPr>
          <p:spPr>
            <a:xfrm>
              <a:off x="7224712" y="5553075"/>
              <a:ext cx="71438" cy="71438"/>
            </a:xfrm>
            <a:custGeom>
              <a:avLst/>
              <a:gdLst/>
              <a:ahLst/>
              <a:cxnLst/>
              <a:rect l="l" t="t" r="r" b="b"/>
              <a:pathLst>
                <a:path w="71438" h="71438">
                  <a:moveTo>
                    <a:pt x="0" y="0"/>
                  </a:moveTo>
                  <a:lnTo>
                    <a:pt x="0" y="71438"/>
                  </a:lnTo>
                  <a:lnTo>
                    <a:pt x="71438" y="71438"/>
                  </a:lnTo>
                  <a:lnTo>
                    <a:pt x="0" y="0"/>
                  </a:lnTo>
                  <a:close/>
                </a:path>
              </a:pathLst>
            </a:custGeom>
            <a:solidFill>
              <a:srgbClr val="D97757"/>
            </a:solidFill>
            <a:ln>
              <a:noFill/>
            </a:ln>
          </p:spPr>
          <p:txBody>
            <a:bodyPr/>
            <a:lstStyle/>
            <a:p>
              <a:endParaRPr lang="en-US"/>
            </a:p>
          </p:txBody>
        </p:sp>
      </p:grpSp>
      <p:sp>
        <p:nvSpPr>
          <p:cNvPr id="50" name="TextBox 50"/>
          <p:cNvSpPr txBox="1"/>
          <p:nvPr/>
        </p:nvSpPr>
        <p:spPr>
          <a:xfrm>
            <a:off x="7414260" y="5585460"/>
            <a:ext cx="2339969" cy="243840"/>
          </a:xfrm>
          <a:prstGeom prst="rect">
            <a:avLst/>
          </a:prstGeom>
          <a:noFill/>
          <a:ln>
            <a:noFill/>
          </a:ln>
        </p:spPr>
        <p:txBody>
          <a:bodyPr wrap="none" lIns="0" tIns="0" rIns="0" bIns="0" anchor="t" anchorCtr="0">
            <a:spAutoFit/>
          </a:bodyPr>
          <a:lstStyle/>
          <a:p>
            <a:pPr algn="l"/>
            <a:r>
              <a:rPr lang="zh-CN" sz="1200" b="1" dirty="0">
                <a:solidFill>
                  <a:srgbClr val="D97757"/>
                </a:solidFill>
                <a:latin typeface="Arial"/>
                <a:ea typeface="Microsoft YaHei"/>
                <a:cs typeface="Arial"/>
              </a:rPr>
              <a:t>platform_comparison.png</a:t>
            </a:r>
          </a:p>
        </p:txBody>
      </p:sp>
      <p:sp>
        <p:nvSpPr>
          <p:cNvPr id="51" name="Rectangle 51"/>
          <p:cNvSpPr/>
          <p:nvPr/>
        </p:nvSpPr>
        <p:spPr>
          <a:xfrm>
            <a:off x="571500" y="5143500"/>
            <a:ext cx="5334000" cy="666750"/>
          </a:xfrm>
          <a:prstGeom prst="rect">
            <a:avLst/>
          </a:prstGeom>
          <a:solidFill>
            <a:srgbClr val="D97757">
              <a:alpha val="6000"/>
            </a:srgbClr>
          </a:solidFill>
          <a:ln w="9525">
            <a:solidFill>
              <a:srgbClr val="D97757"/>
            </a:solidFill>
          </a:ln>
        </p:spPr>
        <p:txBody>
          <a:bodyPr/>
          <a:lstStyle/>
          <a:p>
            <a:endParaRPr lang="en-US"/>
          </a:p>
        </p:txBody>
      </p:sp>
      <p:sp>
        <p:nvSpPr>
          <p:cNvPr id="52" name="TextBox 52"/>
          <p:cNvSpPr txBox="1"/>
          <p:nvPr/>
        </p:nvSpPr>
        <p:spPr>
          <a:xfrm>
            <a:off x="1335497" y="5291614"/>
            <a:ext cx="3806007" cy="259080"/>
          </a:xfrm>
          <a:prstGeom prst="rect">
            <a:avLst/>
          </a:prstGeom>
          <a:noFill/>
          <a:ln>
            <a:noFill/>
          </a:ln>
        </p:spPr>
        <p:txBody>
          <a:bodyPr wrap="none" lIns="0" tIns="0" rIns="0" bIns="0" anchor="t" anchorCtr="0">
            <a:spAutoFit/>
          </a:bodyPr>
          <a:lstStyle/>
          <a:p>
            <a:pPr algn="ctr"/>
            <a:r>
              <a:rPr lang="zh-CN" sz="1275" b="1" dirty="0">
                <a:solidFill>
                  <a:srgbClr val="D97757"/>
                </a:solidFill>
                <a:latin typeface="Arial"/>
                <a:ea typeface="Microsoft YaHei"/>
                <a:cs typeface="Arial"/>
              </a:rPr>
              <a:t>If something goes wrong on the branch,</a:t>
            </a:r>
          </a:p>
        </p:txBody>
      </p:sp>
      <p:sp>
        <p:nvSpPr>
          <p:cNvPr id="53" name="TextBox 53"/>
          <p:cNvSpPr txBox="1"/>
          <p:nvPr/>
        </p:nvSpPr>
        <p:spPr>
          <a:xfrm>
            <a:off x="2332671" y="5529739"/>
            <a:ext cx="1811657" cy="259080"/>
          </a:xfrm>
          <a:prstGeom prst="rect">
            <a:avLst/>
          </a:prstGeom>
          <a:noFill/>
          <a:ln>
            <a:noFill/>
          </a:ln>
        </p:spPr>
        <p:txBody>
          <a:bodyPr wrap="none" lIns="0" tIns="0" rIns="0" bIns="0" anchor="t" anchorCtr="0">
            <a:spAutoFit/>
          </a:bodyPr>
          <a:lstStyle/>
          <a:p>
            <a:pPr algn="ctr"/>
            <a:r>
              <a:rPr lang="zh-CN" sz="1275" b="1" dirty="0">
                <a:solidFill>
                  <a:srgbClr val="D97757"/>
                </a:solidFill>
                <a:latin typeface="Arial"/>
                <a:ea typeface="Microsoft YaHei"/>
                <a:cs typeface="Arial"/>
              </a:rPr>
              <a:t>main is untouched.</a:t>
            </a:r>
          </a:p>
        </p:txBody>
      </p:sp>
      <p:sp>
        <p:nvSpPr>
          <p:cNvPr id="54" name="TextBox 54"/>
          <p:cNvSpPr txBox="1"/>
          <p:nvPr/>
        </p:nvSpPr>
        <p:spPr>
          <a:xfrm>
            <a:off x="5887141" y="6411278"/>
            <a:ext cx="417719"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9 / 15</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sp>
        <p:nvSpPr>
          <p:cNvPr id="3" name="Rectangle 3"/>
          <p:cNvSpPr/>
          <p:nvPr/>
        </p:nvSpPr>
        <p:spPr>
          <a:xfrm>
            <a:off x="0" y="0"/>
            <a:ext cx="12192000" cy="57150"/>
          </a:xfrm>
          <a:prstGeom prst="rect">
            <a:avLst/>
          </a:prstGeom>
          <a:solidFill>
            <a:srgbClr val="D97757"/>
          </a:solidFill>
          <a:ln>
            <a:noFill/>
          </a:ln>
        </p:spPr>
        <p:txBody>
          <a:bodyPr/>
          <a:lstStyle/>
          <a:p>
            <a:endParaRPr lang="en-US"/>
          </a:p>
        </p:txBody>
      </p:sp>
      <p:sp>
        <p:nvSpPr>
          <p:cNvPr id="4" name="TextBox 4"/>
          <p:cNvSpPr txBox="1"/>
          <p:nvPr/>
        </p:nvSpPr>
        <p:spPr>
          <a:xfrm>
            <a:off x="558165" y="410528"/>
            <a:ext cx="1115473" cy="213360"/>
          </a:xfrm>
          <a:prstGeom prst="rect">
            <a:avLst/>
          </a:prstGeom>
          <a:noFill/>
          <a:ln>
            <a:noFill/>
          </a:ln>
        </p:spPr>
        <p:txBody>
          <a:bodyPr wrap="none" lIns="0" tIns="0" rIns="0" bIns="0" anchor="t" anchorCtr="0">
            <a:spAutoFit/>
          </a:bodyPr>
          <a:lstStyle/>
          <a:p>
            <a:pPr algn="l"/>
            <a:r>
              <a:rPr lang="zh-CN" sz="1050" dirty="0">
                <a:solidFill>
                  <a:srgbClr val="D97757"/>
                </a:solidFill>
                <a:latin typeface="Arial"/>
                <a:ea typeface="Microsoft YaHei"/>
                <a:cs typeface="Arial"/>
              </a:rPr>
              <a:t>PULL REQUESTS</a:t>
            </a:r>
          </a:p>
        </p:txBody>
      </p:sp>
      <p:sp>
        <p:nvSpPr>
          <p:cNvPr id="5" name="TextBox 5"/>
          <p:cNvSpPr txBox="1"/>
          <p:nvPr/>
        </p:nvSpPr>
        <p:spPr>
          <a:xfrm>
            <a:off x="541020" y="693420"/>
            <a:ext cx="5857685" cy="487680"/>
          </a:xfrm>
          <a:prstGeom prst="rect">
            <a:avLst/>
          </a:prstGeom>
          <a:noFill/>
          <a:ln>
            <a:noFill/>
          </a:ln>
        </p:spPr>
        <p:txBody>
          <a:bodyPr wrap="none" lIns="0" tIns="0" rIns="0" bIns="0" anchor="t" anchorCtr="0">
            <a:spAutoFit/>
          </a:bodyPr>
          <a:lstStyle/>
          <a:p>
            <a:pPr algn="l"/>
            <a:r>
              <a:rPr lang="zh-CN" sz="2400" b="1" dirty="0">
                <a:solidFill>
                  <a:srgbClr val="1A1A2E"/>
                </a:solidFill>
                <a:latin typeface="Arial"/>
                <a:ea typeface="Microsoft YaHei"/>
                <a:cs typeface="Arial"/>
              </a:rPr>
              <a:t>A PR Is Your Team's Quality Gate</a:t>
            </a:r>
          </a:p>
        </p:txBody>
      </p:sp>
      <p:sp>
        <p:nvSpPr>
          <p:cNvPr id="6" name="Rectangle 6"/>
          <p:cNvSpPr/>
          <p:nvPr/>
        </p:nvSpPr>
        <p:spPr>
          <a:xfrm>
            <a:off x="571500" y="1381125"/>
            <a:ext cx="3524250" cy="333375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7" name="Rectangle 7"/>
          <p:cNvSpPr/>
          <p:nvPr/>
        </p:nvSpPr>
        <p:spPr>
          <a:xfrm>
            <a:off x="571500" y="1381125"/>
            <a:ext cx="3524250" cy="57150"/>
          </a:xfrm>
          <a:prstGeom prst="rect">
            <a:avLst/>
          </a:prstGeom>
          <a:solidFill>
            <a:srgbClr val="4A90D9"/>
          </a:solidFill>
          <a:ln>
            <a:noFill/>
          </a:ln>
        </p:spPr>
        <p:txBody>
          <a:bodyPr/>
          <a:lstStyle/>
          <a:p>
            <a:endParaRPr lang="en-US"/>
          </a:p>
        </p:txBody>
      </p:sp>
      <p:sp>
        <p:nvSpPr>
          <p:cNvPr id="8" name="Ellipse 8"/>
          <p:cNvSpPr/>
          <p:nvPr/>
        </p:nvSpPr>
        <p:spPr>
          <a:xfrm>
            <a:off x="723900" y="1628775"/>
            <a:ext cx="457200" cy="457200"/>
          </a:xfrm>
          <a:prstGeom prst="ellipse">
            <a:avLst/>
          </a:prstGeom>
          <a:solidFill>
            <a:srgbClr val="4A90D9"/>
          </a:solidFill>
          <a:ln>
            <a:noFill/>
          </a:ln>
        </p:spPr>
        <p:txBody>
          <a:bodyPr/>
          <a:lstStyle/>
          <a:p>
            <a:endParaRPr lang="en-US"/>
          </a:p>
        </p:txBody>
      </p:sp>
      <p:sp>
        <p:nvSpPr>
          <p:cNvPr id="9" name="TextBox 9"/>
          <p:cNvSpPr txBox="1"/>
          <p:nvPr/>
        </p:nvSpPr>
        <p:spPr>
          <a:xfrm>
            <a:off x="904301" y="1778318"/>
            <a:ext cx="9639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10" name="TextBox 10"/>
          <p:cNvSpPr txBox="1"/>
          <p:nvPr/>
        </p:nvSpPr>
        <p:spPr>
          <a:xfrm>
            <a:off x="1264920" y="1745932"/>
            <a:ext cx="876914" cy="335280"/>
          </a:xfrm>
          <a:prstGeom prst="rect">
            <a:avLst/>
          </a:prstGeom>
          <a:noFill/>
          <a:ln>
            <a:noFill/>
          </a:ln>
        </p:spPr>
        <p:txBody>
          <a:bodyPr wrap="none" lIns="0" tIns="0" rIns="0" bIns="0" anchor="t" anchorCtr="0">
            <a:spAutoFit/>
          </a:bodyPr>
          <a:lstStyle/>
          <a:p>
            <a:pPr algn="l"/>
            <a:r>
              <a:rPr lang="zh-CN" sz="1650" b="1" dirty="0">
                <a:solidFill>
                  <a:srgbClr val="4A90D9"/>
                </a:solidFill>
                <a:latin typeface="Arial"/>
                <a:ea typeface="Microsoft YaHei"/>
                <a:cs typeface="Arial"/>
              </a:rPr>
              <a:t>Create</a:t>
            </a:r>
          </a:p>
        </p:txBody>
      </p:sp>
      <p:sp>
        <p:nvSpPr>
          <p:cNvPr id="11" name="TextBox 11"/>
          <p:cNvSpPr txBox="1"/>
          <p:nvPr/>
        </p:nvSpPr>
        <p:spPr>
          <a:xfrm>
            <a:off x="842010" y="2204085"/>
            <a:ext cx="2317623"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Push your branch to GitHub</a:t>
            </a:r>
          </a:p>
        </p:txBody>
      </p:sp>
      <p:sp>
        <p:nvSpPr>
          <p:cNvPr id="12" name="TextBox 12"/>
          <p:cNvSpPr txBox="1"/>
          <p:nvPr/>
        </p:nvSpPr>
        <p:spPr>
          <a:xfrm>
            <a:off x="842010" y="2489835"/>
            <a:ext cx="1677924"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Open a Pull Request</a:t>
            </a:r>
          </a:p>
        </p:txBody>
      </p:sp>
      <p:sp>
        <p:nvSpPr>
          <p:cNvPr id="13" name="TextBox 13"/>
          <p:cNvSpPr txBox="1"/>
          <p:nvPr/>
        </p:nvSpPr>
        <p:spPr>
          <a:xfrm>
            <a:off x="842010" y="2775585"/>
            <a:ext cx="2589276"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Describe what you did and why</a:t>
            </a:r>
          </a:p>
        </p:txBody>
      </p:sp>
      <p:sp>
        <p:nvSpPr>
          <p:cNvPr id="14" name="Rectangle 14"/>
          <p:cNvSpPr/>
          <p:nvPr/>
        </p:nvSpPr>
        <p:spPr>
          <a:xfrm>
            <a:off x="809625" y="3143250"/>
            <a:ext cx="3048000" cy="1333500"/>
          </a:xfrm>
          <a:prstGeom prst="rect">
            <a:avLst/>
          </a:prstGeom>
          <a:solidFill>
            <a:srgbClr val="FFFFFF"/>
          </a:solidFill>
          <a:ln w="9525">
            <a:solidFill>
              <a:srgbClr val="E2E8F0"/>
            </a:solidFill>
          </a:ln>
        </p:spPr>
        <p:txBody>
          <a:bodyPr/>
          <a:lstStyle/>
          <a:p>
            <a:endParaRPr lang="en-US"/>
          </a:p>
        </p:txBody>
      </p:sp>
      <p:sp>
        <p:nvSpPr>
          <p:cNvPr id="15" name="Rectangle 15"/>
          <p:cNvSpPr/>
          <p:nvPr/>
        </p:nvSpPr>
        <p:spPr>
          <a:xfrm>
            <a:off x="809625" y="3143250"/>
            <a:ext cx="3048000" cy="285750"/>
          </a:xfrm>
          <a:prstGeom prst="rect">
            <a:avLst/>
          </a:prstGeom>
          <a:solidFill>
            <a:srgbClr val="F1F5F9"/>
          </a:solidFill>
          <a:ln>
            <a:noFill/>
          </a:ln>
        </p:spPr>
        <p:txBody>
          <a:bodyPr/>
          <a:lstStyle/>
          <a:p>
            <a:endParaRPr lang="en-US"/>
          </a:p>
        </p:txBody>
      </p:sp>
      <p:sp>
        <p:nvSpPr>
          <p:cNvPr id="16" name="TextBox 16"/>
          <p:cNvSpPr txBox="1"/>
          <p:nvPr/>
        </p:nvSpPr>
        <p:spPr>
          <a:xfrm>
            <a:off x="941070" y="3236595"/>
            <a:ext cx="107442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New Pull Request</a:t>
            </a:r>
          </a:p>
        </p:txBody>
      </p:sp>
      <p:sp>
        <p:nvSpPr>
          <p:cNvPr id="17" name="TextBox 17"/>
          <p:cNvSpPr txBox="1"/>
          <p:nvPr/>
        </p:nvSpPr>
        <p:spPr>
          <a:xfrm>
            <a:off x="940118" y="3514249"/>
            <a:ext cx="1796561" cy="198120"/>
          </a:xfrm>
          <a:prstGeom prst="rect">
            <a:avLst/>
          </a:prstGeom>
          <a:noFill/>
          <a:ln>
            <a:noFill/>
          </a:ln>
        </p:spPr>
        <p:txBody>
          <a:bodyPr wrap="none" lIns="0" tIns="0" rIns="0" bIns="0" anchor="t" anchorCtr="0">
            <a:spAutoFit/>
          </a:bodyPr>
          <a:lstStyle/>
          <a:p>
            <a:pPr algn="l"/>
            <a:r>
              <a:rPr lang="zh-CN" sz="975" b="1" dirty="0">
                <a:solidFill>
                  <a:srgbClr val="1A1A2E"/>
                </a:solidFill>
                <a:latin typeface="Arial"/>
                <a:ea typeface="Microsoft YaHei"/>
                <a:cs typeface="Arial"/>
              </a:rPr>
              <a:t>Add engagement analysis</a:t>
            </a:r>
          </a:p>
        </p:txBody>
      </p:sp>
      <p:sp>
        <p:nvSpPr>
          <p:cNvPr id="18" name="TextBox 18"/>
          <p:cNvSpPr txBox="1"/>
          <p:nvPr/>
        </p:nvSpPr>
        <p:spPr>
          <a:xfrm>
            <a:off x="941070" y="3712845"/>
            <a:ext cx="186309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rial"/>
                <a:ea typeface="Microsoft YaHei"/>
                <a:cs typeface="Arial"/>
              </a:rPr>
              <a:t>analysis/engagement -&gt; main</a:t>
            </a:r>
          </a:p>
        </p:txBody>
      </p:sp>
      <p:sp>
        <p:nvSpPr>
          <p:cNvPr id="19" name="Rectangle 19"/>
          <p:cNvSpPr/>
          <p:nvPr/>
        </p:nvSpPr>
        <p:spPr>
          <a:xfrm>
            <a:off x="952500" y="3952875"/>
            <a:ext cx="762000" cy="266700"/>
          </a:xfrm>
          <a:prstGeom prst="rect">
            <a:avLst/>
          </a:prstGeom>
          <a:solidFill>
            <a:srgbClr val="10B981"/>
          </a:solidFill>
          <a:ln>
            <a:noFill/>
          </a:ln>
        </p:spPr>
        <p:txBody>
          <a:bodyPr/>
          <a:lstStyle/>
          <a:p>
            <a:endParaRPr lang="en-US"/>
          </a:p>
        </p:txBody>
      </p:sp>
      <p:sp>
        <p:nvSpPr>
          <p:cNvPr id="20" name="TextBox 20"/>
          <p:cNvSpPr txBox="1"/>
          <p:nvPr/>
        </p:nvSpPr>
        <p:spPr>
          <a:xfrm>
            <a:off x="1070189" y="4036695"/>
            <a:ext cx="526623"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 files</a:t>
            </a:r>
          </a:p>
        </p:txBody>
      </p:sp>
      <p:sp>
        <p:nvSpPr>
          <p:cNvPr id="21" name="Rectangle 21"/>
          <p:cNvSpPr/>
          <p:nvPr/>
        </p:nvSpPr>
        <p:spPr>
          <a:xfrm>
            <a:off x="1809750" y="3952875"/>
            <a:ext cx="952500" cy="266700"/>
          </a:xfrm>
          <a:prstGeom prst="rect">
            <a:avLst/>
          </a:prstGeom>
          <a:solidFill>
            <a:srgbClr val="EF4444">
              <a:alpha val="10000"/>
            </a:srgbClr>
          </a:solidFill>
          <a:ln>
            <a:noFill/>
          </a:ln>
        </p:spPr>
        <p:txBody>
          <a:bodyPr/>
          <a:lstStyle/>
          <a:p>
            <a:endParaRPr lang="en-US"/>
          </a:p>
        </p:txBody>
      </p:sp>
      <p:sp>
        <p:nvSpPr>
          <p:cNvPr id="22" name="TextBox 22"/>
          <p:cNvSpPr txBox="1"/>
          <p:nvPr/>
        </p:nvSpPr>
        <p:spPr>
          <a:xfrm>
            <a:off x="1926241" y="4036695"/>
            <a:ext cx="719519" cy="182880"/>
          </a:xfrm>
          <a:prstGeom prst="rect">
            <a:avLst/>
          </a:prstGeom>
          <a:noFill/>
          <a:ln>
            <a:noFill/>
          </a:ln>
        </p:spPr>
        <p:txBody>
          <a:bodyPr wrap="none" lIns="0" tIns="0" rIns="0" bIns="0" anchor="t" anchorCtr="0">
            <a:spAutoFit/>
          </a:bodyPr>
          <a:lstStyle/>
          <a:p>
            <a:pPr algn="ctr"/>
            <a:r>
              <a:rPr lang="zh-CN" sz="900" dirty="0">
                <a:solidFill>
                  <a:srgbClr val="EF4444"/>
                </a:solidFill>
                <a:latin typeface="Arial"/>
                <a:ea typeface="Microsoft YaHei"/>
                <a:cs typeface="Arial"/>
              </a:rPr>
              <a:t>0 conflicts</a:t>
            </a:r>
          </a:p>
        </p:txBody>
      </p:sp>
      <p:sp>
        <p:nvSpPr>
          <p:cNvPr id="23" name="Polygon 23"/>
          <p:cNvSpPr/>
          <p:nvPr/>
        </p:nvSpPr>
        <p:spPr>
          <a:xfrm>
            <a:off x="4143375" y="2952750"/>
            <a:ext cx="95250" cy="190500"/>
          </a:xfrm>
          <a:custGeom>
            <a:avLst/>
            <a:gdLst/>
            <a:ahLst/>
            <a:cxnLst/>
            <a:rect l="l" t="t" r="r" b="b"/>
            <a:pathLst>
              <a:path w="95250" h="190500">
                <a:moveTo>
                  <a:pt x="95250" y="95250"/>
                </a:moveTo>
                <a:lnTo>
                  <a:pt x="0" y="0"/>
                </a:lnTo>
                <a:lnTo>
                  <a:pt x="0" y="190500"/>
                </a:lnTo>
                <a:close/>
              </a:path>
            </a:pathLst>
          </a:custGeom>
          <a:solidFill>
            <a:srgbClr val="64748B"/>
          </a:solidFill>
          <a:ln>
            <a:noFill/>
          </a:ln>
        </p:spPr>
        <p:txBody>
          <a:bodyPr/>
          <a:lstStyle/>
          <a:p>
            <a:endParaRPr lang="en-US"/>
          </a:p>
        </p:txBody>
      </p:sp>
      <p:sp>
        <p:nvSpPr>
          <p:cNvPr id="24" name="Rectangle 24"/>
          <p:cNvSpPr/>
          <p:nvPr/>
        </p:nvSpPr>
        <p:spPr>
          <a:xfrm>
            <a:off x="4333875" y="1381125"/>
            <a:ext cx="3524250" cy="333375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25" name="Rectangle 25"/>
          <p:cNvSpPr/>
          <p:nvPr/>
        </p:nvSpPr>
        <p:spPr>
          <a:xfrm>
            <a:off x="4333875" y="1381125"/>
            <a:ext cx="3524250" cy="57150"/>
          </a:xfrm>
          <a:prstGeom prst="rect">
            <a:avLst/>
          </a:prstGeom>
          <a:solidFill>
            <a:srgbClr val="D97757"/>
          </a:solidFill>
          <a:ln>
            <a:noFill/>
          </a:ln>
        </p:spPr>
        <p:txBody>
          <a:bodyPr/>
          <a:lstStyle/>
          <a:p>
            <a:endParaRPr lang="en-US"/>
          </a:p>
        </p:txBody>
      </p:sp>
      <p:sp>
        <p:nvSpPr>
          <p:cNvPr id="26" name="Ellipse 26"/>
          <p:cNvSpPr/>
          <p:nvPr/>
        </p:nvSpPr>
        <p:spPr>
          <a:xfrm>
            <a:off x="4486275" y="1628775"/>
            <a:ext cx="457200" cy="457200"/>
          </a:xfrm>
          <a:prstGeom prst="ellipse">
            <a:avLst/>
          </a:prstGeom>
          <a:solidFill>
            <a:srgbClr val="D97757"/>
          </a:solidFill>
          <a:ln>
            <a:noFill/>
          </a:ln>
        </p:spPr>
        <p:txBody>
          <a:bodyPr/>
          <a:lstStyle/>
          <a:p>
            <a:endParaRPr lang="en-US"/>
          </a:p>
        </p:txBody>
      </p:sp>
      <p:sp>
        <p:nvSpPr>
          <p:cNvPr id="27" name="TextBox 27"/>
          <p:cNvSpPr txBox="1"/>
          <p:nvPr/>
        </p:nvSpPr>
        <p:spPr>
          <a:xfrm>
            <a:off x="4640798" y="177831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28" name="TextBox 28"/>
          <p:cNvSpPr txBox="1"/>
          <p:nvPr/>
        </p:nvSpPr>
        <p:spPr>
          <a:xfrm>
            <a:off x="5027295" y="1745932"/>
            <a:ext cx="864263" cy="335280"/>
          </a:xfrm>
          <a:prstGeom prst="rect">
            <a:avLst/>
          </a:prstGeom>
          <a:noFill/>
          <a:ln>
            <a:noFill/>
          </a:ln>
        </p:spPr>
        <p:txBody>
          <a:bodyPr wrap="none" lIns="0" tIns="0" rIns="0" bIns="0" anchor="t" anchorCtr="0">
            <a:spAutoFit/>
          </a:bodyPr>
          <a:lstStyle/>
          <a:p>
            <a:pPr algn="l"/>
            <a:r>
              <a:rPr lang="zh-CN" sz="1650" b="1" dirty="0">
                <a:solidFill>
                  <a:srgbClr val="D97757"/>
                </a:solidFill>
                <a:latin typeface="Arial"/>
                <a:ea typeface="Microsoft YaHei"/>
                <a:cs typeface="Arial"/>
              </a:rPr>
              <a:t>Review</a:t>
            </a:r>
          </a:p>
        </p:txBody>
      </p:sp>
      <p:sp>
        <p:nvSpPr>
          <p:cNvPr id="29" name="TextBox 29"/>
          <p:cNvSpPr txBox="1"/>
          <p:nvPr/>
        </p:nvSpPr>
        <p:spPr>
          <a:xfrm>
            <a:off x="4604385" y="2204085"/>
            <a:ext cx="2010918"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Manager reads the diff</a:t>
            </a:r>
          </a:p>
        </p:txBody>
      </p:sp>
      <p:sp>
        <p:nvSpPr>
          <p:cNvPr id="30" name="TextBox 30"/>
          <p:cNvSpPr txBox="1"/>
          <p:nvPr/>
        </p:nvSpPr>
        <p:spPr>
          <a:xfrm>
            <a:off x="4604385" y="2489835"/>
            <a:ext cx="1642872"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Green lines = added</a:t>
            </a:r>
          </a:p>
        </p:txBody>
      </p:sp>
      <p:sp>
        <p:nvSpPr>
          <p:cNvPr id="31" name="TextBox 31"/>
          <p:cNvSpPr txBox="1"/>
          <p:nvPr/>
        </p:nvSpPr>
        <p:spPr>
          <a:xfrm>
            <a:off x="4604385" y="2775585"/>
            <a:ext cx="1677924"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Red lines = removed</a:t>
            </a:r>
          </a:p>
        </p:txBody>
      </p:sp>
      <p:sp>
        <p:nvSpPr>
          <p:cNvPr id="32" name="Rectangle 32"/>
          <p:cNvSpPr/>
          <p:nvPr/>
        </p:nvSpPr>
        <p:spPr>
          <a:xfrm>
            <a:off x="4572000" y="3143250"/>
            <a:ext cx="3048000" cy="1333500"/>
          </a:xfrm>
          <a:prstGeom prst="rect">
            <a:avLst/>
          </a:prstGeom>
          <a:solidFill>
            <a:srgbClr val="1A1A2E"/>
          </a:solidFill>
          <a:ln>
            <a:noFill/>
          </a:ln>
        </p:spPr>
        <p:txBody>
          <a:bodyPr/>
          <a:lstStyle/>
          <a:p>
            <a:endParaRPr lang="en-US"/>
          </a:p>
        </p:txBody>
      </p:sp>
      <p:sp>
        <p:nvSpPr>
          <p:cNvPr id="33" name="TextBox 33"/>
          <p:cNvSpPr txBox="1"/>
          <p:nvPr/>
        </p:nvSpPr>
        <p:spPr>
          <a:xfrm>
            <a:off x="4703445" y="3284220"/>
            <a:ext cx="160020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Consolas"/>
                <a:ea typeface="Microsoft YaHei"/>
                <a:cs typeface="Consolas"/>
              </a:rPr>
              <a:t>engagement_analysis.md</a:t>
            </a:r>
          </a:p>
        </p:txBody>
      </p:sp>
      <p:sp>
        <p:nvSpPr>
          <p:cNvPr id="34" name="TextBox 34"/>
          <p:cNvSpPr txBox="1"/>
          <p:nvPr/>
        </p:nvSpPr>
        <p:spPr>
          <a:xfrm>
            <a:off x="4703445" y="3522345"/>
            <a:ext cx="2303431" cy="182880"/>
          </a:xfrm>
          <a:prstGeom prst="rect">
            <a:avLst/>
          </a:prstGeom>
          <a:noFill/>
          <a:ln>
            <a:noFill/>
          </a:ln>
        </p:spPr>
        <p:txBody>
          <a:bodyPr wrap="none" lIns="0" tIns="0" rIns="0" bIns="0" anchor="t" anchorCtr="0">
            <a:spAutoFit/>
          </a:bodyPr>
          <a:lstStyle/>
          <a:p>
            <a:pPr algn="l"/>
            <a:r>
              <a:rPr lang="zh-CN" sz="900" dirty="0">
                <a:solidFill>
                  <a:srgbClr val="10B981"/>
                </a:solidFill>
                <a:latin typeface="Consolas"/>
                <a:ea typeface="Microsoft YaHei"/>
                <a:cs typeface="Consolas"/>
              </a:rPr>
              <a:t>+ Platform comparison across YT, X</a:t>
            </a:r>
          </a:p>
        </p:txBody>
      </p:sp>
      <p:sp>
        <p:nvSpPr>
          <p:cNvPr id="35" name="TextBox 35"/>
          <p:cNvSpPr txBox="1"/>
          <p:nvPr/>
        </p:nvSpPr>
        <p:spPr>
          <a:xfrm>
            <a:off x="4703445" y="3712845"/>
            <a:ext cx="2086546" cy="182880"/>
          </a:xfrm>
          <a:prstGeom prst="rect">
            <a:avLst/>
          </a:prstGeom>
          <a:noFill/>
          <a:ln>
            <a:noFill/>
          </a:ln>
        </p:spPr>
        <p:txBody>
          <a:bodyPr wrap="none" lIns="0" tIns="0" rIns="0" bIns="0" anchor="t" anchorCtr="0">
            <a:spAutoFit/>
          </a:bodyPr>
          <a:lstStyle/>
          <a:p>
            <a:pPr algn="l"/>
            <a:r>
              <a:rPr lang="zh-CN" sz="900" dirty="0">
                <a:solidFill>
                  <a:srgbClr val="10B981"/>
                </a:solidFill>
                <a:latin typeface="Consolas"/>
                <a:ea typeface="Microsoft YaHei"/>
                <a:cs typeface="Consolas"/>
              </a:rPr>
              <a:t>+ Engagement metric definitions</a:t>
            </a:r>
          </a:p>
        </p:txBody>
      </p:sp>
      <p:sp>
        <p:nvSpPr>
          <p:cNvPr id="36" name="TextBox 36"/>
          <p:cNvSpPr txBox="1"/>
          <p:nvPr/>
        </p:nvSpPr>
        <p:spPr>
          <a:xfrm>
            <a:off x="4703445" y="3903345"/>
            <a:ext cx="1863090" cy="182880"/>
          </a:xfrm>
          <a:prstGeom prst="rect">
            <a:avLst/>
          </a:prstGeom>
          <a:noFill/>
          <a:ln>
            <a:noFill/>
          </a:ln>
        </p:spPr>
        <p:txBody>
          <a:bodyPr wrap="none" lIns="0" tIns="0" rIns="0" bIns="0" anchor="t" anchorCtr="0">
            <a:spAutoFit/>
          </a:bodyPr>
          <a:lstStyle/>
          <a:p>
            <a:pPr algn="l"/>
            <a:r>
              <a:rPr lang="zh-CN" sz="900" dirty="0">
                <a:solidFill>
                  <a:srgbClr val="10B981"/>
                </a:solidFill>
                <a:latin typeface="Consolas"/>
                <a:ea typeface="Microsoft YaHei"/>
                <a:cs typeface="Consolas"/>
              </a:rPr>
              <a:t>+ Filtering criteria explained</a:t>
            </a:r>
          </a:p>
        </p:txBody>
      </p:sp>
      <p:sp>
        <p:nvSpPr>
          <p:cNvPr id="37" name="Rectangle 37"/>
          <p:cNvSpPr/>
          <p:nvPr/>
        </p:nvSpPr>
        <p:spPr>
          <a:xfrm>
            <a:off x="4714875" y="4143375"/>
            <a:ext cx="2667000" cy="238125"/>
          </a:xfrm>
          <a:prstGeom prst="rect">
            <a:avLst/>
          </a:prstGeom>
          <a:solidFill>
            <a:srgbClr val="4A90D9">
              <a:alpha val="20000"/>
            </a:srgbClr>
          </a:solidFill>
          <a:ln>
            <a:noFill/>
          </a:ln>
        </p:spPr>
        <p:txBody>
          <a:bodyPr/>
          <a:lstStyle/>
          <a:p>
            <a:endParaRPr lang="en-US"/>
          </a:p>
        </p:txBody>
      </p:sp>
      <p:sp>
        <p:nvSpPr>
          <p:cNvPr id="38" name="TextBox 38"/>
          <p:cNvSpPr txBox="1"/>
          <p:nvPr/>
        </p:nvSpPr>
        <p:spPr>
          <a:xfrm>
            <a:off x="4799648" y="4225766"/>
            <a:ext cx="2460903" cy="167640"/>
          </a:xfrm>
          <a:prstGeom prst="rect">
            <a:avLst/>
          </a:prstGeom>
          <a:noFill/>
          <a:ln>
            <a:noFill/>
          </a:ln>
        </p:spPr>
        <p:txBody>
          <a:bodyPr wrap="none" lIns="0" tIns="0" rIns="0" bIns="0" anchor="t" anchorCtr="0">
            <a:spAutoFit/>
          </a:bodyPr>
          <a:lstStyle/>
          <a:p>
            <a:pPr algn="l"/>
            <a:r>
              <a:rPr lang="zh-CN" sz="825" dirty="0">
                <a:solidFill>
                  <a:srgbClr val="4A90D9"/>
                </a:solidFill>
                <a:latin typeface="Arial"/>
                <a:ea typeface="Microsoft YaHei"/>
                <a:cs typeface="Arial"/>
              </a:rPr>
              <a:t>Manager: "Can you explain the filtering?"</a:t>
            </a:r>
          </a:p>
        </p:txBody>
      </p:sp>
      <p:sp>
        <p:nvSpPr>
          <p:cNvPr id="39" name="Polygon 39"/>
          <p:cNvSpPr/>
          <p:nvPr/>
        </p:nvSpPr>
        <p:spPr>
          <a:xfrm>
            <a:off x="7905750" y="2952750"/>
            <a:ext cx="95250" cy="190500"/>
          </a:xfrm>
          <a:custGeom>
            <a:avLst/>
            <a:gdLst/>
            <a:ahLst/>
            <a:cxnLst/>
            <a:rect l="l" t="t" r="r" b="b"/>
            <a:pathLst>
              <a:path w="95250" h="190500">
                <a:moveTo>
                  <a:pt x="95250" y="95250"/>
                </a:moveTo>
                <a:lnTo>
                  <a:pt x="0" y="0"/>
                </a:lnTo>
                <a:lnTo>
                  <a:pt x="0" y="190500"/>
                </a:lnTo>
                <a:close/>
              </a:path>
            </a:pathLst>
          </a:custGeom>
          <a:solidFill>
            <a:srgbClr val="64748B"/>
          </a:solidFill>
          <a:ln>
            <a:noFill/>
          </a:ln>
        </p:spPr>
        <p:txBody>
          <a:bodyPr/>
          <a:lstStyle/>
          <a:p>
            <a:endParaRPr lang="en-US"/>
          </a:p>
        </p:txBody>
      </p:sp>
      <p:sp>
        <p:nvSpPr>
          <p:cNvPr id="40" name="Rectangle 40"/>
          <p:cNvSpPr/>
          <p:nvPr/>
        </p:nvSpPr>
        <p:spPr>
          <a:xfrm>
            <a:off x="8096250" y="1381125"/>
            <a:ext cx="3524250" cy="333375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41" name="Rectangle 41"/>
          <p:cNvSpPr/>
          <p:nvPr/>
        </p:nvSpPr>
        <p:spPr>
          <a:xfrm>
            <a:off x="8096250" y="1381125"/>
            <a:ext cx="3524250" cy="57150"/>
          </a:xfrm>
          <a:prstGeom prst="rect">
            <a:avLst/>
          </a:prstGeom>
          <a:solidFill>
            <a:srgbClr val="10B981"/>
          </a:solidFill>
          <a:ln>
            <a:noFill/>
          </a:ln>
        </p:spPr>
        <p:txBody>
          <a:bodyPr/>
          <a:lstStyle/>
          <a:p>
            <a:endParaRPr lang="en-US"/>
          </a:p>
        </p:txBody>
      </p:sp>
      <p:sp>
        <p:nvSpPr>
          <p:cNvPr id="42" name="Ellipse 42"/>
          <p:cNvSpPr/>
          <p:nvPr/>
        </p:nvSpPr>
        <p:spPr>
          <a:xfrm>
            <a:off x="8248650" y="1628775"/>
            <a:ext cx="457200" cy="457200"/>
          </a:xfrm>
          <a:prstGeom prst="ellipse">
            <a:avLst/>
          </a:prstGeom>
          <a:solidFill>
            <a:srgbClr val="10B981"/>
          </a:solidFill>
          <a:ln>
            <a:noFill/>
          </a:ln>
        </p:spPr>
        <p:txBody>
          <a:bodyPr/>
          <a:lstStyle/>
          <a:p>
            <a:endParaRPr lang="en-US"/>
          </a:p>
        </p:txBody>
      </p:sp>
      <p:sp>
        <p:nvSpPr>
          <p:cNvPr id="43" name="TextBox 43"/>
          <p:cNvSpPr txBox="1"/>
          <p:nvPr/>
        </p:nvSpPr>
        <p:spPr>
          <a:xfrm>
            <a:off x="8403173" y="177831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44" name="TextBox 44"/>
          <p:cNvSpPr txBox="1"/>
          <p:nvPr/>
        </p:nvSpPr>
        <p:spPr>
          <a:xfrm>
            <a:off x="8789670" y="1745932"/>
            <a:ext cx="788353" cy="335280"/>
          </a:xfrm>
          <a:prstGeom prst="rect">
            <a:avLst/>
          </a:prstGeom>
          <a:noFill/>
          <a:ln>
            <a:noFill/>
          </a:ln>
        </p:spPr>
        <p:txBody>
          <a:bodyPr wrap="none" lIns="0" tIns="0" rIns="0" bIns="0" anchor="t" anchorCtr="0">
            <a:spAutoFit/>
          </a:bodyPr>
          <a:lstStyle/>
          <a:p>
            <a:pPr algn="l"/>
            <a:r>
              <a:rPr lang="zh-CN" sz="1650" b="1" dirty="0">
                <a:solidFill>
                  <a:srgbClr val="10B981"/>
                </a:solidFill>
                <a:latin typeface="Arial"/>
                <a:ea typeface="Microsoft YaHei"/>
                <a:cs typeface="Arial"/>
              </a:rPr>
              <a:t>Merge</a:t>
            </a:r>
          </a:p>
        </p:txBody>
      </p:sp>
      <p:sp>
        <p:nvSpPr>
          <p:cNvPr id="45" name="TextBox 45"/>
          <p:cNvSpPr txBox="1"/>
          <p:nvPr/>
        </p:nvSpPr>
        <p:spPr>
          <a:xfrm>
            <a:off x="8366760" y="2204085"/>
            <a:ext cx="2151126"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Manager approves the PR</a:t>
            </a:r>
          </a:p>
        </p:txBody>
      </p:sp>
      <p:sp>
        <p:nvSpPr>
          <p:cNvPr id="46" name="TextBox 46"/>
          <p:cNvSpPr txBox="1"/>
          <p:nvPr/>
        </p:nvSpPr>
        <p:spPr>
          <a:xfrm>
            <a:off x="8366760" y="2489835"/>
            <a:ext cx="2098548"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Branch merged into main</a:t>
            </a:r>
          </a:p>
        </p:txBody>
      </p:sp>
      <p:sp>
        <p:nvSpPr>
          <p:cNvPr id="47" name="TextBox 47"/>
          <p:cNvSpPr txBox="1"/>
          <p:nvPr/>
        </p:nvSpPr>
        <p:spPr>
          <a:xfrm>
            <a:off x="8366760" y="2775585"/>
            <a:ext cx="1721739"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a:ea typeface="Microsoft YaHei"/>
                <a:cs typeface="Arial"/>
              </a:rPr>
              <a:t>Work is now official</a:t>
            </a:r>
          </a:p>
        </p:txBody>
      </p:sp>
      <p:sp>
        <p:nvSpPr>
          <p:cNvPr id="48" name="Rectangle 48"/>
          <p:cNvSpPr/>
          <p:nvPr/>
        </p:nvSpPr>
        <p:spPr>
          <a:xfrm>
            <a:off x="8382000" y="3143250"/>
            <a:ext cx="3048000" cy="1333500"/>
          </a:xfrm>
          <a:prstGeom prst="rect">
            <a:avLst/>
          </a:prstGeom>
          <a:solidFill>
            <a:srgbClr val="F0FDF4"/>
          </a:solidFill>
          <a:ln w="9525">
            <a:solidFill>
              <a:srgbClr val="BBF7D0"/>
            </a:solidFill>
          </a:ln>
        </p:spPr>
        <p:txBody>
          <a:bodyPr/>
          <a:lstStyle/>
          <a:p>
            <a:endParaRPr lang="en-US"/>
          </a:p>
        </p:txBody>
      </p:sp>
      <p:sp>
        <p:nvSpPr>
          <p:cNvPr id="49" name="Freeform 49"/>
          <p:cNvSpPr/>
          <p:nvPr/>
        </p:nvSpPr>
        <p:spPr>
          <a:xfrm>
            <a:off x="9578578" y="3381375"/>
            <a:ext cx="464344" cy="571500"/>
          </a:xfrm>
          <a:custGeom>
            <a:avLst/>
            <a:gdLst/>
            <a:ahLst/>
            <a:cxnLst/>
            <a:rect l="l" t="t" r="r" b="b"/>
            <a:pathLst>
              <a:path w="464344" h="571500">
                <a:moveTo>
                  <a:pt x="130011" y="168794"/>
                </a:moveTo>
                <a:cubicBezTo>
                  <a:pt x="158856" y="153991"/>
                  <a:pt x="178594" y="123949"/>
                  <a:pt x="178594" y="89297"/>
                </a:cubicBezTo>
                <a:cubicBezTo>
                  <a:pt x="178594" y="39980"/>
                  <a:pt x="138614" y="0"/>
                  <a:pt x="89297" y="0"/>
                </a:cubicBezTo>
                <a:cubicBezTo>
                  <a:pt x="39980" y="0"/>
                  <a:pt x="0" y="39980"/>
                  <a:pt x="0" y="89297"/>
                </a:cubicBezTo>
                <a:cubicBezTo>
                  <a:pt x="0" y="125914"/>
                  <a:pt x="22040" y="157384"/>
                  <a:pt x="53578" y="171164"/>
                </a:cubicBezTo>
                <a:lnTo>
                  <a:pt x="53578" y="400336"/>
                </a:lnTo>
                <a:cubicBezTo>
                  <a:pt x="22040" y="414116"/>
                  <a:pt x="0" y="445584"/>
                  <a:pt x="0" y="482203"/>
                </a:cubicBezTo>
                <a:cubicBezTo>
                  <a:pt x="0" y="531520"/>
                  <a:pt x="39980" y="571500"/>
                  <a:pt x="89297" y="571500"/>
                </a:cubicBezTo>
                <a:cubicBezTo>
                  <a:pt x="138614" y="571500"/>
                  <a:pt x="178594" y="531520"/>
                  <a:pt x="178594" y="482203"/>
                </a:cubicBezTo>
                <a:cubicBezTo>
                  <a:pt x="178594" y="445584"/>
                  <a:pt x="156553" y="414116"/>
                  <a:pt x="125016" y="400336"/>
                </a:cubicBezTo>
                <a:lnTo>
                  <a:pt x="125016" y="264826"/>
                </a:lnTo>
                <a:lnTo>
                  <a:pt x="199517" y="339328"/>
                </a:lnTo>
                <a:lnTo>
                  <a:pt x="293180" y="339328"/>
                </a:lnTo>
                <a:cubicBezTo>
                  <a:pt x="306960" y="370868"/>
                  <a:pt x="338428" y="392906"/>
                  <a:pt x="375047" y="392906"/>
                </a:cubicBezTo>
                <a:cubicBezTo>
                  <a:pt x="424364" y="392906"/>
                  <a:pt x="464344" y="352927"/>
                  <a:pt x="464344" y="303609"/>
                </a:cubicBezTo>
                <a:cubicBezTo>
                  <a:pt x="464344" y="254292"/>
                  <a:pt x="424364" y="214312"/>
                  <a:pt x="375047" y="214312"/>
                </a:cubicBezTo>
                <a:cubicBezTo>
                  <a:pt x="338428" y="214312"/>
                  <a:pt x="306960" y="236353"/>
                  <a:pt x="293180" y="267891"/>
                </a:cubicBezTo>
                <a:lnTo>
                  <a:pt x="229108" y="267891"/>
                </a:lnTo>
                <a:lnTo>
                  <a:pt x="130011" y="168794"/>
                </a:lnTo>
                <a:close/>
              </a:path>
            </a:pathLst>
          </a:custGeom>
          <a:solidFill>
            <a:srgbClr val="10B981"/>
          </a:solidFill>
          <a:ln>
            <a:noFill/>
          </a:ln>
        </p:spPr>
        <p:txBody>
          <a:bodyPr/>
          <a:lstStyle/>
          <a:p>
            <a:endParaRPr lang="en-US"/>
          </a:p>
        </p:txBody>
      </p:sp>
      <p:sp>
        <p:nvSpPr>
          <p:cNvPr id="50" name="TextBox 50"/>
          <p:cNvSpPr txBox="1"/>
          <p:nvPr/>
        </p:nvSpPr>
        <p:spPr>
          <a:xfrm>
            <a:off x="8979846" y="4061460"/>
            <a:ext cx="1852308" cy="243840"/>
          </a:xfrm>
          <a:prstGeom prst="rect">
            <a:avLst/>
          </a:prstGeom>
          <a:noFill/>
          <a:ln>
            <a:noFill/>
          </a:ln>
        </p:spPr>
        <p:txBody>
          <a:bodyPr wrap="none" lIns="0" tIns="0" rIns="0" bIns="0" anchor="t" anchorCtr="0">
            <a:spAutoFit/>
          </a:bodyPr>
          <a:lstStyle/>
          <a:p>
            <a:pPr algn="ctr"/>
            <a:r>
              <a:rPr lang="zh-CN" sz="1200" b="1" dirty="0">
                <a:solidFill>
                  <a:srgbClr val="10B981"/>
                </a:solidFill>
                <a:latin typeface="Arial"/>
                <a:ea typeface="Microsoft YaHei"/>
                <a:cs typeface="Arial"/>
              </a:rPr>
              <a:t>Merged successfully</a:t>
            </a:r>
          </a:p>
        </p:txBody>
      </p:sp>
      <p:sp>
        <p:nvSpPr>
          <p:cNvPr id="51" name="TextBox 51"/>
          <p:cNvSpPr txBox="1"/>
          <p:nvPr/>
        </p:nvSpPr>
        <p:spPr>
          <a:xfrm>
            <a:off x="8861227" y="4276249"/>
            <a:ext cx="2089547"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Main now has the new content</a:t>
            </a:r>
          </a:p>
        </p:txBody>
      </p:sp>
      <p:sp>
        <p:nvSpPr>
          <p:cNvPr id="52" name="Rectangle 52"/>
          <p:cNvSpPr/>
          <p:nvPr/>
        </p:nvSpPr>
        <p:spPr>
          <a:xfrm>
            <a:off x="571500" y="4953000"/>
            <a:ext cx="11049000" cy="523875"/>
          </a:xfrm>
          <a:prstGeom prst="rect">
            <a:avLst/>
          </a:prstGeom>
          <a:solidFill>
            <a:srgbClr val="D97757">
              <a:alpha val="6000"/>
            </a:srgbClr>
          </a:solidFill>
          <a:ln w="9525">
            <a:solidFill>
              <a:srgbClr val="D97757"/>
            </a:solidFill>
          </a:ln>
        </p:spPr>
        <p:txBody>
          <a:bodyPr/>
          <a:lstStyle/>
          <a:p>
            <a:endParaRPr lang="en-US"/>
          </a:p>
        </p:txBody>
      </p:sp>
      <p:sp>
        <p:nvSpPr>
          <p:cNvPr id="53" name="TextBox 53"/>
          <p:cNvSpPr txBox="1"/>
          <p:nvPr/>
        </p:nvSpPr>
        <p:spPr>
          <a:xfrm>
            <a:off x="2098783" y="5140642"/>
            <a:ext cx="7994435" cy="274320"/>
          </a:xfrm>
          <a:prstGeom prst="rect">
            <a:avLst/>
          </a:prstGeom>
          <a:noFill/>
          <a:ln>
            <a:noFill/>
          </a:ln>
        </p:spPr>
        <p:txBody>
          <a:bodyPr wrap="none" lIns="0" tIns="0" rIns="0" bIns="0" anchor="t" anchorCtr="0">
            <a:spAutoFit/>
          </a:bodyPr>
          <a:lstStyle/>
          <a:p>
            <a:pPr algn="ctr"/>
            <a:r>
              <a:rPr lang="zh-CN" sz="1350" b="1" dirty="0">
                <a:solidFill>
                  <a:srgbClr val="D97757"/>
                </a:solidFill>
                <a:latin typeface="Arial"/>
                <a:ea typeface="Microsoft YaHei"/>
                <a:cs typeface="Arial"/>
              </a:rPr>
              <a:t>No one merges their own work without review. The manager is the gatekeeper.</a:t>
            </a:r>
          </a:p>
        </p:txBody>
      </p:sp>
      <p:sp>
        <p:nvSpPr>
          <p:cNvPr id="54" name="TextBox 54"/>
          <p:cNvSpPr txBox="1"/>
          <p:nvPr/>
        </p:nvSpPr>
        <p:spPr>
          <a:xfrm>
            <a:off x="5864138" y="6411278"/>
            <a:ext cx="463725"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10 / 15</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sp>
        <p:nvSpPr>
          <p:cNvPr id="3" name="Rectangle 3"/>
          <p:cNvSpPr/>
          <p:nvPr/>
        </p:nvSpPr>
        <p:spPr>
          <a:xfrm>
            <a:off x="0" y="0"/>
            <a:ext cx="12192000" cy="57150"/>
          </a:xfrm>
          <a:prstGeom prst="rect">
            <a:avLst/>
          </a:prstGeom>
          <a:solidFill>
            <a:srgbClr val="D97757"/>
          </a:solidFill>
          <a:ln>
            <a:noFill/>
          </a:ln>
        </p:spPr>
        <p:txBody>
          <a:bodyPr/>
          <a:lstStyle/>
          <a:p>
            <a:endParaRPr lang="en-US"/>
          </a:p>
        </p:txBody>
      </p:sp>
      <p:sp>
        <p:nvSpPr>
          <p:cNvPr id="4" name="TextBox 4"/>
          <p:cNvSpPr txBox="1"/>
          <p:nvPr/>
        </p:nvSpPr>
        <p:spPr>
          <a:xfrm>
            <a:off x="558165" y="410528"/>
            <a:ext cx="824103" cy="213360"/>
          </a:xfrm>
          <a:prstGeom prst="rect">
            <a:avLst/>
          </a:prstGeom>
          <a:noFill/>
          <a:ln>
            <a:noFill/>
          </a:ln>
        </p:spPr>
        <p:txBody>
          <a:bodyPr wrap="none" lIns="0" tIns="0" rIns="0" bIns="0" anchor="t" anchorCtr="0">
            <a:spAutoFit/>
          </a:bodyPr>
          <a:lstStyle/>
          <a:p>
            <a:pPr algn="l"/>
            <a:r>
              <a:rPr lang="zh-CN" sz="1050" dirty="0">
                <a:solidFill>
                  <a:srgbClr val="D97757"/>
                </a:solidFill>
                <a:latin typeface="Arial"/>
                <a:ea typeface="Microsoft YaHei"/>
                <a:cs typeface="Arial"/>
              </a:rPr>
              <a:t>WORKFLOW</a:t>
            </a:r>
          </a:p>
        </p:txBody>
      </p:sp>
      <p:sp>
        <p:nvSpPr>
          <p:cNvPr id="5" name="TextBox 5"/>
          <p:cNvSpPr txBox="1"/>
          <p:nvPr/>
        </p:nvSpPr>
        <p:spPr>
          <a:xfrm>
            <a:off x="541020" y="693420"/>
            <a:ext cx="6777800" cy="487680"/>
          </a:xfrm>
          <a:prstGeom prst="rect">
            <a:avLst/>
          </a:prstGeom>
          <a:noFill/>
          <a:ln>
            <a:noFill/>
          </a:ln>
        </p:spPr>
        <p:txBody>
          <a:bodyPr wrap="none" lIns="0" tIns="0" rIns="0" bIns="0" anchor="t" anchorCtr="0">
            <a:spAutoFit/>
          </a:bodyPr>
          <a:lstStyle/>
          <a:p>
            <a:pPr algn="l"/>
            <a:r>
              <a:rPr lang="zh-CN" sz="2400" b="1" dirty="0">
                <a:solidFill>
                  <a:srgbClr val="1A1A2E"/>
                </a:solidFill>
                <a:latin typeface="Arial"/>
                <a:ea typeface="Microsoft YaHei"/>
                <a:cs typeface="Arial"/>
              </a:rPr>
              <a:t>Every Work Session Follows This Cycle</a:t>
            </a:r>
          </a:p>
        </p:txBody>
      </p:sp>
      <p:sp>
        <p:nvSpPr>
          <p:cNvPr id="6" name="Rectangle 6"/>
          <p:cNvSpPr/>
          <p:nvPr/>
        </p:nvSpPr>
        <p:spPr>
          <a:xfrm>
            <a:off x="571500" y="1476375"/>
            <a:ext cx="1476375" cy="1714500"/>
          </a:xfrm>
          <a:prstGeom prst="rect">
            <a:avLst/>
          </a:prstGeom>
          <a:solidFill>
            <a:srgbClr val="F8FAFC"/>
          </a:solidFill>
          <a:ln w="9525">
            <a:solidFill>
              <a:srgbClr val="E2E8F0"/>
            </a:solidFill>
          </a:ln>
        </p:spPr>
        <p:txBody>
          <a:bodyPr/>
          <a:lstStyle/>
          <a:p>
            <a:endParaRPr lang="en-US"/>
          </a:p>
        </p:txBody>
      </p:sp>
      <p:sp>
        <p:nvSpPr>
          <p:cNvPr id="7" name="Rectangle 7"/>
          <p:cNvSpPr/>
          <p:nvPr/>
        </p:nvSpPr>
        <p:spPr>
          <a:xfrm>
            <a:off x="571500" y="1476375"/>
            <a:ext cx="1476375" cy="47625"/>
          </a:xfrm>
          <a:prstGeom prst="rect">
            <a:avLst/>
          </a:prstGeom>
          <a:solidFill>
            <a:srgbClr val="4A90D9"/>
          </a:solidFill>
          <a:ln>
            <a:noFill/>
          </a:ln>
        </p:spPr>
        <p:txBody>
          <a:bodyPr/>
          <a:lstStyle/>
          <a:p>
            <a:endParaRPr lang="en-US"/>
          </a:p>
        </p:txBody>
      </p:sp>
      <p:sp>
        <p:nvSpPr>
          <p:cNvPr id="8" name="Ellipse 8"/>
          <p:cNvSpPr/>
          <p:nvPr/>
        </p:nvSpPr>
        <p:spPr>
          <a:xfrm>
            <a:off x="1095375" y="1695450"/>
            <a:ext cx="419100" cy="419100"/>
          </a:xfrm>
          <a:prstGeom prst="ellipse">
            <a:avLst/>
          </a:prstGeom>
          <a:solidFill>
            <a:srgbClr val="4A90D9"/>
          </a:solidFill>
          <a:ln>
            <a:noFill/>
          </a:ln>
        </p:spPr>
        <p:txBody>
          <a:bodyPr/>
          <a:lstStyle/>
          <a:p>
            <a:endParaRPr lang="en-US"/>
          </a:p>
        </p:txBody>
      </p:sp>
      <p:sp>
        <p:nvSpPr>
          <p:cNvPr id="9" name="TextBox 9"/>
          <p:cNvSpPr txBox="1"/>
          <p:nvPr/>
        </p:nvSpPr>
        <p:spPr>
          <a:xfrm>
            <a:off x="1262082" y="1842135"/>
            <a:ext cx="8568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1</a:t>
            </a:r>
          </a:p>
        </p:txBody>
      </p:sp>
      <p:sp>
        <p:nvSpPr>
          <p:cNvPr id="10" name="TextBox 10"/>
          <p:cNvSpPr txBox="1"/>
          <p:nvPr/>
        </p:nvSpPr>
        <p:spPr>
          <a:xfrm>
            <a:off x="1111808" y="2187892"/>
            <a:ext cx="386234" cy="274320"/>
          </a:xfrm>
          <a:prstGeom prst="rect">
            <a:avLst/>
          </a:prstGeom>
          <a:noFill/>
          <a:ln>
            <a:noFill/>
          </a:ln>
        </p:spPr>
        <p:txBody>
          <a:bodyPr wrap="none" lIns="0" tIns="0" rIns="0" bIns="0" anchor="t" anchorCtr="0">
            <a:spAutoFit/>
          </a:bodyPr>
          <a:lstStyle/>
          <a:p>
            <a:pPr algn="ctr"/>
            <a:r>
              <a:rPr lang="zh-CN" sz="1350" b="1" dirty="0">
                <a:solidFill>
                  <a:srgbClr val="1A1A2E"/>
                </a:solidFill>
                <a:latin typeface="Arial"/>
                <a:ea typeface="Microsoft YaHei"/>
                <a:cs typeface="Arial"/>
              </a:rPr>
              <a:t>Pull</a:t>
            </a:r>
          </a:p>
        </p:txBody>
      </p:sp>
      <p:sp>
        <p:nvSpPr>
          <p:cNvPr id="11" name="TextBox 11"/>
          <p:cNvSpPr txBox="1"/>
          <p:nvPr/>
        </p:nvSpPr>
        <p:spPr>
          <a:xfrm>
            <a:off x="936546" y="2466499"/>
            <a:ext cx="736759"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Get latest</a:t>
            </a:r>
          </a:p>
        </p:txBody>
      </p:sp>
      <p:sp>
        <p:nvSpPr>
          <p:cNvPr id="12" name="TextBox 12"/>
          <p:cNvSpPr txBox="1"/>
          <p:nvPr/>
        </p:nvSpPr>
        <p:spPr>
          <a:xfrm>
            <a:off x="883146" y="2637949"/>
            <a:ext cx="843558"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from GitHub</a:t>
            </a:r>
          </a:p>
        </p:txBody>
      </p:sp>
      <p:sp>
        <p:nvSpPr>
          <p:cNvPr id="13" name="Polygon 13"/>
          <p:cNvSpPr/>
          <p:nvPr/>
        </p:nvSpPr>
        <p:spPr>
          <a:xfrm>
            <a:off x="2047875" y="2266950"/>
            <a:ext cx="95250" cy="133350"/>
          </a:xfrm>
          <a:custGeom>
            <a:avLst/>
            <a:gdLst/>
            <a:ahLst/>
            <a:cxnLst/>
            <a:rect l="l" t="t" r="r" b="b"/>
            <a:pathLst>
              <a:path w="95250" h="133350">
                <a:moveTo>
                  <a:pt x="95250" y="66675"/>
                </a:moveTo>
                <a:lnTo>
                  <a:pt x="0" y="0"/>
                </a:lnTo>
                <a:lnTo>
                  <a:pt x="0" y="133350"/>
                </a:lnTo>
                <a:close/>
              </a:path>
            </a:pathLst>
          </a:custGeom>
          <a:solidFill>
            <a:srgbClr val="64748B"/>
          </a:solidFill>
          <a:ln>
            <a:noFill/>
          </a:ln>
        </p:spPr>
        <p:txBody>
          <a:bodyPr/>
          <a:lstStyle/>
          <a:p>
            <a:endParaRPr lang="en-US"/>
          </a:p>
        </p:txBody>
      </p:sp>
      <p:sp>
        <p:nvSpPr>
          <p:cNvPr id="14" name="Rectangle 14"/>
          <p:cNvSpPr/>
          <p:nvPr/>
        </p:nvSpPr>
        <p:spPr>
          <a:xfrm>
            <a:off x="2190750" y="1476375"/>
            <a:ext cx="1476375" cy="1714500"/>
          </a:xfrm>
          <a:prstGeom prst="rect">
            <a:avLst/>
          </a:prstGeom>
          <a:solidFill>
            <a:srgbClr val="F8FAFC"/>
          </a:solidFill>
          <a:ln w="9525">
            <a:solidFill>
              <a:srgbClr val="E2E8F0"/>
            </a:solidFill>
          </a:ln>
        </p:spPr>
        <p:txBody>
          <a:bodyPr/>
          <a:lstStyle/>
          <a:p>
            <a:endParaRPr lang="en-US"/>
          </a:p>
        </p:txBody>
      </p:sp>
      <p:sp>
        <p:nvSpPr>
          <p:cNvPr id="15" name="Rectangle 15"/>
          <p:cNvSpPr/>
          <p:nvPr/>
        </p:nvSpPr>
        <p:spPr>
          <a:xfrm>
            <a:off x="2190750" y="1476375"/>
            <a:ext cx="1476375" cy="47625"/>
          </a:xfrm>
          <a:prstGeom prst="rect">
            <a:avLst/>
          </a:prstGeom>
          <a:solidFill>
            <a:srgbClr val="10B981"/>
          </a:solidFill>
          <a:ln>
            <a:noFill/>
          </a:ln>
        </p:spPr>
        <p:txBody>
          <a:bodyPr/>
          <a:lstStyle/>
          <a:p>
            <a:endParaRPr lang="en-US"/>
          </a:p>
        </p:txBody>
      </p:sp>
      <p:sp>
        <p:nvSpPr>
          <p:cNvPr id="16" name="Ellipse 16"/>
          <p:cNvSpPr/>
          <p:nvPr/>
        </p:nvSpPr>
        <p:spPr>
          <a:xfrm>
            <a:off x="2714625" y="1695450"/>
            <a:ext cx="419100" cy="419100"/>
          </a:xfrm>
          <a:prstGeom prst="ellipse">
            <a:avLst/>
          </a:prstGeom>
          <a:solidFill>
            <a:srgbClr val="10B981"/>
          </a:solidFill>
          <a:ln>
            <a:noFill/>
          </a:ln>
        </p:spPr>
        <p:txBody>
          <a:bodyPr/>
          <a:lstStyle/>
          <a:p>
            <a:endParaRPr lang="en-US"/>
          </a:p>
        </p:txBody>
      </p:sp>
      <p:sp>
        <p:nvSpPr>
          <p:cNvPr id="17" name="TextBox 17"/>
          <p:cNvSpPr txBox="1"/>
          <p:nvPr/>
        </p:nvSpPr>
        <p:spPr>
          <a:xfrm>
            <a:off x="2858329" y="184213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2</a:t>
            </a:r>
          </a:p>
        </p:txBody>
      </p:sp>
      <p:sp>
        <p:nvSpPr>
          <p:cNvPr id="18" name="TextBox 18"/>
          <p:cNvSpPr txBox="1"/>
          <p:nvPr/>
        </p:nvSpPr>
        <p:spPr>
          <a:xfrm>
            <a:off x="2565437" y="2187892"/>
            <a:ext cx="717475" cy="274320"/>
          </a:xfrm>
          <a:prstGeom prst="rect">
            <a:avLst/>
          </a:prstGeom>
          <a:noFill/>
          <a:ln>
            <a:noFill/>
          </a:ln>
        </p:spPr>
        <p:txBody>
          <a:bodyPr wrap="none" lIns="0" tIns="0" rIns="0" bIns="0" anchor="t" anchorCtr="0">
            <a:spAutoFit/>
          </a:bodyPr>
          <a:lstStyle/>
          <a:p>
            <a:pPr algn="ctr"/>
            <a:r>
              <a:rPr lang="zh-CN" sz="1350" b="1" dirty="0">
                <a:solidFill>
                  <a:srgbClr val="1A1A2E"/>
                </a:solidFill>
                <a:latin typeface="Arial"/>
                <a:ea typeface="Microsoft YaHei"/>
                <a:cs typeface="Arial"/>
              </a:rPr>
              <a:t>Branch</a:t>
            </a:r>
          </a:p>
        </p:txBody>
      </p:sp>
      <p:sp>
        <p:nvSpPr>
          <p:cNvPr id="19" name="Freeform 19"/>
          <p:cNvSpPr/>
          <p:nvPr/>
        </p:nvSpPr>
        <p:spPr>
          <a:xfrm>
            <a:off x="2800350" y="2476500"/>
            <a:ext cx="247650" cy="304800"/>
          </a:xfrm>
          <a:custGeom>
            <a:avLst/>
            <a:gdLst/>
            <a:ahLst/>
            <a:cxnLst/>
            <a:rect l="l" t="t" r="r" b="b"/>
            <a:pathLst>
              <a:path w="247650" h="304800">
                <a:moveTo>
                  <a:pt x="66675" y="91287"/>
                </a:moveTo>
                <a:cubicBezTo>
                  <a:pt x="83495" y="83938"/>
                  <a:pt x="95250" y="67154"/>
                  <a:pt x="95250" y="47625"/>
                </a:cubicBezTo>
                <a:cubicBezTo>
                  <a:pt x="95250" y="21322"/>
                  <a:pt x="73928" y="0"/>
                  <a:pt x="47625" y="0"/>
                </a:cubicBezTo>
                <a:cubicBezTo>
                  <a:pt x="21322" y="0"/>
                  <a:pt x="0" y="21322"/>
                  <a:pt x="0" y="47625"/>
                </a:cubicBezTo>
                <a:cubicBezTo>
                  <a:pt x="0" y="67154"/>
                  <a:pt x="11755" y="83938"/>
                  <a:pt x="28575" y="91287"/>
                </a:cubicBezTo>
                <a:lnTo>
                  <a:pt x="28575" y="213512"/>
                </a:lnTo>
                <a:cubicBezTo>
                  <a:pt x="11755" y="220862"/>
                  <a:pt x="0" y="237645"/>
                  <a:pt x="0" y="257175"/>
                </a:cubicBezTo>
                <a:cubicBezTo>
                  <a:pt x="0" y="283477"/>
                  <a:pt x="21322" y="304800"/>
                  <a:pt x="47625" y="304800"/>
                </a:cubicBezTo>
                <a:cubicBezTo>
                  <a:pt x="73928" y="304800"/>
                  <a:pt x="95250" y="283477"/>
                  <a:pt x="95250" y="257175"/>
                </a:cubicBezTo>
                <a:cubicBezTo>
                  <a:pt x="95250" y="237645"/>
                  <a:pt x="83495" y="220862"/>
                  <a:pt x="66675" y="213512"/>
                </a:cubicBezTo>
                <a:lnTo>
                  <a:pt x="66675" y="171450"/>
                </a:lnTo>
                <a:lnTo>
                  <a:pt x="219075" y="171450"/>
                </a:lnTo>
                <a:lnTo>
                  <a:pt x="219075" y="91287"/>
                </a:lnTo>
                <a:cubicBezTo>
                  <a:pt x="235896" y="83938"/>
                  <a:pt x="247650" y="67154"/>
                  <a:pt x="247650" y="47625"/>
                </a:cubicBezTo>
                <a:cubicBezTo>
                  <a:pt x="247650" y="21322"/>
                  <a:pt x="226327" y="0"/>
                  <a:pt x="200025" y="0"/>
                </a:cubicBezTo>
                <a:cubicBezTo>
                  <a:pt x="173723" y="0"/>
                  <a:pt x="152400" y="21322"/>
                  <a:pt x="152400" y="47625"/>
                </a:cubicBezTo>
                <a:cubicBezTo>
                  <a:pt x="152400" y="67154"/>
                  <a:pt x="164154" y="83938"/>
                  <a:pt x="180975" y="91287"/>
                </a:cubicBezTo>
                <a:lnTo>
                  <a:pt x="180975" y="133350"/>
                </a:lnTo>
                <a:lnTo>
                  <a:pt x="66675" y="133350"/>
                </a:lnTo>
                <a:lnTo>
                  <a:pt x="66675" y="91287"/>
                </a:lnTo>
                <a:close/>
              </a:path>
            </a:pathLst>
          </a:custGeom>
          <a:solidFill>
            <a:srgbClr val="10B981"/>
          </a:solidFill>
          <a:ln>
            <a:noFill/>
          </a:ln>
        </p:spPr>
        <p:txBody>
          <a:bodyPr/>
          <a:lstStyle/>
          <a:p>
            <a:endParaRPr lang="en-US"/>
          </a:p>
        </p:txBody>
      </p:sp>
      <p:sp>
        <p:nvSpPr>
          <p:cNvPr id="20" name="TextBox 20"/>
          <p:cNvSpPr txBox="1"/>
          <p:nvPr/>
        </p:nvSpPr>
        <p:spPr>
          <a:xfrm>
            <a:off x="2242518" y="2895124"/>
            <a:ext cx="1363313"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Create your branch</a:t>
            </a:r>
          </a:p>
        </p:txBody>
      </p:sp>
      <p:sp>
        <p:nvSpPr>
          <p:cNvPr id="21" name="Polygon 21"/>
          <p:cNvSpPr/>
          <p:nvPr/>
        </p:nvSpPr>
        <p:spPr>
          <a:xfrm>
            <a:off x="3667125" y="2266950"/>
            <a:ext cx="95250" cy="133350"/>
          </a:xfrm>
          <a:custGeom>
            <a:avLst/>
            <a:gdLst/>
            <a:ahLst/>
            <a:cxnLst/>
            <a:rect l="l" t="t" r="r" b="b"/>
            <a:pathLst>
              <a:path w="95250" h="133350">
                <a:moveTo>
                  <a:pt x="95250" y="66675"/>
                </a:moveTo>
                <a:lnTo>
                  <a:pt x="0" y="0"/>
                </a:lnTo>
                <a:lnTo>
                  <a:pt x="0" y="133350"/>
                </a:lnTo>
                <a:close/>
              </a:path>
            </a:pathLst>
          </a:custGeom>
          <a:solidFill>
            <a:srgbClr val="64748B"/>
          </a:solidFill>
          <a:ln>
            <a:noFill/>
          </a:ln>
        </p:spPr>
        <p:txBody>
          <a:bodyPr/>
          <a:lstStyle/>
          <a:p>
            <a:endParaRPr lang="en-US"/>
          </a:p>
        </p:txBody>
      </p:sp>
      <p:sp>
        <p:nvSpPr>
          <p:cNvPr id="22" name="Rectangle 22"/>
          <p:cNvSpPr/>
          <p:nvPr/>
        </p:nvSpPr>
        <p:spPr>
          <a:xfrm>
            <a:off x="3810000" y="1476375"/>
            <a:ext cx="1476375" cy="1714500"/>
          </a:xfrm>
          <a:prstGeom prst="rect">
            <a:avLst/>
          </a:prstGeom>
          <a:solidFill>
            <a:srgbClr val="F8FAFC"/>
          </a:solidFill>
          <a:ln w="9525">
            <a:solidFill>
              <a:srgbClr val="E2E8F0"/>
            </a:solidFill>
          </a:ln>
        </p:spPr>
        <p:txBody>
          <a:bodyPr/>
          <a:lstStyle/>
          <a:p>
            <a:endParaRPr lang="en-US"/>
          </a:p>
        </p:txBody>
      </p:sp>
      <p:sp>
        <p:nvSpPr>
          <p:cNvPr id="23" name="Rectangle 23"/>
          <p:cNvSpPr/>
          <p:nvPr/>
        </p:nvSpPr>
        <p:spPr>
          <a:xfrm>
            <a:off x="3810000" y="1476375"/>
            <a:ext cx="1476375" cy="47625"/>
          </a:xfrm>
          <a:prstGeom prst="rect">
            <a:avLst/>
          </a:prstGeom>
          <a:solidFill>
            <a:srgbClr val="D97757"/>
          </a:solidFill>
          <a:ln>
            <a:noFill/>
          </a:ln>
        </p:spPr>
        <p:txBody>
          <a:bodyPr/>
          <a:lstStyle/>
          <a:p>
            <a:endParaRPr lang="en-US"/>
          </a:p>
        </p:txBody>
      </p:sp>
      <p:sp>
        <p:nvSpPr>
          <p:cNvPr id="24" name="Ellipse 24"/>
          <p:cNvSpPr/>
          <p:nvPr/>
        </p:nvSpPr>
        <p:spPr>
          <a:xfrm>
            <a:off x="4333875" y="1695450"/>
            <a:ext cx="419100" cy="419100"/>
          </a:xfrm>
          <a:prstGeom prst="ellipse">
            <a:avLst/>
          </a:prstGeom>
          <a:solidFill>
            <a:srgbClr val="D97757"/>
          </a:solidFill>
          <a:ln>
            <a:noFill/>
          </a:ln>
        </p:spPr>
        <p:txBody>
          <a:bodyPr/>
          <a:lstStyle/>
          <a:p>
            <a:endParaRPr lang="en-US"/>
          </a:p>
        </p:txBody>
      </p:sp>
      <p:sp>
        <p:nvSpPr>
          <p:cNvPr id="25" name="TextBox 25"/>
          <p:cNvSpPr txBox="1"/>
          <p:nvPr/>
        </p:nvSpPr>
        <p:spPr>
          <a:xfrm>
            <a:off x="4477579" y="184213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3</a:t>
            </a:r>
          </a:p>
        </p:txBody>
      </p:sp>
      <p:sp>
        <p:nvSpPr>
          <p:cNvPr id="26" name="TextBox 26"/>
          <p:cNvSpPr txBox="1"/>
          <p:nvPr/>
        </p:nvSpPr>
        <p:spPr>
          <a:xfrm>
            <a:off x="4277849" y="2187892"/>
            <a:ext cx="531152" cy="274320"/>
          </a:xfrm>
          <a:prstGeom prst="rect">
            <a:avLst/>
          </a:prstGeom>
          <a:noFill/>
          <a:ln>
            <a:noFill/>
          </a:ln>
        </p:spPr>
        <p:txBody>
          <a:bodyPr wrap="none" lIns="0" tIns="0" rIns="0" bIns="0" anchor="t" anchorCtr="0">
            <a:spAutoFit/>
          </a:bodyPr>
          <a:lstStyle/>
          <a:p>
            <a:pPr algn="ctr"/>
            <a:r>
              <a:rPr lang="zh-CN" sz="1350" b="1" dirty="0">
                <a:solidFill>
                  <a:srgbClr val="1A1A2E"/>
                </a:solidFill>
                <a:latin typeface="Arial"/>
                <a:ea typeface="Microsoft YaHei"/>
                <a:cs typeface="Arial"/>
              </a:rPr>
              <a:t>Work</a:t>
            </a:r>
          </a:p>
        </p:txBody>
      </p:sp>
      <p:sp>
        <p:nvSpPr>
          <p:cNvPr id="27" name="TextBox 27"/>
          <p:cNvSpPr txBox="1"/>
          <p:nvPr/>
        </p:nvSpPr>
        <p:spPr>
          <a:xfrm>
            <a:off x="4171486" y="2514124"/>
            <a:ext cx="743879"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Edit files,</a:t>
            </a:r>
          </a:p>
        </p:txBody>
      </p:sp>
      <p:sp>
        <p:nvSpPr>
          <p:cNvPr id="28" name="TextBox 28"/>
          <p:cNvSpPr txBox="1"/>
          <p:nvPr/>
        </p:nvSpPr>
        <p:spPr>
          <a:xfrm>
            <a:off x="4118086" y="2685574"/>
            <a:ext cx="850678"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add content</a:t>
            </a:r>
          </a:p>
        </p:txBody>
      </p:sp>
      <p:sp>
        <p:nvSpPr>
          <p:cNvPr id="29" name="Polygon 29"/>
          <p:cNvSpPr/>
          <p:nvPr/>
        </p:nvSpPr>
        <p:spPr>
          <a:xfrm>
            <a:off x="5286375" y="2266950"/>
            <a:ext cx="95250" cy="133350"/>
          </a:xfrm>
          <a:custGeom>
            <a:avLst/>
            <a:gdLst/>
            <a:ahLst/>
            <a:cxnLst/>
            <a:rect l="l" t="t" r="r" b="b"/>
            <a:pathLst>
              <a:path w="95250" h="133350">
                <a:moveTo>
                  <a:pt x="95250" y="66675"/>
                </a:moveTo>
                <a:lnTo>
                  <a:pt x="0" y="0"/>
                </a:lnTo>
                <a:lnTo>
                  <a:pt x="0" y="133350"/>
                </a:lnTo>
                <a:close/>
              </a:path>
            </a:pathLst>
          </a:custGeom>
          <a:solidFill>
            <a:srgbClr val="64748B"/>
          </a:solidFill>
          <a:ln>
            <a:noFill/>
          </a:ln>
        </p:spPr>
        <p:txBody>
          <a:bodyPr/>
          <a:lstStyle/>
          <a:p>
            <a:endParaRPr lang="en-US"/>
          </a:p>
        </p:txBody>
      </p:sp>
      <p:sp>
        <p:nvSpPr>
          <p:cNvPr id="30" name="Rectangle 30"/>
          <p:cNvSpPr/>
          <p:nvPr/>
        </p:nvSpPr>
        <p:spPr>
          <a:xfrm>
            <a:off x="5429250" y="1476375"/>
            <a:ext cx="1476375" cy="1714500"/>
          </a:xfrm>
          <a:prstGeom prst="rect">
            <a:avLst/>
          </a:prstGeom>
          <a:solidFill>
            <a:srgbClr val="F8FAFC"/>
          </a:solidFill>
          <a:ln w="9525">
            <a:solidFill>
              <a:srgbClr val="E2E8F0"/>
            </a:solidFill>
          </a:ln>
        </p:spPr>
        <p:txBody>
          <a:bodyPr/>
          <a:lstStyle/>
          <a:p>
            <a:endParaRPr lang="en-US"/>
          </a:p>
        </p:txBody>
      </p:sp>
      <p:sp>
        <p:nvSpPr>
          <p:cNvPr id="31" name="Rectangle 31"/>
          <p:cNvSpPr/>
          <p:nvPr/>
        </p:nvSpPr>
        <p:spPr>
          <a:xfrm>
            <a:off x="5429250" y="1476375"/>
            <a:ext cx="1476375" cy="47625"/>
          </a:xfrm>
          <a:prstGeom prst="rect">
            <a:avLst/>
          </a:prstGeom>
          <a:solidFill>
            <a:srgbClr val="10B981"/>
          </a:solidFill>
          <a:ln>
            <a:noFill/>
          </a:ln>
        </p:spPr>
        <p:txBody>
          <a:bodyPr/>
          <a:lstStyle/>
          <a:p>
            <a:endParaRPr lang="en-US"/>
          </a:p>
        </p:txBody>
      </p:sp>
      <p:sp>
        <p:nvSpPr>
          <p:cNvPr id="32" name="Ellipse 32"/>
          <p:cNvSpPr/>
          <p:nvPr/>
        </p:nvSpPr>
        <p:spPr>
          <a:xfrm>
            <a:off x="5953125" y="1695450"/>
            <a:ext cx="419100" cy="419100"/>
          </a:xfrm>
          <a:prstGeom prst="ellipse">
            <a:avLst/>
          </a:prstGeom>
          <a:solidFill>
            <a:srgbClr val="10B981"/>
          </a:solidFill>
          <a:ln>
            <a:noFill/>
          </a:ln>
        </p:spPr>
        <p:txBody>
          <a:bodyPr/>
          <a:lstStyle/>
          <a:p>
            <a:endParaRPr lang="en-US"/>
          </a:p>
        </p:txBody>
      </p:sp>
      <p:sp>
        <p:nvSpPr>
          <p:cNvPr id="33" name="TextBox 33"/>
          <p:cNvSpPr txBox="1"/>
          <p:nvPr/>
        </p:nvSpPr>
        <p:spPr>
          <a:xfrm>
            <a:off x="6096829" y="184213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4</a:t>
            </a:r>
          </a:p>
        </p:txBody>
      </p:sp>
      <p:sp>
        <p:nvSpPr>
          <p:cNvPr id="34" name="TextBox 34"/>
          <p:cNvSpPr txBox="1"/>
          <p:nvPr/>
        </p:nvSpPr>
        <p:spPr>
          <a:xfrm>
            <a:off x="5788410" y="2187892"/>
            <a:ext cx="748529" cy="274320"/>
          </a:xfrm>
          <a:prstGeom prst="rect">
            <a:avLst/>
          </a:prstGeom>
          <a:noFill/>
          <a:ln>
            <a:noFill/>
          </a:ln>
        </p:spPr>
        <p:txBody>
          <a:bodyPr wrap="none" lIns="0" tIns="0" rIns="0" bIns="0" anchor="t" anchorCtr="0">
            <a:spAutoFit/>
          </a:bodyPr>
          <a:lstStyle/>
          <a:p>
            <a:pPr algn="ctr"/>
            <a:r>
              <a:rPr lang="zh-CN" sz="1350" b="1" dirty="0">
                <a:solidFill>
                  <a:srgbClr val="1A1A2E"/>
                </a:solidFill>
                <a:latin typeface="Arial"/>
                <a:ea typeface="Microsoft YaHei"/>
                <a:cs typeface="Arial"/>
              </a:rPr>
              <a:t>Commit</a:t>
            </a:r>
          </a:p>
        </p:txBody>
      </p:sp>
      <p:sp>
        <p:nvSpPr>
          <p:cNvPr id="35" name="Freeform 35"/>
          <p:cNvSpPr/>
          <p:nvPr/>
        </p:nvSpPr>
        <p:spPr>
          <a:xfrm>
            <a:off x="6010275" y="2571750"/>
            <a:ext cx="304800" cy="114300"/>
          </a:xfrm>
          <a:custGeom>
            <a:avLst/>
            <a:gdLst/>
            <a:ahLst/>
            <a:cxnLst/>
            <a:rect l="l" t="t" r="r" b="b"/>
            <a:pathLst>
              <a:path w="304800" h="114300">
                <a:moveTo>
                  <a:pt x="206298" y="38100"/>
                </a:moveTo>
                <a:lnTo>
                  <a:pt x="304800" y="38100"/>
                </a:lnTo>
                <a:lnTo>
                  <a:pt x="304800" y="76200"/>
                </a:lnTo>
                <a:lnTo>
                  <a:pt x="206298" y="76200"/>
                </a:lnTo>
                <a:cubicBezTo>
                  <a:pt x="198453" y="98397"/>
                  <a:pt x="177283" y="114300"/>
                  <a:pt x="152400" y="114300"/>
                </a:cubicBezTo>
                <a:cubicBezTo>
                  <a:pt x="127517" y="114300"/>
                  <a:pt x="106347" y="98397"/>
                  <a:pt x="98502" y="76200"/>
                </a:cubicBezTo>
                <a:lnTo>
                  <a:pt x="0" y="76200"/>
                </a:lnTo>
                <a:lnTo>
                  <a:pt x="0" y="38100"/>
                </a:lnTo>
                <a:lnTo>
                  <a:pt x="98502" y="38100"/>
                </a:lnTo>
                <a:cubicBezTo>
                  <a:pt x="106347" y="15903"/>
                  <a:pt x="127517" y="0"/>
                  <a:pt x="152400" y="0"/>
                </a:cubicBezTo>
                <a:cubicBezTo>
                  <a:pt x="177283" y="0"/>
                  <a:pt x="198453" y="15903"/>
                  <a:pt x="206298" y="38100"/>
                </a:cubicBezTo>
                <a:close/>
              </a:path>
            </a:pathLst>
          </a:custGeom>
          <a:solidFill>
            <a:srgbClr val="10B981"/>
          </a:solidFill>
          <a:ln>
            <a:noFill/>
          </a:ln>
        </p:spPr>
        <p:txBody>
          <a:bodyPr/>
          <a:lstStyle/>
          <a:p>
            <a:endParaRPr lang="en-US"/>
          </a:p>
        </p:txBody>
      </p:sp>
      <p:sp>
        <p:nvSpPr>
          <p:cNvPr id="36" name="TextBox 36"/>
          <p:cNvSpPr txBox="1"/>
          <p:nvPr/>
        </p:nvSpPr>
        <p:spPr>
          <a:xfrm>
            <a:off x="5559338" y="2895124"/>
            <a:ext cx="1206675"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Save checkpoints</a:t>
            </a:r>
          </a:p>
        </p:txBody>
      </p:sp>
      <p:sp>
        <p:nvSpPr>
          <p:cNvPr id="37" name="Polygon 37"/>
          <p:cNvSpPr/>
          <p:nvPr/>
        </p:nvSpPr>
        <p:spPr>
          <a:xfrm>
            <a:off x="6905625" y="2266950"/>
            <a:ext cx="95250" cy="133350"/>
          </a:xfrm>
          <a:custGeom>
            <a:avLst/>
            <a:gdLst/>
            <a:ahLst/>
            <a:cxnLst/>
            <a:rect l="l" t="t" r="r" b="b"/>
            <a:pathLst>
              <a:path w="95250" h="133350">
                <a:moveTo>
                  <a:pt x="95250" y="66675"/>
                </a:moveTo>
                <a:lnTo>
                  <a:pt x="0" y="0"/>
                </a:lnTo>
                <a:lnTo>
                  <a:pt x="0" y="133350"/>
                </a:lnTo>
                <a:close/>
              </a:path>
            </a:pathLst>
          </a:custGeom>
          <a:solidFill>
            <a:srgbClr val="64748B"/>
          </a:solidFill>
          <a:ln>
            <a:noFill/>
          </a:ln>
        </p:spPr>
        <p:txBody>
          <a:bodyPr/>
          <a:lstStyle/>
          <a:p>
            <a:endParaRPr lang="en-US"/>
          </a:p>
        </p:txBody>
      </p:sp>
      <p:sp>
        <p:nvSpPr>
          <p:cNvPr id="38" name="Rectangle 38"/>
          <p:cNvSpPr/>
          <p:nvPr/>
        </p:nvSpPr>
        <p:spPr>
          <a:xfrm>
            <a:off x="7048500" y="1476375"/>
            <a:ext cx="1476375" cy="1714500"/>
          </a:xfrm>
          <a:prstGeom prst="rect">
            <a:avLst/>
          </a:prstGeom>
          <a:solidFill>
            <a:srgbClr val="F8FAFC"/>
          </a:solidFill>
          <a:ln w="9525">
            <a:solidFill>
              <a:srgbClr val="E2E8F0"/>
            </a:solidFill>
          </a:ln>
        </p:spPr>
        <p:txBody>
          <a:bodyPr/>
          <a:lstStyle/>
          <a:p>
            <a:endParaRPr lang="en-US"/>
          </a:p>
        </p:txBody>
      </p:sp>
      <p:sp>
        <p:nvSpPr>
          <p:cNvPr id="39" name="Rectangle 39"/>
          <p:cNvSpPr/>
          <p:nvPr/>
        </p:nvSpPr>
        <p:spPr>
          <a:xfrm>
            <a:off x="7048500" y="1476375"/>
            <a:ext cx="1476375" cy="47625"/>
          </a:xfrm>
          <a:prstGeom prst="rect">
            <a:avLst/>
          </a:prstGeom>
          <a:solidFill>
            <a:srgbClr val="4A90D9"/>
          </a:solidFill>
          <a:ln>
            <a:noFill/>
          </a:ln>
        </p:spPr>
        <p:txBody>
          <a:bodyPr/>
          <a:lstStyle/>
          <a:p>
            <a:endParaRPr lang="en-US"/>
          </a:p>
        </p:txBody>
      </p:sp>
      <p:sp>
        <p:nvSpPr>
          <p:cNvPr id="40" name="Ellipse 40"/>
          <p:cNvSpPr/>
          <p:nvPr/>
        </p:nvSpPr>
        <p:spPr>
          <a:xfrm>
            <a:off x="7572375" y="1695450"/>
            <a:ext cx="419100" cy="419100"/>
          </a:xfrm>
          <a:prstGeom prst="ellipse">
            <a:avLst/>
          </a:prstGeom>
          <a:solidFill>
            <a:srgbClr val="4A90D9"/>
          </a:solidFill>
          <a:ln>
            <a:noFill/>
          </a:ln>
        </p:spPr>
        <p:txBody>
          <a:bodyPr/>
          <a:lstStyle/>
          <a:p>
            <a:endParaRPr lang="en-US"/>
          </a:p>
        </p:txBody>
      </p:sp>
      <p:sp>
        <p:nvSpPr>
          <p:cNvPr id="41" name="TextBox 41"/>
          <p:cNvSpPr txBox="1"/>
          <p:nvPr/>
        </p:nvSpPr>
        <p:spPr>
          <a:xfrm>
            <a:off x="7716079" y="184213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5</a:t>
            </a:r>
          </a:p>
        </p:txBody>
      </p:sp>
      <p:sp>
        <p:nvSpPr>
          <p:cNvPr id="42" name="TextBox 42"/>
          <p:cNvSpPr txBox="1"/>
          <p:nvPr/>
        </p:nvSpPr>
        <p:spPr>
          <a:xfrm>
            <a:off x="7537052" y="2187892"/>
            <a:ext cx="489747" cy="274320"/>
          </a:xfrm>
          <a:prstGeom prst="rect">
            <a:avLst/>
          </a:prstGeom>
          <a:noFill/>
          <a:ln>
            <a:noFill/>
          </a:ln>
        </p:spPr>
        <p:txBody>
          <a:bodyPr wrap="none" lIns="0" tIns="0" rIns="0" bIns="0" anchor="t" anchorCtr="0">
            <a:spAutoFit/>
          </a:bodyPr>
          <a:lstStyle/>
          <a:p>
            <a:pPr algn="ctr"/>
            <a:r>
              <a:rPr lang="zh-CN" sz="1350" b="1" dirty="0">
                <a:solidFill>
                  <a:srgbClr val="1A1A2E"/>
                </a:solidFill>
                <a:latin typeface="Arial"/>
                <a:ea typeface="Microsoft YaHei"/>
                <a:cs typeface="Arial"/>
              </a:rPr>
              <a:t>Push</a:t>
            </a:r>
          </a:p>
        </p:txBody>
      </p:sp>
      <p:sp>
        <p:nvSpPr>
          <p:cNvPr id="43" name="TextBox 43"/>
          <p:cNvSpPr txBox="1"/>
          <p:nvPr/>
        </p:nvSpPr>
        <p:spPr>
          <a:xfrm>
            <a:off x="7356586" y="2514124"/>
            <a:ext cx="850678"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Send branch</a:t>
            </a:r>
          </a:p>
        </p:txBody>
      </p:sp>
      <p:sp>
        <p:nvSpPr>
          <p:cNvPr id="44" name="TextBox 44"/>
          <p:cNvSpPr txBox="1"/>
          <p:nvPr/>
        </p:nvSpPr>
        <p:spPr>
          <a:xfrm>
            <a:off x="7452705" y="2685574"/>
            <a:ext cx="658439"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to GitHub</a:t>
            </a:r>
          </a:p>
        </p:txBody>
      </p:sp>
      <p:sp>
        <p:nvSpPr>
          <p:cNvPr id="45" name="Polygon 45"/>
          <p:cNvSpPr/>
          <p:nvPr/>
        </p:nvSpPr>
        <p:spPr>
          <a:xfrm>
            <a:off x="8524875" y="2266950"/>
            <a:ext cx="95250" cy="133350"/>
          </a:xfrm>
          <a:custGeom>
            <a:avLst/>
            <a:gdLst/>
            <a:ahLst/>
            <a:cxnLst/>
            <a:rect l="l" t="t" r="r" b="b"/>
            <a:pathLst>
              <a:path w="95250" h="133350">
                <a:moveTo>
                  <a:pt x="95250" y="66675"/>
                </a:moveTo>
                <a:lnTo>
                  <a:pt x="0" y="0"/>
                </a:lnTo>
                <a:lnTo>
                  <a:pt x="0" y="133350"/>
                </a:lnTo>
                <a:close/>
              </a:path>
            </a:pathLst>
          </a:custGeom>
          <a:solidFill>
            <a:srgbClr val="64748B"/>
          </a:solidFill>
          <a:ln>
            <a:noFill/>
          </a:ln>
        </p:spPr>
        <p:txBody>
          <a:bodyPr/>
          <a:lstStyle/>
          <a:p>
            <a:endParaRPr lang="en-US"/>
          </a:p>
        </p:txBody>
      </p:sp>
      <p:sp>
        <p:nvSpPr>
          <p:cNvPr id="46" name="Rectangle 46"/>
          <p:cNvSpPr/>
          <p:nvPr/>
        </p:nvSpPr>
        <p:spPr>
          <a:xfrm>
            <a:off x="8667750" y="1476375"/>
            <a:ext cx="1476375" cy="1714500"/>
          </a:xfrm>
          <a:prstGeom prst="rect">
            <a:avLst/>
          </a:prstGeom>
          <a:solidFill>
            <a:srgbClr val="F8FAFC"/>
          </a:solidFill>
          <a:ln w="9525">
            <a:solidFill>
              <a:srgbClr val="E2E8F0"/>
            </a:solidFill>
          </a:ln>
        </p:spPr>
        <p:txBody>
          <a:bodyPr/>
          <a:lstStyle/>
          <a:p>
            <a:endParaRPr lang="en-US"/>
          </a:p>
        </p:txBody>
      </p:sp>
      <p:sp>
        <p:nvSpPr>
          <p:cNvPr id="47" name="Rectangle 47"/>
          <p:cNvSpPr/>
          <p:nvPr/>
        </p:nvSpPr>
        <p:spPr>
          <a:xfrm>
            <a:off x="8667750" y="1476375"/>
            <a:ext cx="1476375" cy="47625"/>
          </a:xfrm>
          <a:prstGeom prst="rect">
            <a:avLst/>
          </a:prstGeom>
          <a:solidFill>
            <a:srgbClr val="D97757"/>
          </a:solidFill>
          <a:ln>
            <a:noFill/>
          </a:ln>
        </p:spPr>
        <p:txBody>
          <a:bodyPr/>
          <a:lstStyle/>
          <a:p>
            <a:endParaRPr lang="en-US"/>
          </a:p>
        </p:txBody>
      </p:sp>
      <p:sp>
        <p:nvSpPr>
          <p:cNvPr id="48" name="Ellipse 48"/>
          <p:cNvSpPr/>
          <p:nvPr/>
        </p:nvSpPr>
        <p:spPr>
          <a:xfrm>
            <a:off x="9191625" y="1695450"/>
            <a:ext cx="419100" cy="419100"/>
          </a:xfrm>
          <a:prstGeom prst="ellipse">
            <a:avLst/>
          </a:prstGeom>
          <a:solidFill>
            <a:srgbClr val="D97757"/>
          </a:solidFill>
          <a:ln>
            <a:noFill/>
          </a:ln>
        </p:spPr>
        <p:txBody>
          <a:bodyPr/>
          <a:lstStyle/>
          <a:p>
            <a:endParaRPr lang="en-US"/>
          </a:p>
        </p:txBody>
      </p:sp>
      <p:sp>
        <p:nvSpPr>
          <p:cNvPr id="49" name="TextBox 49"/>
          <p:cNvSpPr txBox="1"/>
          <p:nvPr/>
        </p:nvSpPr>
        <p:spPr>
          <a:xfrm>
            <a:off x="9335329" y="184213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6</a:t>
            </a:r>
          </a:p>
        </p:txBody>
      </p:sp>
      <p:sp>
        <p:nvSpPr>
          <p:cNvPr id="50" name="TextBox 50"/>
          <p:cNvSpPr txBox="1"/>
          <p:nvPr/>
        </p:nvSpPr>
        <p:spPr>
          <a:xfrm>
            <a:off x="9270166" y="2187892"/>
            <a:ext cx="262018" cy="274320"/>
          </a:xfrm>
          <a:prstGeom prst="rect">
            <a:avLst/>
          </a:prstGeom>
          <a:noFill/>
          <a:ln>
            <a:noFill/>
          </a:ln>
        </p:spPr>
        <p:txBody>
          <a:bodyPr wrap="none" lIns="0" tIns="0" rIns="0" bIns="0" anchor="t" anchorCtr="0">
            <a:spAutoFit/>
          </a:bodyPr>
          <a:lstStyle/>
          <a:p>
            <a:pPr algn="ctr"/>
            <a:r>
              <a:rPr lang="zh-CN" sz="1350" b="1" dirty="0">
                <a:solidFill>
                  <a:srgbClr val="1A1A2E"/>
                </a:solidFill>
                <a:latin typeface="Arial"/>
                <a:ea typeface="Microsoft YaHei"/>
                <a:cs typeface="Arial"/>
              </a:rPr>
              <a:t>PR</a:t>
            </a:r>
          </a:p>
        </p:txBody>
      </p:sp>
      <p:sp>
        <p:nvSpPr>
          <p:cNvPr id="51" name="TextBox 51"/>
          <p:cNvSpPr txBox="1"/>
          <p:nvPr/>
        </p:nvSpPr>
        <p:spPr>
          <a:xfrm>
            <a:off x="9114675" y="2514124"/>
            <a:ext cx="573000"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Request</a:t>
            </a:r>
          </a:p>
        </p:txBody>
      </p:sp>
      <p:sp>
        <p:nvSpPr>
          <p:cNvPr id="52" name="TextBox 52"/>
          <p:cNvSpPr txBox="1"/>
          <p:nvPr/>
        </p:nvSpPr>
        <p:spPr>
          <a:xfrm>
            <a:off x="8847677" y="2685574"/>
            <a:ext cx="1106996"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manager review</a:t>
            </a:r>
          </a:p>
        </p:txBody>
      </p:sp>
      <p:sp>
        <p:nvSpPr>
          <p:cNvPr id="53" name="Polygon 53"/>
          <p:cNvSpPr/>
          <p:nvPr/>
        </p:nvSpPr>
        <p:spPr>
          <a:xfrm>
            <a:off x="10144125" y="2266950"/>
            <a:ext cx="95250" cy="133350"/>
          </a:xfrm>
          <a:custGeom>
            <a:avLst/>
            <a:gdLst/>
            <a:ahLst/>
            <a:cxnLst/>
            <a:rect l="l" t="t" r="r" b="b"/>
            <a:pathLst>
              <a:path w="95250" h="133350">
                <a:moveTo>
                  <a:pt x="95250" y="66675"/>
                </a:moveTo>
                <a:lnTo>
                  <a:pt x="0" y="0"/>
                </a:lnTo>
                <a:lnTo>
                  <a:pt x="0" y="133350"/>
                </a:lnTo>
                <a:close/>
              </a:path>
            </a:pathLst>
          </a:custGeom>
          <a:solidFill>
            <a:srgbClr val="64748B"/>
          </a:solidFill>
          <a:ln>
            <a:noFill/>
          </a:ln>
        </p:spPr>
        <p:txBody>
          <a:bodyPr/>
          <a:lstStyle/>
          <a:p>
            <a:endParaRPr lang="en-US"/>
          </a:p>
        </p:txBody>
      </p:sp>
      <p:sp>
        <p:nvSpPr>
          <p:cNvPr id="54" name="Rectangle 54"/>
          <p:cNvSpPr/>
          <p:nvPr/>
        </p:nvSpPr>
        <p:spPr>
          <a:xfrm>
            <a:off x="10287000" y="1476375"/>
            <a:ext cx="1476375" cy="1714500"/>
          </a:xfrm>
          <a:prstGeom prst="rect">
            <a:avLst/>
          </a:prstGeom>
          <a:solidFill>
            <a:srgbClr val="F0FDF4"/>
          </a:solidFill>
          <a:ln w="19050">
            <a:solidFill>
              <a:srgbClr val="10B981"/>
            </a:solidFill>
          </a:ln>
        </p:spPr>
        <p:txBody>
          <a:bodyPr/>
          <a:lstStyle/>
          <a:p>
            <a:endParaRPr lang="en-US"/>
          </a:p>
        </p:txBody>
      </p:sp>
      <p:sp>
        <p:nvSpPr>
          <p:cNvPr id="55" name="Rectangle 55"/>
          <p:cNvSpPr/>
          <p:nvPr/>
        </p:nvSpPr>
        <p:spPr>
          <a:xfrm>
            <a:off x="10287000" y="1476375"/>
            <a:ext cx="1476375" cy="47625"/>
          </a:xfrm>
          <a:prstGeom prst="rect">
            <a:avLst/>
          </a:prstGeom>
          <a:solidFill>
            <a:srgbClr val="10B981"/>
          </a:solidFill>
          <a:ln>
            <a:noFill/>
          </a:ln>
        </p:spPr>
        <p:txBody>
          <a:bodyPr/>
          <a:lstStyle/>
          <a:p>
            <a:endParaRPr lang="en-US"/>
          </a:p>
        </p:txBody>
      </p:sp>
      <p:sp>
        <p:nvSpPr>
          <p:cNvPr id="56" name="Ellipse 56"/>
          <p:cNvSpPr/>
          <p:nvPr/>
        </p:nvSpPr>
        <p:spPr>
          <a:xfrm>
            <a:off x="10810875" y="1695450"/>
            <a:ext cx="419100" cy="419100"/>
          </a:xfrm>
          <a:prstGeom prst="ellipse">
            <a:avLst/>
          </a:prstGeom>
          <a:solidFill>
            <a:srgbClr val="10B981"/>
          </a:solidFill>
          <a:ln>
            <a:noFill/>
          </a:ln>
        </p:spPr>
        <p:txBody>
          <a:bodyPr/>
          <a:lstStyle/>
          <a:p>
            <a:endParaRPr lang="en-US"/>
          </a:p>
        </p:txBody>
      </p:sp>
      <p:sp>
        <p:nvSpPr>
          <p:cNvPr id="57" name="TextBox 57"/>
          <p:cNvSpPr txBox="1"/>
          <p:nvPr/>
        </p:nvSpPr>
        <p:spPr>
          <a:xfrm>
            <a:off x="10954579" y="184213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7</a:t>
            </a:r>
          </a:p>
        </p:txBody>
      </p:sp>
      <p:sp>
        <p:nvSpPr>
          <p:cNvPr id="58" name="TextBox 58"/>
          <p:cNvSpPr txBox="1"/>
          <p:nvPr/>
        </p:nvSpPr>
        <p:spPr>
          <a:xfrm>
            <a:off x="10697917" y="2187892"/>
            <a:ext cx="645016" cy="274320"/>
          </a:xfrm>
          <a:prstGeom prst="rect">
            <a:avLst/>
          </a:prstGeom>
          <a:noFill/>
          <a:ln>
            <a:noFill/>
          </a:ln>
        </p:spPr>
        <p:txBody>
          <a:bodyPr wrap="none" lIns="0" tIns="0" rIns="0" bIns="0" anchor="t" anchorCtr="0">
            <a:spAutoFit/>
          </a:bodyPr>
          <a:lstStyle/>
          <a:p>
            <a:pPr algn="ctr"/>
            <a:r>
              <a:rPr lang="zh-CN" sz="1350" b="1" dirty="0">
                <a:solidFill>
                  <a:srgbClr val="1A1A2E"/>
                </a:solidFill>
                <a:latin typeface="Arial"/>
                <a:ea typeface="Microsoft YaHei"/>
                <a:cs typeface="Arial"/>
              </a:rPr>
              <a:t>Merge</a:t>
            </a:r>
          </a:p>
        </p:txBody>
      </p:sp>
      <p:sp>
        <p:nvSpPr>
          <p:cNvPr id="59" name="Freeform 59"/>
          <p:cNvSpPr/>
          <p:nvPr/>
        </p:nvSpPr>
        <p:spPr>
          <a:xfrm>
            <a:off x="10896600" y="2476500"/>
            <a:ext cx="247650" cy="304800"/>
          </a:xfrm>
          <a:custGeom>
            <a:avLst/>
            <a:gdLst/>
            <a:ahLst/>
            <a:cxnLst/>
            <a:rect l="l" t="t" r="r" b="b"/>
            <a:pathLst>
              <a:path w="247650" h="304800">
                <a:moveTo>
                  <a:pt x="69339" y="90023"/>
                </a:moveTo>
                <a:cubicBezTo>
                  <a:pt x="84723" y="82128"/>
                  <a:pt x="95250" y="66106"/>
                  <a:pt x="95250" y="47625"/>
                </a:cubicBezTo>
                <a:cubicBezTo>
                  <a:pt x="95250" y="21322"/>
                  <a:pt x="73928" y="0"/>
                  <a:pt x="47625" y="0"/>
                </a:cubicBezTo>
                <a:cubicBezTo>
                  <a:pt x="21322" y="0"/>
                  <a:pt x="0" y="21322"/>
                  <a:pt x="0" y="47625"/>
                </a:cubicBezTo>
                <a:cubicBezTo>
                  <a:pt x="0" y="67154"/>
                  <a:pt x="11755" y="83938"/>
                  <a:pt x="28575" y="91287"/>
                </a:cubicBezTo>
                <a:lnTo>
                  <a:pt x="28575" y="213512"/>
                </a:lnTo>
                <a:cubicBezTo>
                  <a:pt x="11755" y="220862"/>
                  <a:pt x="0" y="237645"/>
                  <a:pt x="0" y="257175"/>
                </a:cubicBezTo>
                <a:cubicBezTo>
                  <a:pt x="0" y="283477"/>
                  <a:pt x="21322" y="304800"/>
                  <a:pt x="47625" y="304800"/>
                </a:cubicBezTo>
                <a:cubicBezTo>
                  <a:pt x="73928" y="304800"/>
                  <a:pt x="95250" y="283477"/>
                  <a:pt x="95250" y="257175"/>
                </a:cubicBezTo>
                <a:cubicBezTo>
                  <a:pt x="95250" y="237645"/>
                  <a:pt x="83495" y="220862"/>
                  <a:pt x="66675" y="213512"/>
                </a:cubicBezTo>
                <a:lnTo>
                  <a:pt x="66675" y="141241"/>
                </a:lnTo>
                <a:lnTo>
                  <a:pt x="106409" y="180975"/>
                </a:lnTo>
                <a:lnTo>
                  <a:pt x="156363" y="180975"/>
                </a:lnTo>
                <a:cubicBezTo>
                  <a:pt x="163712" y="197796"/>
                  <a:pt x="180495" y="209550"/>
                  <a:pt x="200025" y="209550"/>
                </a:cubicBezTo>
                <a:cubicBezTo>
                  <a:pt x="226327" y="209550"/>
                  <a:pt x="247650" y="188228"/>
                  <a:pt x="247650" y="161925"/>
                </a:cubicBezTo>
                <a:cubicBezTo>
                  <a:pt x="247650" y="135622"/>
                  <a:pt x="226327" y="114300"/>
                  <a:pt x="200025" y="114300"/>
                </a:cubicBezTo>
                <a:cubicBezTo>
                  <a:pt x="180495" y="114300"/>
                  <a:pt x="163712" y="126055"/>
                  <a:pt x="156363" y="142875"/>
                </a:cubicBezTo>
                <a:lnTo>
                  <a:pt x="122191" y="142875"/>
                </a:lnTo>
                <a:lnTo>
                  <a:pt x="69339" y="90023"/>
                </a:lnTo>
                <a:close/>
              </a:path>
            </a:pathLst>
          </a:custGeom>
          <a:solidFill>
            <a:srgbClr val="10B981"/>
          </a:solidFill>
          <a:ln>
            <a:noFill/>
          </a:ln>
        </p:spPr>
        <p:txBody>
          <a:bodyPr/>
          <a:lstStyle/>
          <a:p>
            <a:endParaRPr lang="en-US"/>
          </a:p>
        </p:txBody>
      </p:sp>
      <p:sp>
        <p:nvSpPr>
          <p:cNvPr id="60" name="TextBox 60"/>
          <p:cNvSpPr txBox="1"/>
          <p:nvPr/>
        </p:nvSpPr>
        <p:spPr>
          <a:xfrm>
            <a:off x="10673405" y="2895124"/>
            <a:ext cx="694039"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Approved!</a:t>
            </a:r>
          </a:p>
        </p:txBody>
      </p:sp>
      <p:sp>
        <p:nvSpPr>
          <p:cNvPr id="61" name="Rectangle 61"/>
          <p:cNvSpPr/>
          <p:nvPr/>
        </p:nvSpPr>
        <p:spPr>
          <a:xfrm>
            <a:off x="571500" y="3619500"/>
            <a:ext cx="11049000" cy="9525"/>
          </a:xfrm>
          <a:prstGeom prst="rect">
            <a:avLst/>
          </a:prstGeom>
          <a:solidFill>
            <a:srgbClr val="E2E8F0"/>
          </a:solidFill>
          <a:ln>
            <a:noFill/>
          </a:ln>
        </p:spPr>
        <p:txBody>
          <a:bodyPr/>
          <a:lstStyle/>
          <a:p>
            <a:endParaRPr lang="en-US"/>
          </a:p>
        </p:txBody>
      </p:sp>
      <p:sp>
        <p:nvSpPr>
          <p:cNvPr id="62" name="Rectangle 62"/>
          <p:cNvSpPr/>
          <p:nvPr/>
        </p:nvSpPr>
        <p:spPr>
          <a:xfrm>
            <a:off x="571500" y="3810000"/>
            <a:ext cx="5381625" cy="666750"/>
          </a:xfrm>
          <a:prstGeom prst="rect">
            <a:avLst/>
          </a:prstGeom>
          <a:solidFill>
            <a:srgbClr val="4A90D9">
              <a:alpha val="5000"/>
            </a:srgbClr>
          </a:solidFill>
          <a:ln>
            <a:noFill/>
          </a:ln>
        </p:spPr>
        <p:txBody>
          <a:bodyPr/>
          <a:lstStyle/>
          <a:p>
            <a:endParaRPr lang="en-US"/>
          </a:p>
        </p:txBody>
      </p:sp>
      <p:sp>
        <p:nvSpPr>
          <p:cNvPr id="63" name="TextBox 63"/>
          <p:cNvSpPr txBox="1"/>
          <p:nvPr/>
        </p:nvSpPr>
        <p:spPr>
          <a:xfrm>
            <a:off x="1448086" y="3918585"/>
            <a:ext cx="3618929" cy="243840"/>
          </a:xfrm>
          <a:prstGeom prst="rect">
            <a:avLst/>
          </a:prstGeom>
          <a:noFill/>
          <a:ln>
            <a:noFill/>
          </a:ln>
        </p:spPr>
        <p:txBody>
          <a:bodyPr wrap="none" lIns="0" tIns="0" rIns="0" bIns="0" anchor="t" anchorCtr="0">
            <a:spAutoFit/>
          </a:bodyPr>
          <a:lstStyle/>
          <a:p>
            <a:pPr algn="ctr"/>
            <a:r>
              <a:rPr lang="zh-CN" sz="1200" b="1" dirty="0">
                <a:solidFill>
                  <a:srgbClr val="4A90D9"/>
                </a:solidFill>
                <a:latin typeface="Arial"/>
                <a:ea typeface="Microsoft YaHei"/>
                <a:cs typeface="Arial"/>
              </a:rPr>
              <a:t>Steps 1-6: Every team member does this</a:t>
            </a:r>
          </a:p>
        </p:txBody>
      </p:sp>
      <p:sp>
        <p:nvSpPr>
          <p:cNvPr id="64" name="TextBox 64"/>
          <p:cNvSpPr txBox="1"/>
          <p:nvPr/>
        </p:nvSpPr>
        <p:spPr>
          <a:xfrm>
            <a:off x="1557338" y="4172902"/>
            <a:ext cx="3400425"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Pull, branch, work, commit, push, create PR</a:t>
            </a:r>
          </a:p>
        </p:txBody>
      </p:sp>
      <p:sp>
        <p:nvSpPr>
          <p:cNvPr id="65" name="Rectangle 65"/>
          <p:cNvSpPr/>
          <p:nvPr/>
        </p:nvSpPr>
        <p:spPr>
          <a:xfrm>
            <a:off x="6238875" y="3810000"/>
            <a:ext cx="5381625" cy="666750"/>
          </a:xfrm>
          <a:prstGeom prst="rect">
            <a:avLst/>
          </a:prstGeom>
          <a:solidFill>
            <a:srgbClr val="D97757">
              <a:alpha val="5000"/>
            </a:srgbClr>
          </a:solidFill>
          <a:ln>
            <a:noFill/>
          </a:ln>
        </p:spPr>
        <p:txBody>
          <a:bodyPr/>
          <a:lstStyle/>
          <a:p>
            <a:endParaRPr lang="en-US"/>
          </a:p>
        </p:txBody>
      </p:sp>
      <p:sp>
        <p:nvSpPr>
          <p:cNvPr id="66" name="TextBox 66"/>
          <p:cNvSpPr txBox="1"/>
          <p:nvPr/>
        </p:nvSpPr>
        <p:spPr>
          <a:xfrm>
            <a:off x="7971168" y="3918585"/>
            <a:ext cx="1907515" cy="243840"/>
          </a:xfrm>
          <a:prstGeom prst="rect">
            <a:avLst/>
          </a:prstGeom>
          <a:noFill/>
          <a:ln>
            <a:noFill/>
          </a:ln>
        </p:spPr>
        <p:txBody>
          <a:bodyPr wrap="none" lIns="0" tIns="0" rIns="0" bIns="0" anchor="t" anchorCtr="0">
            <a:spAutoFit/>
          </a:bodyPr>
          <a:lstStyle/>
          <a:p>
            <a:pPr algn="ctr"/>
            <a:r>
              <a:rPr lang="zh-CN" sz="1200" b="1" dirty="0">
                <a:solidFill>
                  <a:srgbClr val="D97757"/>
                </a:solidFill>
                <a:latin typeface="Arial"/>
                <a:ea typeface="Microsoft YaHei"/>
                <a:cs typeface="Arial"/>
              </a:rPr>
              <a:t>Step 7: Manager only</a:t>
            </a:r>
          </a:p>
        </p:txBody>
      </p:sp>
      <p:sp>
        <p:nvSpPr>
          <p:cNvPr id="67" name="TextBox 67"/>
          <p:cNvSpPr txBox="1"/>
          <p:nvPr/>
        </p:nvSpPr>
        <p:spPr>
          <a:xfrm>
            <a:off x="7328225" y="4172902"/>
            <a:ext cx="3193399"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Review the diff, approve, merge into main</a:t>
            </a:r>
          </a:p>
        </p:txBody>
      </p:sp>
      <p:sp>
        <p:nvSpPr>
          <p:cNvPr id="68" name="Rectangle 68"/>
          <p:cNvSpPr/>
          <p:nvPr/>
        </p:nvSpPr>
        <p:spPr>
          <a:xfrm>
            <a:off x="1905000" y="4762500"/>
            <a:ext cx="8382000" cy="762000"/>
          </a:xfrm>
          <a:prstGeom prst="rect">
            <a:avLst/>
          </a:prstGeom>
          <a:solidFill>
            <a:srgbClr val="D97757">
              <a:alpha val="6000"/>
            </a:srgbClr>
          </a:solidFill>
          <a:ln w="9525">
            <a:solidFill>
              <a:srgbClr val="D97757"/>
            </a:solidFill>
          </a:ln>
        </p:spPr>
        <p:txBody>
          <a:bodyPr/>
          <a:lstStyle/>
          <a:p>
            <a:endParaRPr lang="en-US"/>
          </a:p>
        </p:txBody>
      </p:sp>
      <p:sp>
        <p:nvSpPr>
          <p:cNvPr id="69" name="TextBox 69"/>
          <p:cNvSpPr txBox="1"/>
          <p:nvPr/>
        </p:nvSpPr>
        <p:spPr>
          <a:xfrm>
            <a:off x="4215263" y="4917758"/>
            <a:ext cx="3761475" cy="335280"/>
          </a:xfrm>
          <a:prstGeom prst="rect">
            <a:avLst/>
          </a:prstGeom>
          <a:noFill/>
          <a:ln>
            <a:noFill/>
          </a:ln>
        </p:spPr>
        <p:txBody>
          <a:bodyPr wrap="none" lIns="0" tIns="0" rIns="0" bIns="0" anchor="t" anchorCtr="0">
            <a:spAutoFit/>
          </a:bodyPr>
          <a:lstStyle/>
          <a:p>
            <a:pPr algn="ctr"/>
            <a:r>
              <a:rPr lang="zh-CN" sz="1650" b="1" dirty="0">
                <a:solidFill>
                  <a:srgbClr val="D97757"/>
                </a:solidFill>
                <a:latin typeface="Arial"/>
                <a:ea typeface="Microsoft YaHei"/>
                <a:cs typeface="Arial"/>
              </a:rPr>
              <a:t>Start every session with Pull.</a:t>
            </a:r>
          </a:p>
        </p:txBody>
      </p:sp>
      <p:sp>
        <p:nvSpPr>
          <p:cNvPr id="70" name="TextBox 70"/>
          <p:cNvSpPr txBox="1"/>
          <p:nvPr/>
        </p:nvSpPr>
        <p:spPr>
          <a:xfrm>
            <a:off x="4291172" y="5203508"/>
            <a:ext cx="3609656" cy="335280"/>
          </a:xfrm>
          <a:prstGeom prst="rect">
            <a:avLst/>
          </a:prstGeom>
          <a:noFill/>
          <a:ln>
            <a:noFill/>
          </a:ln>
        </p:spPr>
        <p:txBody>
          <a:bodyPr wrap="none" lIns="0" tIns="0" rIns="0" bIns="0" anchor="t" anchorCtr="0">
            <a:spAutoFit/>
          </a:bodyPr>
          <a:lstStyle/>
          <a:p>
            <a:pPr algn="ctr"/>
            <a:r>
              <a:rPr lang="zh-CN" sz="1650" b="1" dirty="0">
                <a:solidFill>
                  <a:srgbClr val="D97757"/>
                </a:solidFill>
                <a:latin typeface="Arial"/>
                <a:ea typeface="Microsoft YaHei"/>
                <a:cs typeface="Arial"/>
              </a:rPr>
              <a:t>End every session with Push.</a:t>
            </a:r>
          </a:p>
        </p:txBody>
      </p:sp>
      <p:sp>
        <p:nvSpPr>
          <p:cNvPr id="71" name="TextBox 71"/>
          <p:cNvSpPr txBox="1"/>
          <p:nvPr/>
        </p:nvSpPr>
        <p:spPr>
          <a:xfrm>
            <a:off x="5883307" y="6411278"/>
            <a:ext cx="425387"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11 / 15</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sp>
        <p:nvSpPr>
          <p:cNvPr id="3" name="Rectangle 3"/>
          <p:cNvSpPr/>
          <p:nvPr/>
        </p:nvSpPr>
        <p:spPr>
          <a:xfrm>
            <a:off x="0" y="0"/>
            <a:ext cx="12192000" cy="57150"/>
          </a:xfrm>
          <a:prstGeom prst="rect">
            <a:avLst/>
          </a:prstGeom>
          <a:solidFill>
            <a:srgbClr val="D97757"/>
          </a:solidFill>
          <a:ln>
            <a:noFill/>
          </a:ln>
        </p:spPr>
        <p:txBody>
          <a:bodyPr/>
          <a:lstStyle/>
          <a:p>
            <a:endParaRPr lang="en-US"/>
          </a:p>
        </p:txBody>
      </p:sp>
      <p:sp>
        <p:nvSpPr>
          <p:cNvPr id="4" name="TextBox 4"/>
          <p:cNvSpPr txBox="1"/>
          <p:nvPr/>
        </p:nvSpPr>
        <p:spPr>
          <a:xfrm>
            <a:off x="558165" y="410528"/>
            <a:ext cx="862441" cy="213360"/>
          </a:xfrm>
          <a:prstGeom prst="rect">
            <a:avLst/>
          </a:prstGeom>
          <a:noFill/>
          <a:ln>
            <a:noFill/>
          </a:ln>
        </p:spPr>
        <p:txBody>
          <a:bodyPr wrap="none" lIns="0" tIns="0" rIns="0" bIns="0" anchor="t" anchorCtr="0">
            <a:spAutoFit/>
          </a:bodyPr>
          <a:lstStyle/>
          <a:p>
            <a:pPr algn="l"/>
            <a:r>
              <a:rPr lang="zh-CN" sz="1050" dirty="0">
                <a:solidFill>
                  <a:srgbClr val="D97757"/>
                </a:solidFill>
                <a:latin typeface="Arial"/>
                <a:ea typeface="Microsoft YaHei"/>
                <a:cs typeface="Arial"/>
              </a:rPr>
              <a:t>REPO RULES</a:t>
            </a:r>
          </a:p>
        </p:txBody>
      </p:sp>
      <p:sp>
        <p:nvSpPr>
          <p:cNvPr id="5" name="TextBox 5"/>
          <p:cNvSpPr txBox="1"/>
          <p:nvPr/>
        </p:nvSpPr>
        <p:spPr>
          <a:xfrm>
            <a:off x="542925" y="709612"/>
            <a:ext cx="8976515" cy="457200"/>
          </a:xfrm>
          <a:prstGeom prst="rect">
            <a:avLst/>
          </a:prstGeom>
          <a:noFill/>
          <a:ln>
            <a:noFill/>
          </a:ln>
        </p:spPr>
        <p:txBody>
          <a:bodyPr wrap="none" lIns="0" tIns="0" rIns="0" bIns="0" anchor="t" anchorCtr="0">
            <a:spAutoFit/>
          </a:bodyPr>
          <a:lstStyle/>
          <a:p>
            <a:pPr algn="l"/>
            <a:r>
              <a:rPr lang="zh-CN" sz="2250" b="1" dirty="0">
                <a:solidFill>
                  <a:srgbClr val="1A1A2E"/>
                </a:solidFill>
                <a:latin typeface="Arial"/>
                <a:ea typeface="Microsoft YaHei"/>
                <a:cs typeface="Arial"/>
              </a:rPr>
              <a:t>Only Track What Git Can Show Meaningful Changes For</a:t>
            </a:r>
          </a:p>
        </p:txBody>
      </p:sp>
      <p:sp>
        <p:nvSpPr>
          <p:cNvPr id="6" name="Rectangle 6"/>
          <p:cNvSpPr/>
          <p:nvPr/>
        </p:nvSpPr>
        <p:spPr>
          <a:xfrm>
            <a:off x="571500" y="1285875"/>
            <a:ext cx="5334000" cy="4191000"/>
          </a:xfrm>
          <a:prstGeom prst="rect">
            <a:avLst/>
          </a:prstGeom>
          <a:solidFill>
            <a:srgbClr val="F0FDF4"/>
          </a:solidFill>
          <a:ln w="9525">
            <a:solidFill>
              <a:srgbClr val="BBF7D0"/>
            </a:solidFill>
          </a:ln>
          <a:effectLst>
            <a:outerShdw blurRad="228600" dist="57150" dir="10799427" algn="tl" rotWithShape="0">
              <a:srgbClr val="000000">
                <a:alpha val="12000"/>
              </a:srgbClr>
            </a:outerShdw>
          </a:effectLst>
        </p:spPr>
        <p:txBody>
          <a:bodyPr/>
          <a:lstStyle/>
          <a:p>
            <a:endParaRPr lang="en-US"/>
          </a:p>
        </p:txBody>
      </p:sp>
      <p:sp>
        <p:nvSpPr>
          <p:cNvPr id="7" name="Rectangle 7"/>
          <p:cNvSpPr/>
          <p:nvPr/>
        </p:nvSpPr>
        <p:spPr>
          <a:xfrm>
            <a:off x="571500" y="1285875"/>
            <a:ext cx="5334000" cy="57150"/>
          </a:xfrm>
          <a:prstGeom prst="rect">
            <a:avLst/>
          </a:prstGeom>
          <a:solidFill>
            <a:srgbClr val="10B981"/>
          </a:solidFill>
          <a:ln>
            <a:noFill/>
          </a:ln>
        </p:spPr>
        <p:txBody>
          <a:bodyPr/>
          <a:lstStyle/>
          <a:p>
            <a:endParaRPr lang="en-US"/>
          </a:p>
        </p:txBody>
      </p:sp>
      <p:sp>
        <p:nvSpPr>
          <p:cNvPr id="8" name="Freeform 8"/>
          <p:cNvSpPr/>
          <p:nvPr/>
        </p:nvSpPr>
        <p:spPr>
          <a:xfrm>
            <a:off x="809625" y="1571625"/>
            <a:ext cx="304800" cy="304800"/>
          </a:xfrm>
          <a:custGeom>
            <a:avLst/>
            <a:gdLst/>
            <a:ahLst/>
            <a:cxnLst/>
            <a:rect l="l" t="t" r="r" b="b"/>
            <a:pathLst>
              <a:path w="304800" h="304800">
                <a:moveTo>
                  <a:pt x="152400" y="304800"/>
                </a:moveTo>
                <a:cubicBezTo>
                  <a:pt x="236569" y="304800"/>
                  <a:pt x="304800" y="236569"/>
                  <a:pt x="304800" y="152400"/>
                </a:cubicBezTo>
                <a:cubicBezTo>
                  <a:pt x="304800" y="68232"/>
                  <a:pt x="236569" y="0"/>
                  <a:pt x="152400" y="0"/>
                </a:cubicBezTo>
                <a:cubicBezTo>
                  <a:pt x="68232" y="0"/>
                  <a:pt x="0" y="68232"/>
                  <a:pt x="0" y="152400"/>
                </a:cubicBezTo>
                <a:cubicBezTo>
                  <a:pt x="0" y="236569"/>
                  <a:pt x="68232" y="304800"/>
                  <a:pt x="152400" y="304800"/>
                </a:cubicBezTo>
                <a:close/>
                <a:moveTo>
                  <a:pt x="242070" y="108720"/>
                </a:moveTo>
                <a:lnTo>
                  <a:pt x="215130" y="81780"/>
                </a:lnTo>
                <a:lnTo>
                  <a:pt x="123825" y="173084"/>
                </a:lnTo>
                <a:lnTo>
                  <a:pt x="89670" y="138930"/>
                </a:lnTo>
                <a:lnTo>
                  <a:pt x="62730" y="165870"/>
                </a:lnTo>
                <a:lnTo>
                  <a:pt x="123825" y="226966"/>
                </a:lnTo>
                <a:lnTo>
                  <a:pt x="242070" y="108720"/>
                </a:lnTo>
                <a:close/>
              </a:path>
            </a:pathLst>
          </a:custGeom>
          <a:solidFill>
            <a:srgbClr val="10B981"/>
          </a:solidFill>
          <a:ln>
            <a:noFill/>
          </a:ln>
        </p:spPr>
        <p:txBody>
          <a:bodyPr/>
          <a:lstStyle/>
          <a:p>
            <a:endParaRPr lang="en-US"/>
          </a:p>
        </p:txBody>
      </p:sp>
      <p:sp>
        <p:nvSpPr>
          <p:cNvPr id="9" name="TextBox 9"/>
          <p:cNvSpPr txBox="1"/>
          <p:nvPr/>
        </p:nvSpPr>
        <p:spPr>
          <a:xfrm>
            <a:off x="1215390" y="1615440"/>
            <a:ext cx="1384487" cy="365760"/>
          </a:xfrm>
          <a:prstGeom prst="rect">
            <a:avLst/>
          </a:prstGeom>
          <a:noFill/>
          <a:ln>
            <a:noFill/>
          </a:ln>
        </p:spPr>
        <p:txBody>
          <a:bodyPr wrap="none" lIns="0" tIns="0" rIns="0" bIns="0" anchor="t" anchorCtr="0">
            <a:spAutoFit/>
          </a:bodyPr>
          <a:lstStyle/>
          <a:p>
            <a:pPr algn="l"/>
            <a:r>
              <a:rPr lang="zh-CN" sz="1800" b="1" dirty="0">
                <a:solidFill>
                  <a:srgbClr val="10B981"/>
                </a:solidFill>
                <a:latin typeface="Arial"/>
                <a:ea typeface="Microsoft YaHei"/>
                <a:cs typeface="Arial"/>
              </a:rPr>
              <a:t>Do Commit</a:t>
            </a:r>
          </a:p>
        </p:txBody>
      </p:sp>
      <p:sp>
        <p:nvSpPr>
          <p:cNvPr id="10" name="Freeform 10"/>
          <p:cNvSpPr/>
          <p:nvPr/>
        </p:nvSpPr>
        <p:spPr>
          <a:xfrm>
            <a:off x="809625" y="2143125"/>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81553" y="81540"/>
                </a:moveTo>
                <a:lnTo>
                  <a:pt x="161347" y="61335"/>
                </a:lnTo>
                <a:lnTo>
                  <a:pt x="92869" y="129813"/>
                </a:lnTo>
                <a:lnTo>
                  <a:pt x="67253" y="104197"/>
                </a:lnTo>
                <a:lnTo>
                  <a:pt x="47047" y="124403"/>
                </a:lnTo>
                <a:lnTo>
                  <a:pt x="92869" y="170224"/>
                </a:lnTo>
                <a:lnTo>
                  <a:pt x="181553" y="81540"/>
                </a:lnTo>
                <a:close/>
              </a:path>
            </a:pathLst>
          </a:custGeom>
          <a:solidFill>
            <a:srgbClr val="10B981"/>
          </a:solidFill>
          <a:ln>
            <a:noFill/>
          </a:ln>
        </p:spPr>
        <p:txBody>
          <a:bodyPr/>
          <a:lstStyle/>
          <a:p>
            <a:endParaRPr lang="en-US"/>
          </a:p>
        </p:txBody>
      </p:sp>
      <p:sp>
        <p:nvSpPr>
          <p:cNvPr id="11" name="TextBox 11"/>
          <p:cNvSpPr txBox="1"/>
          <p:nvPr/>
        </p:nvSpPr>
        <p:spPr>
          <a:xfrm>
            <a:off x="1126808" y="2176939"/>
            <a:ext cx="3244572"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Code and analysis scripts (.py, .R)</a:t>
            </a:r>
          </a:p>
        </p:txBody>
      </p:sp>
      <p:sp>
        <p:nvSpPr>
          <p:cNvPr id="12" name="Freeform 12"/>
          <p:cNvSpPr/>
          <p:nvPr/>
        </p:nvSpPr>
        <p:spPr>
          <a:xfrm>
            <a:off x="809625" y="2524125"/>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81553" y="81540"/>
                </a:moveTo>
                <a:lnTo>
                  <a:pt x="161347" y="61335"/>
                </a:lnTo>
                <a:lnTo>
                  <a:pt x="92869" y="129813"/>
                </a:lnTo>
                <a:lnTo>
                  <a:pt x="67253" y="104197"/>
                </a:lnTo>
                <a:lnTo>
                  <a:pt x="47047" y="124403"/>
                </a:lnTo>
                <a:lnTo>
                  <a:pt x="92869" y="170224"/>
                </a:lnTo>
                <a:lnTo>
                  <a:pt x="181553" y="81540"/>
                </a:lnTo>
                <a:close/>
              </a:path>
            </a:pathLst>
          </a:custGeom>
          <a:solidFill>
            <a:srgbClr val="10B981"/>
          </a:solidFill>
          <a:ln>
            <a:noFill/>
          </a:ln>
        </p:spPr>
        <p:txBody>
          <a:bodyPr/>
          <a:lstStyle/>
          <a:p>
            <a:endParaRPr lang="en-US"/>
          </a:p>
        </p:txBody>
      </p:sp>
      <p:sp>
        <p:nvSpPr>
          <p:cNvPr id="13" name="TextBox 13"/>
          <p:cNvSpPr txBox="1"/>
          <p:nvPr/>
        </p:nvSpPr>
        <p:spPr>
          <a:xfrm>
            <a:off x="1126808" y="2557939"/>
            <a:ext cx="2006251"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Markdown files (.md)</a:t>
            </a:r>
          </a:p>
        </p:txBody>
      </p:sp>
      <p:sp>
        <p:nvSpPr>
          <p:cNvPr id="14" name="Freeform 14"/>
          <p:cNvSpPr/>
          <p:nvPr/>
        </p:nvSpPr>
        <p:spPr>
          <a:xfrm>
            <a:off x="809625" y="2905125"/>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81553" y="81540"/>
                </a:moveTo>
                <a:lnTo>
                  <a:pt x="161347" y="61335"/>
                </a:lnTo>
                <a:lnTo>
                  <a:pt x="92869" y="129813"/>
                </a:lnTo>
                <a:lnTo>
                  <a:pt x="67253" y="104197"/>
                </a:lnTo>
                <a:lnTo>
                  <a:pt x="47047" y="124403"/>
                </a:lnTo>
                <a:lnTo>
                  <a:pt x="92869" y="170224"/>
                </a:lnTo>
                <a:lnTo>
                  <a:pt x="181553" y="81540"/>
                </a:lnTo>
                <a:close/>
              </a:path>
            </a:pathLst>
          </a:custGeom>
          <a:solidFill>
            <a:srgbClr val="10B981"/>
          </a:solidFill>
          <a:ln>
            <a:noFill/>
          </a:ln>
        </p:spPr>
        <p:txBody>
          <a:bodyPr/>
          <a:lstStyle/>
          <a:p>
            <a:endParaRPr lang="en-US"/>
          </a:p>
        </p:txBody>
      </p:sp>
      <p:sp>
        <p:nvSpPr>
          <p:cNvPr id="15" name="TextBox 15"/>
          <p:cNvSpPr txBox="1"/>
          <p:nvPr/>
        </p:nvSpPr>
        <p:spPr>
          <a:xfrm>
            <a:off x="1126808" y="2938939"/>
            <a:ext cx="3393543"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Visualizations as images (.png, .jpg)</a:t>
            </a:r>
          </a:p>
        </p:txBody>
      </p:sp>
      <p:sp>
        <p:nvSpPr>
          <p:cNvPr id="16" name="Freeform 16"/>
          <p:cNvSpPr/>
          <p:nvPr/>
        </p:nvSpPr>
        <p:spPr>
          <a:xfrm>
            <a:off x="809625" y="3286125"/>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81553" y="81540"/>
                </a:moveTo>
                <a:lnTo>
                  <a:pt x="161347" y="61335"/>
                </a:lnTo>
                <a:lnTo>
                  <a:pt x="92869" y="129813"/>
                </a:lnTo>
                <a:lnTo>
                  <a:pt x="67253" y="104197"/>
                </a:lnTo>
                <a:lnTo>
                  <a:pt x="47047" y="124403"/>
                </a:lnTo>
                <a:lnTo>
                  <a:pt x="92869" y="170224"/>
                </a:lnTo>
                <a:lnTo>
                  <a:pt x="181553" y="81540"/>
                </a:lnTo>
                <a:close/>
              </a:path>
            </a:pathLst>
          </a:custGeom>
          <a:solidFill>
            <a:srgbClr val="10B981"/>
          </a:solidFill>
          <a:ln>
            <a:noFill/>
          </a:ln>
        </p:spPr>
        <p:txBody>
          <a:bodyPr/>
          <a:lstStyle/>
          <a:p>
            <a:endParaRPr lang="en-US"/>
          </a:p>
        </p:txBody>
      </p:sp>
      <p:sp>
        <p:nvSpPr>
          <p:cNvPr id="17" name="TextBox 17"/>
          <p:cNvSpPr txBox="1"/>
          <p:nvPr/>
        </p:nvSpPr>
        <p:spPr>
          <a:xfrm>
            <a:off x="1126808" y="3319939"/>
            <a:ext cx="1317260"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Report drafts</a:t>
            </a:r>
          </a:p>
        </p:txBody>
      </p:sp>
      <p:sp>
        <p:nvSpPr>
          <p:cNvPr id="18" name="Freeform 18"/>
          <p:cNvSpPr/>
          <p:nvPr/>
        </p:nvSpPr>
        <p:spPr>
          <a:xfrm>
            <a:off x="809625" y="3667125"/>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181553" y="81540"/>
                </a:moveTo>
                <a:lnTo>
                  <a:pt x="161347" y="61335"/>
                </a:lnTo>
                <a:lnTo>
                  <a:pt x="92869" y="129813"/>
                </a:lnTo>
                <a:lnTo>
                  <a:pt x="67253" y="104197"/>
                </a:lnTo>
                <a:lnTo>
                  <a:pt x="47047" y="124403"/>
                </a:lnTo>
                <a:lnTo>
                  <a:pt x="92869" y="170224"/>
                </a:lnTo>
                <a:lnTo>
                  <a:pt x="181553" y="81540"/>
                </a:lnTo>
                <a:close/>
              </a:path>
            </a:pathLst>
          </a:custGeom>
          <a:solidFill>
            <a:srgbClr val="10B981"/>
          </a:solidFill>
          <a:ln>
            <a:noFill/>
          </a:ln>
        </p:spPr>
        <p:txBody>
          <a:bodyPr/>
          <a:lstStyle/>
          <a:p>
            <a:endParaRPr lang="en-US"/>
          </a:p>
        </p:txBody>
      </p:sp>
      <p:sp>
        <p:nvSpPr>
          <p:cNvPr id="19" name="TextBox 19"/>
          <p:cNvSpPr txBox="1"/>
          <p:nvPr/>
        </p:nvSpPr>
        <p:spPr>
          <a:xfrm>
            <a:off x="1126808" y="3700939"/>
            <a:ext cx="2257639"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.gitignore configuration</a:t>
            </a:r>
          </a:p>
        </p:txBody>
      </p:sp>
      <p:sp>
        <p:nvSpPr>
          <p:cNvPr id="20" name="Rectangle 20"/>
          <p:cNvSpPr/>
          <p:nvPr/>
        </p:nvSpPr>
        <p:spPr>
          <a:xfrm>
            <a:off x="809625" y="4191000"/>
            <a:ext cx="4857750" cy="1047750"/>
          </a:xfrm>
          <a:prstGeom prst="rect">
            <a:avLst/>
          </a:prstGeom>
          <a:solidFill>
            <a:srgbClr val="10B981">
              <a:alpha val="6000"/>
            </a:srgbClr>
          </a:solidFill>
          <a:ln>
            <a:noFill/>
          </a:ln>
        </p:spPr>
        <p:txBody>
          <a:bodyPr/>
          <a:lstStyle/>
          <a:p>
            <a:endParaRPr lang="en-US"/>
          </a:p>
        </p:txBody>
      </p:sp>
      <p:sp>
        <p:nvSpPr>
          <p:cNvPr id="21" name="TextBox 21"/>
          <p:cNvSpPr txBox="1"/>
          <p:nvPr/>
        </p:nvSpPr>
        <p:spPr>
          <a:xfrm>
            <a:off x="938212" y="4336256"/>
            <a:ext cx="1408747" cy="228600"/>
          </a:xfrm>
          <a:prstGeom prst="rect">
            <a:avLst/>
          </a:prstGeom>
          <a:noFill/>
          <a:ln>
            <a:noFill/>
          </a:ln>
        </p:spPr>
        <p:txBody>
          <a:bodyPr wrap="none" lIns="0" tIns="0" rIns="0" bIns="0" anchor="t" anchorCtr="0">
            <a:spAutoFit/>
          </a:bodyPr>
          <a:lstStyle/>
          <a:p>
            <a:pPr algn="l"/>
            <a:r>
              <a:rPr lang="zh-CN" sz="1125" b="1" dirty="0">
                <a:solidFill>
                  <a:srgbClr val="10B981"/>
                </a:solidFill>
                <a:latin typeface="Arial"/>
                <a:ea typeface="Microsoft YaHei"/>
                <a:cs typeface="Arial"/>
              </a:rPr>
              <a:t>Why these files?</a:t>
            </a:r>
          </a:p>
        </p:txBody>
      </p:sp>
      <p:sp>
        <p:nvSpPr>
          <p:cNvPr id="22" name="TextBox 22"/>
          <p:cNvSpPr txBox="1"/>
          <p:nvPr/>
        </p:nvSpPr>
        <p:spPr>
          <a:xfrm>
            <a:off x="939165" y="4601528"/>
            <a:ext cx="2986373"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Git tracks text-based files line by line.</a:t>
            </a:r>
          </a:p>
        </p:txBody>
      </p:sp>
      <p:sp>
        <p:nvSpPr>
          <p:cNvPr id="23" name="TextBox 23"/>
          <p:cNvSpPr txBox="1"/>
          <p:nvPr/>
        </p:nvSpPr>
        <p:spPr>
          <a:xfrm>
            <a:off x="939165" y="4792028"/>
            <a:ext cx="3599783"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You can see exactly what changed in every diff.</a:t>
            </a:r>
          </a:p>
        </p:txBody>
      </p:sp>
      <p:sp>
        <p:nvSpPr>
          <p:cNvPr id="24" name="TextBox 24"/>
          <p:cNvSpPr txBox="1"/>
          <p:nvPr/>
        </p:nvSpPr>
        <p:spPr>
          <a:xfrm>
            <a:off x="939165" y="4982528"/>
            <a:ext cx="3691795"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Small file sizes keep the repo fast for everyone.</a:t>
            </a:r>
          </a:p>
        </p:txBody>
      </p:sp>
      <p:sp>
        <p:nvSpPr>
          <p:cNvPr id="25" name="Rectangle 25"/>
          <p:cNvSpPr/>
          <p:nvPr/>
        </p:nvSpPr>
        <p:spPr>
          <a:xfrm>
            <a:off x="6286500" y="1285875"/>
            <a:ext cx="5334000" cy="4191000"/>
          </a:xfrm>
          <a:prstGeom prst="rect">
            <a:avLst/>
          </a:prstGeom>
          <a:solidFill>
            <a:srgbClr val="FEF2F2"/>
          </a:solidFill>
          <a:ln w="9525">
            <a:solidFill>
              <a:srgbClr val="FECACA"/>
            </a:solidFill>
          </a:ln>
          <a:effectLst>
            <a:outerShdw blurRad="228600" dist="57150" dir="10799427" algn="tl" rotWithShape="0">
              <a:srgbClr val="000000">
                <a:alpha val="12000"/>
              </a:srgbClr>
            </a:outerShdw>
          </a:effectLst>
        </p:spPr>
        <p:txBody>
          <a:bodyPr/>
          <a:lstStyle/>
          <a:p>
            <a:endParaRPr lang="en-US"/>
          </a:p>
        </p:txBody>
      </p:sp>
      <p:sp>
        <p:nvSpPr>
          <p:cNvPr id="26" name="Rectangle 26"/>
          <p:cNvSpPr/>
          <p:nvPr/>
        </p:nvSpPr>
        <p:spPr>
          <a:xfrm>
            <a:off x="6286500" y="1285875"/>
            <a:ext cx="5334000" cy="57150"/>
          </a:xfrm>
          <a:prstGeom prst="rect">
            <a:avLst/>
          </a:prstGeom>
          <a:solidFill>
            <a:srgbClr val="EF4444"/>
          </a:solidFill>
          <a:ln>
            <a:noFill/>
          </a:ln>
        </p:spPr>
        <p:txBody>
          <a:bodyPr/>
          <a:lstStyle/>
          <a:p>
            <a:endParaRPr lang="en-US"/>
          </a:p>
        </p:txBody>
      </p:sp>
      <p:sp>
        <p:nvSpPr>
          <p:cNvPr id="27" name="Freeform 27"/>
          <p:cNvSpPr/>
          <p:nvPr/>
        </p:nvSpPr>
        <p:spPr>
          <a:xfrm>
            <a:off x="6524625" y="1571625"/>
            <a:ext cx="304800" cy="304800"/>
          </a:xfrm>
          <a:custGeom>
            <a:avLst/>
            <a:gdLst/>
            <a:ahLst/>
            <a:cxnLst/>
            <a:rect l="l" t="t" r="r" b="b"/>
            <a:pathLst>
              <a:path w="304800" h="304800">
                <a:moveTo>
                  <a:pt x="152400" y="304800"/>
                </a:moveTo>
                <a:cubicBezTo>
                  <a:pt x="236569" y="304800"/>
                  <a:pt x="304800" y="236569"/>
                  <a:pt x="304800" y="152400"/>
                </a:cubicBezTo>
                <a:cubicBezTo>
                  <a:pt x="304800" y="68232"/>
                  <a:pt x="236569" y="0"/>
                  <a:pt x="152400" y="0"/>
                </a:cubicBezTo>
                <a:cubicBezTo>
                  <a:pt x="68232" y="0"/>
                  <a:pt x="0" y="68232"/>
                  <a:pt x="0" y="152400"/>
                </a:cubicBezTo>
                <a:cubicBezTo>
                  <a:pt x="0" y="236569"/>
                  <a:pt x="68232" y="304800"/>
                  <a:pt x="152400" y="304800"/>
                </a:cubicBezTo>
                <a:close/>
                <a:moveTo>
                  <a:pt x="81780" y="108720"/>
                </a:moveTo>
                <a:lnTo>
                  <a:pt x="125459" y="152400"/>
                </a:lnTo>
                <a:lnTo>
                  <a:pt x="81780" y="196080"/>
                </a:lnTo>
                <a:lnTo>
                  <a:pt x="108720" y="223020"/>
                </a:lnTo>
                <a:lnTo>
                  <a:pt x="152400" y="179341"/>
                </a:lnTo>
                <a:lnTo>
                  <a:pt x="196080" y="223020"/>
                </a:lnTo>
                <a:lnTo>
                  <a:pt x="223020" y="196080"/>
                </a:lnTo>
                <a:lnTo>
                  <a:pt x="179341" y="152400"/>
                </a:lnTo>
                <a:lnTo>
                  <a:pt x="223020" y="108720"/>
                </a:lnTo>
                <a:lnTo>
                  <a:pt x="196080" y="81780"/>
                </a:lnTo>
                <a:lnTo>
                  <a:pt x="152400" y="125459"/>
                </a:lnTo>
                <a:lnTo>
                  <a:pt x="108720" y="81780"/>
                </a:lnTo>
                <a:lnTo>
                  <a:pt x="81780" y="108720"/>
                </a:lnTo>
                <a:close/>
              </a:path>
            </a:pathLst>
          </a:custGeom>
          <a:solidFill>
            <a:srgbClr val="EF4444"/>
          </a:solidFill>
          <a:ln>
            <a:noFill/>
          </a:ln>
        </p:spPr>
        <p:txBody>
          <a:bodyPr/>
          <a:lstStyle/>
          <a:p>
            <a:endParaRPr lang="en-US"/>
          </a:p>
        </p:txBody>
      </p:sp>
      <p:sp>
        <p:nvSpPr>
          <p:cNvPr id="28" name="TextBox 28"/>
          <p:cNvSpPr txBox="1"/>
          <p:nvPr/>
        </p:nvSpPr>
        <p:spPr>
          <a:xfrm>
            <a:off x="6930390" y="1615440"/>
            <a:ext cx="1922755" cy="365760"/>
          </a:xfrm>
          <a:prstGeom prst="rect">
            <a:avLst/>
          </a:prstGeom>
          <a:noFill/>
          <a:ln>
            <a:noFill/>
          </a:ln>
        </p:spPr>
        <p:txBody>
          <a:bodyPr wrap="none" lIns="0" tIns="0" rIns="0" bIns="0" anchor="t" anchorCtr="0">
            <a:spAutoFit/>
          </a:bodyPr>
          <a:lstStyle/>
          <a:p>
            <a:pPr algn="l"/>
            <a:r>
              <a:rPr lang="zh-CN" sz="1800" b="1" dirty="0">
                <a:solidFill>
                  <a:srgbClr val="EF4444"/>
                </a:solidFill>
                <a:latin typeface="Arial"/>
                <a:ea typeface="Microsoft YaHei"/>
                <a:cs typeface="Arial"/>
              </a:rPr>
              <a:t>Do Not Commit</a:t>
            </a:r>
          </a:p>
        </p:txBody>
      </p:sp>
      <p:sp>
        <p:nvSpPr>
          <p:cNvPr id="29" name="Freeform 29"/>
          <p:cNvSpPr/>
          <p:nvPr/>
        </p:nvSpPr>
        <p:spPr>
          <a:xfrm>
            <a:off x="6524625" y="2143125"/>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61335" y="81540"/>
                </a:moveTo>
                <a:lnTo>
                  <a:pt x="94094" y="114300"/>
                </a:lnTo>
                <a:lnTo>
                  <a:pt x="61335" y="147060"/>
                </a:lnTo>
                <a:lnTo>
                  <a:pt x="81540" y="167265"/>
                </a:lnTo>
                <a:lnTo>
                  <a:pt x="114300" y="134506"/>
                </a:lnTo>
                <a:lnTo>
                  <a:pt x="147060" y="167265"/>
                </a:lnTo>
                <a:lnTo>
                  <a:pt x="167265" y="147060"/>
                </a:lnTo>
                <a:lnTo>
                  <a:pt x="134506" y="114300"/>
                </a:lnTo>
                <a:lnTo>
                  <a:pt x="167265" y="81540"/>
                </a:lnTo>
                <a:lnTo>
                  <a:pt x="147060" y="61335"/>
                </a:lnTo>
                <a:lnTo>
                  <a:pt x="114300" y="94094"/>
                </a:lnTo>
                <a:lnTo>
                  <a:pt x="81540" y="61335"/>
                </a:lnTo>
                <a:lnTo>
                  <a:pt x="61335" y="81540"/>
                </a:lnTo>
                <a:close/>
              </a:path>
            </a:pathLst>
          </a:custGeom>
          <a:solidFill>
            <a:srgbClr val="EF4444"/>
          </a:solidFill>
          <a:ln>
            <a:noFill/>
          </a:ln>
        </p:spPr>
        <p:txBody>
          <a:bodyPr/>
          <a:lstStyle/>
          <a:p>
            <a:endParaRPr lang="en-US"/>
          </a:p>
        </p:txBody>
      </p:sp>
      <p:sp>
        <p:nvSpPr>
          <p:cNvPr id="30" name="TextBox 30"/>
          <p:cNvSpPr txBox="1"/>
          <p:nvPr/>
        </p:nvSpPr>
        <p:spPr>
          <a:xfrm>
            <a:off x="6841808" y="2176939"/>
            <a:ext cx="2834902"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Data files (.xlsx, .csv, .json)</a:t>
            </a:r>
          </a:p>
        </p:txBody>
      </p:sp>
      <p:sp>
        <p:nvSpPr>
          <p:cNvPr id="31" name="Freeform 31"/>
          <p:cNvSpPr/>
          <p:nvPr/>
        </p:nvSpPr>
        <p:spPr>
          <a:xfrm>
            <a:off x="6524625" y="2524125"/>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61335" y="81540"/>
                </a:moveTo>
                <a:lnTo>
                  <a:pt x="94094" y="114300"/>
                </a:lnTo>
                <a:lnTo>
                  <a:pt x="61335" y="147060"/>
                </a:lnTo>
                <a:lnTo>
                  <a:pt x="81540" y="167265"/>
                </a:lnTo>
                <a:lnTo>
                  <a:pt x="114300" y="134506"/>
                </a:lnTo>
                <a:lnTo>
                  <a:pt x="147060" y="167265"/>
                </a:lnTo>
                <a:lnTo>
                  <a:pt x="167265" y="147060"/>
                </a:lnTo>
                <a:lnTo>
                  <a:pt x="134506" y="114300"/>
                </a:lnTo>
                <a:lnTo>
                  <a:pt x="167265" y="81540"/>
                </a:lnTo>
                <a:lnTo>
                  <a:pt x="147060" y="61335"/>
                </a:lnTo>
                <a:lnTo>
                  <a:pt x="114300" y="94094"/>
                </a:lnTo>
                <a:lnTo>
                  <a:pt x="81540" y="61335"/>
                </a:lnTo>
                <a:lnTo>
                  <a:pt x="61335" y="81540"/>
                </a:lnTo>
                <a:close/>
              </a:path>
            </a:pathLst>
          </a:custGeom>
          <a:solidFill>
            <a:srgbClr val="EF4444"/>
          </a:solidFill>
          <a:ln>
            <a:noFill/>
          </a:ln>
        </p:spPr>
        <p:txBody>
          <a:bodyPr/>
          <a:lstStyle/>
          <a:p>
            <a:endParaRPr lang="en-US"/>
          </a:p>
        </p:txBody>
      </p:sp>
      <p:sp>
        <p:nvSpPr>
          <p:cNvPr id="32" name="TextBox 32"/>
          <p:cNvSpPr txBox="1"/>
          <p:nvPr/>
        </p:nvSpPr>
        <p:spPr>
          <a:xfrm>
            <a:off x="6841808" y="2557939"/>
            <a:ext cx="442055"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PDFs</a:t>
            </a:r>
          </a:p>
        </p:txBody>
      </p:sp>
      <p:sp>
        <p:nvSpPr>
          <p:cNvPr id="33" name="Freeform 33"/>
          <p:cNvSpPr/>
          <p:nvPr/>
        </p:nvSpPr>
        <p:spPr>
          <a:xfrm>
            <a:off x="6524625" y="2905125"/>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61335" y="81540"/>
                </a:moveTo>
                <a:lnTo>
                  <a:pt x="94094" y="114300"/>
                </a:lnTo>
                <a:lnTo>
                  <a:pt x="61335" y="147060"/>
                </a:lnTo>
                <a:lnTo>
                  <a:pt x="81540" y="167265"/>
                </a:lnTo>
                <a:lnTo>
                  <a:pt x="114300" y="134506"/>
                </a:lnTo>
                <a:lnTo>
                  <a:pt x="147060" y="167265"/>
                </a:lnTo>
                <a:lnTo>
                  <a:pt x="167265" y="147060"/>
                </a:lnTo>
                <a:lnTo>
                  <a:pt x="134506" y="114300"/>
                </a:lnTo>
                <a:lnTo>
                  <a:pt x="167265" y="81540"/>
                </a:lnTo>
                <a:lnTo>
                  <a:pt x="147060" y="61335"/>
                </a:lnTo>
                <a:lnTo>
                  <a:pt x="114300" y="94094"/>
                </a:lnTo>
                <a:lnTo>
                  <a:pt x="81540" y="61335"/>
                </a:lnTo>
                <a:lnTo>
                  <a:pt x="61335" y="81540"/>
                </a:lnTo>
                <a:close/>
              </a:path>
            </a:pathLst>
          </a:custGeom>
          <a:solidFill>
            <a:srgbClr val="EF4444"/>
          </a:solidFill>
          <a:ln>
            <a:noFill/>
          </a:ln>
        </p:spPr>
        <p:txBody>
          <a:bodyPr/>
          <a:lstStyle/>
          <a:p>
            <a:endParaRPr lang="en-US"/>
          </a:p>
        </p:txBody>
      </p:sp>
      <p:sp>
        <p:nvSpPr>
          <p:cNvPr id="34" name="TextBox 34"/>
          <p:cNvSpPr txBox="1"/>
          <p:nvPr/>
        </p:nvSpPr>
        <p:spPr>
          <a:xfrm>
            <a:off x="6841808" y="2938939"/>
            <a:ext cx="1643134"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Large binary files</a:t>
            </a:r>
          </a:p>
        </p:txBody>
      </p:sp>
      <p:sp>
        <p:nvSpPr>
          <p:cNvPr id="35" name="Freeform 35"/>
          <p:cNvSpPr/>
          <p:nvPr/>
        </p:nvSpPr>
        <p:spPr>
          <a:xfrm>
            <a:off x="6524625" y="3286125"/>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61335" y="81540"/>
                </a:moveTo>
                <a:lnTo>
                  <a:pt x="94094" y="114300"/>
                </a:lnTo>
                <a:lnTo>
                  <a:pt x="61335" y="147060"/>
                </a:lnTo>
                <a:lnTo>
                  <a:pt x="81540" y="167265"/>
                </a:lnTo>
                <a:lnTo>
                  <a:pt x="114300" y="134506"/>
                </a:lnTo>
                <a:lnTo>
                  <a:pt x="147060" y="167265"/>
                </a:lnTo>
                <a:lnTo>
                  <a:pt x="167265" y="147060"/>
                </a:lnTo>
                <a:lnTo>
                  <a:pt x="134506" y="114300"/>
                </a:lnTo>
                <a:lnTo>
                  <a:pt x="167265" y="81540"/>
                </a:lnTo>
                <a:lnTo>
                  <a:pt x="147060" y="61335"/>
                </a:lnTo>
                <a:lnTo>
                  <a:pt x="114300" y="94094"/>
                </a:lnTo>
                <a:lnTo>
                  <a:pt x="81540" y="61335"/>
                </a:lnTo>
                <a:lnTo>
                  <a:pt x="61335" y="81540"/>
                </a:lnTo>
                <a:close/>
              </a:path>
            </a:pathLst>
          </a:custGeom>
          <a:solidFill>
            <a:srgbClr val="EF4444"/>
          </a:solidFill>
          <a:ln>
            <a:noFill/>
          </a:ln>
        </p:spPr>
        <p:txBody>
          <a:bodyPr/>
          <a:lstStyle/>
          <a:p>
            <a:endParaRPr lang="en-US"/>
          </a:p>
        </p:txBody>
      </p:sp>
      <p:sp>
        <p:nvSpPr>
          <p:cNvPr id="36" name="TextBox 36"/>
          <p:cNvSpPr txBox="1"/>
          <p:nvPr/>
        </p:nvSpPr>
        <p:spPr>
          <a:xfrm>
            <a:off x="6841808" y="3319939"/>
            <a:ext cx="3039737" cy="259080"/>
          </a:xfrm>
          <a:prstGeom prst="rect">
            <a:avLst/>
          </a:prstGeom>
          <a:noFill/>
          <a:ln>
            <a:noFill/>
          </a:ln>
        </p:spPr>
        <p:txBody>
          <a:bodyPr wrap="none" lIns="0" tIns="0" rIns="0" bIns="0" anchor="t" anchorCtr="0">
            <a:spAutoFit/>
          </a:bodyPr>
          <a:lstStyle/>
          <a:p>
            <a:pPr algn="l"/>
            <a:r>
              <a:rPr lang="zh-CN" sz="1275" dirty="0">
                <a:solidFill>
                  <a:srgbClr val="1A1A2E"/>
                </a:solidFill>
                <a:latin typeface="Arial"/>
                <a:ea typeface="Microsoft YaHei"/>
                <a:cs typeface="Arial"/>
              </a:rPr>
              <a:t>Raw datasets with usernames/PII</a:t>
            </a:r>
          </a:p>
        </p:txBody>
      </p:sp>
      <p:sp>
        <p:nvSpPr>
          <p:cNvPr id="37" name="Rectangle 37"/>
          <p:cNvSpPr/>
          <p:nvPr/>
        </p:nvSpPr>
        <p:spPr>
          <a:xfrm>
            <a:off x="6524625" y="4191000"/>
            <a:ext cx="4857750" cy="1047750"/>
          </a:xfrm>
          <a:prstGeom prst="rect">
            <a:avLst/>
          </a:prstGeom>
          <a:solidFill>
            <a:srgbClr val="EF4444">
              <a:alpha val="4000"/>
            </a:srgbClr>
          </a:solidFill>
          <a:ln>
            <a:noFill/>
          </a:ln>
        </p:spPr>
        <p:txBody>
          <a:bodyPr/>
          <a:lstStyle/>
          <a:p>
            <a:endParaRPr lang="en-US"/>
          </a:p>
        </p:txBody>
      </p:sp>
      <p:sp>
        <p:nvSpPr>
          <p:cNvPr id="38" name="TextBox 38"/>
          <p:cNvSpPr txBox="1"/>
          <p:nvPr/>
        </p:nvSpPr>
        <p:spPr>
          <a:xfrm>
            <a:off x="6653212" y="4336256"/>
            <a:ext cx="1305235" cy="228600"/>
          </a:xfrm>
          <a:prstGeom prst="rect">
            <a:avLst/>
          </a:prstGeom>
          <a:noFill/>
          <a:ln>
            <a:noFill/>
          </a:ln>
        </p:spPr>
        <p:txBody>
          <a:bodyPr wrap="none" lIns="0" tIns="0" rIns="0" bIns="0" anchor="t" anchorCtr="0">
            <a:spAutoFit/>
          </a:bodyPr>
          <a:lstStyle/>
          <a:p>
            <a:pPr algn="l"/>
            <a:r>
              <a:rPr lang="zh-CN" sz="1125" b="1" dirty="0">
                <a:solidFill>
                  <a:srgbClr val="EF4444"/>
                </a:solidFill>
                <a:latin typeface="Arial"/>
                <a:ea typeface="Microsoft YaHei"/>
                <a:cs typeface="Arial"/>
              </a:rPr>
              <a:t>Why not these?</a:t>
            </a:r>
          </a:p>
        </p:txBody>
      </p:sp>
      <p:sp>
        <p:nvSpPr>
          <p:cNvPr id="39" name="TextBox 39"/>
          <p:cNvSpPr txBox="1"/>
          <p:nvPr/>
        </p:nvSpPr>
        <p:spPr>
          <a:xfrm>
            <a:off x="6654165" y="4601528"/>
            <a:ext cx="2794683"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Binary files don't show useful diffs.</a:t>
            </a:r>
          </a:p>
        </p:txBody>
      </p:sp>
      <p:sp>
        <p:nvSpPr>
          <p:cNvPr id="40" name="TextBox 40"/>
          <p:cNvSpPr txBox="1"/>
          <p:nvPr/>
        </p:nvSpPr>
        <p:spPr>
          <a:xfrm>
            <a:off x="6654165" y="4792028"/>
            <a:ext cx="3607451"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A 50 MB Excel file bloats the repo for everyone.</a:t>
            </a:r>
          </a:p>
        </p:txBody>
      </p:sp>
      <p:sp>
        <p:nvSpPr>
          <p:cNvPr id="41" name="TextBox 41"/>
          <p:cNvSpPr txBox="1"/>
          <p:nvPr/>
        </p:nvSpPr>
        <p:spPr>
          <a:xfrm>
            <a:off x="6654165" y="4982528"/>
            <a:ext cx="3515439"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Data stays on local machines or shared drives.</a:t>
            </a:r>
          </a:p>
        </p:txBody>
      </p:sp>
      <p:sp>
        <p:nvSpPr>
          <p:cNvPr id="42" name="Rectangle 42"/>
          <p:cNvSpPr/>
          <p:nvPr/>
        </p:nvSpPr>
        <p:spPr>
          <a:xfrm>
            <a:off x="1905000" y="5715000"/>
            <a:ext cx="8382000" cy="428625"/>
          </a:xfrm>
          <a:prstGeom prst="rect">
            <a:avLst/>
          </a:prstGeom>
          <a:solidFill>
            <a:srgbClr val="4A90D9">
              <a:alpha val="6000"/>
            </a:srgbClr>
          </a:solidFill>
          <a:ln>
            <a:noFill/>
          </a:ln>
        </p:spPr>
        <p:txBody>
          <a:bodyPr/>
          <a:lstStyle/>
          <a:p>
            <a:endParaRPr lang="en-US"/>
          </a:p>
        </p:txBody>
      </p:sp>
      <p:sp>
        <p:nvSpPr>
          <p:cNvPr id="43" name="TextBox 43"/>
          <p:cNvSpPr txBox="1"/>
          <p:nvPr/>
        </p:nvSpPr>
        <p:spPr>
          <a:xfrm>
            <a:off x="2800550" y="5852160"/>
            <a:ext cx="6590900" cy="243840"/>
          </a:xfrm>
          <a:prstGeom prst="rect">
            <a:avLst/>
          </a:prstGeom>
          <a:noFill/>
          <a:ln>
            <a:noFill/>
          </a:ln>
        </p:spPr>
        <p:txBody>
          <a:bodyPr wrap="none" lIns="0" tIns="0" rIns="0" bIns="0" anchor="t" anchorCtr="0">
            <a:spAutoFit/>
          </a:bodyPr>
          <a:lstStyle/>
          <a:p>
            <a:pPr algn="ctr"/>
            <a:r>
              <a:rPr lang="zh-CN" sz="1200" b="1" dirty="0">
                <a:solidFill>
                  <a:srgbClr val="4A90D9"/>
                </a:solidFill>
                <a:latin typeface="Arial"/>
                <a:ea typeface="Microsoft YaHei"/>
                <a:cs typeface="Arial"/>
              </a:rPr>
              <a:t>.gitignore automatically blocks excluded file types from being committed</a:t>
            </a:r>
          </a:p>
        </p:txBody>
      </p:sp>
      <p:sp>
        <p:nvSpPr>
          <p:cNvPr id="44" name="TextBox 44"/>
          <p:cNvSpPr txBox="1"/>
          <p:nvPr/>
        </p:nvSpPr>
        <p:spPr>
          <a:xfrm>
            <a:off x="5864138" y="6411278"/>
            <a:ext cx="463725"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12 / 15</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sp>
        <p:nvSpPr>
          <p:cNvPr id="3" name="Rectangle 3"/>
          <p:cNvSpPr/>
          <p:nvPr/>
        </p:nvSpPr>
        <p:spPr>
          <a:xfrm>
            <a:off x="0" y="0"/>
            <a:ext cx="12192000" cy="57150"/>
          </a:xfrm>
          <a:prstGeom prst="rect">
            <a:avLst/>
          </a:prstGeom>
          <a:solidFill>
            <a:srgbClr val="D97757"/>
          </a:solidFill>
          <a:ln>
            <a:noFill/>
          </a:ln>
        </p:spPr>
        <p:txBody>
          <a:bodyPr/>
          <a:lstStyle/>
          <a:p>
            <a:endParaRPr lang="en-US"/>
          </a:p>
        </p:txBody>
      </p:sp>
      <p:sp>
        <p:nvSpPr>
          <p:cNvPr id="4" name="TextBox 4"/>
          <p:cNvSpPr txBox="1"/>
          <p:nvPr/>
        </p:nvSpPr>
        <p:spPr>
          <a:xfrm>
            <a:off x="558165" y="410528"/>
            <a:ext cx="448389" cy="213360"/>
          </a:xfrm>
          <a:prstGeom prst="rect">
            <a:avLst/>
          </a:prstGeom>
          <a:noFill/>
          <a:ln>
            <a:noFill/>
          </a:ln>
        </p:spPr>
        <p:txBody>
          <a:bodyPr wrap="none" lIns="0" tIns="0" rIns="0" bIns="0" anchor="t" anchorCtr="0">
            <a:spAutoFit/>
          </a:bodyPr>
          <a:lstStyle/>
          <a:p>
            <a:pPr algn="l"/>
            <a:r>
              <a:rPr lang="zh-CN" sz="1050" dirty="0">
                <a:solidFill>
                  <a:srgbClr val="D97757"/>
                </a:solidFill>
                <a:latin typeface="Arial"/>
                <a:ea typeface="Microsoft YaHei"/>
                <a:cs typeface="Arial"/>
              </a:rPr>
              <a:t>SETUP</a:t>
            </a:r>
          </a:p>
        </p:txBody>
      </p:sp>
      <p:sp>
        <p:nvSpPr>
          <p:cNvPr id="5" name="TextBox 5"/>
          <p:cNvSpPr txBox="1"/>
          <p:nvPr/>
        </p:nvSpPr>
        <p:spPr>
          <a:xfrm>
            <a:off x="541020" y="693420"/>
            <a:ext cx="7053834" cy="487680"/>
          </a:xfrm>
          <a:prstGeom prst="rect">
            <a:avLst/>
          </a:prstGeom>
          <a:noFill/>
          <a:ln>
            <a:noFill/>
          </a:ln>
        </p:spPr>
        <p:txBody>
          <a:bodyPr wrap="none" lIns="0" tIns="0" rIns="0" bIns="0" anchor="t" anchorCtr="0">
            <a:spAutoFit/>
          </a:bodyPr>
          <a:lstStyle/>
          <a:p>
            <a:pPr algn="l"/>
            <a:r>
              <a:rPr lang="zh-CN" sz="2400" b="1" dirty="0">
                <a:solidFill>
                  <a:srgbClr val="1A1A2E"/>
                </a:solidFill>
                <a:latin typeface="Arial"/>
                <a:ea typeface="Microsoft YaHei"/>
                <a:cs typeface="Arial"/>
              </a:rPr>
              <a:t>A Clean Repo Is a Professional Portfolio</a:t>
            </a:r>
          </a:p>
        </p:txBody>
      </p:sp>
      <p:sp>
        <p:nvSpPr>
          <p:cNvPr id="6" name="Rectangle 6"/>
          <p:cNvSpPr/>
          <p:nvPr/>
        </p:nvSpPr>
        <p:spPr>
          <a:xfrm>
            <a:off x="571500" y="1285875"/>
            <a:ext cx="4762500" cy="3905250"/>
          </a:xfrm>
          <a:prstGeom prst="rect">
            <a:avLst/>
          </a:prstGeom>
          <a:solidFill>
            <a:srgbClr val="1A1A2E"/>
          </a:solidFill>
          <a:ln>
            <a:noFill/>
          </a:ln>
        </p:spPr>
        <p:txBody>
          <a:bodyPr/>
          <a:lstStyle/>
          <a:p>
            <a:endParaRPr lang="en-US"/>
          </a:p>
        </p:txBody>
      </p:sp>
      <p:sp>
        <p:nvSpPr>
          <p:cNvPr id="7" name="Rectangle 7"/>
          <p:cNvSpPr/>
          <p:nvPr/>
        </p:nvSpPr>
        <p:spPr>
          <a:xfrm>
            <a:off x="571500" y="1285875"/>
            <a:ext cx="4762500" cy="333375"/>
          </a:xfrm>
          <a:prstGeom prst="rect">
            <a:avLst/>
          </a:prstGeom>
          <a:solidFill>
            <a:srgbClr val="16213E"/>
          </a:solidFill>
          <a:ln>
            <a:noFill/>
          </a:ln>
        </p:spPr>
        <p:txBody>
          <a:bodyPr/>
          <a:lstStyle/>
          <a:p>
            <a:endParaRPr lang="en-US"/>
          </a:p>
        </p:txBody>
      </p:sp>
      <p:sp>
        <p:nvSpPr>
          <p:cNvPr id="8" name="Ellipse 8"/>
          <p:cNvSpPr/>
          <p:nvPr/>
        </p:nvSpPr>
        <p:spPr>
          <a:xfrm>
            <a:off x="752475" y="1390650"/>
            <a:ext cx="114300" cy="114300"/>
          </a:xfrm>
          <a:prstGeom prst="ellipse">
            <a:avLst/>
          </a:prstGeom>
          <a:solidFill>
            <a:srgbClr val="EF4444"/>
          </a:solidFill>
          <a:ln>
            <a:noFill/>
          </a:ln>
        </p:spPr>
        <p:txBody>
          <a:bodyPr/>
          <a:lstStyle/>
          <a:p>
            <a:endParaRPr lang="en-US"/>
          </a:p>
        </p:txBody>
      </p:sp>
      <p:sp>
        <p:nvSpPr>
          <p:cNvPr id="9" name="Ellipse 9"/>
          <p:cNvSpPr/>
          <p:nvPr/>
        </p:nvSpPr>
        <p:spPr>
          <a:xfrm>
            <a:off x="942975" y="1390650"/>
            <a:ext cx="114300" cy="114300"/>
          </a:xfrm>
          <a:prstGeom prst="ellipse">
            <a:avLst/>
          </a:prstGeom>
          <a:solidFill>
            <a:srgbClr val="D97757"/>
          </a:solidFill>
          <a:ln>
            <a:noFill/>
          </a:ln>
        </p:spPr>
        <p:txBody>
          <a:bodyPr/>
          <a:lstStyle/>
          <a:p>
            <a:endParaRPr lang="en-US"/>
          </a:p>
        </p:txBody>
      </p:sp>
      <p:sp>
        <p:nvSpPr>
          <p:cNvPr id="10" name="Ellipse 10"/>
          <p:cNvSpPr/>
          <p:nvPr/>
        </p:nvSpPr>
        <p:spPr>
          <a:xfrm>
            <a:off x="1133475" y="1390650"/>
            <a:ext cx="114300" cy="114300"/>
          </a:xfrm>
          <a:prstGeom prst="ellipse">
            <a:avLst/>
          </a:prstGeom>
          <a:solidFill>
            <a:srgbClr val="10B981"/>
          </a:solidFill>
          <a:ln>
            <a:noFill/>
          </a:ln>
        </p:spPr>
        <p:txBody>
          <a:bodyPr/>
          <a:lstStyle/>
          <a:p>
            <a:endParaRPr lang="en-US"/>
          </a:p>
        </p:txBody>
      </p:sp>
      <p:sp>
        <p:nvSpPr>
          <p:cNvPr id="11" name="TextBox 11"/>
          <p:cNvSpPr txBox="1"/>
          <p:nvPr/>
        </p:nvSpPr>
        <p:spPr>
          <a:xfrm>
            <a:off x="2256853" y="1390174"/>
            <a:ext cx="1391793"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rial"/>
                <a:ea typeface="Microsoft YaHei"/>
                <a:cs typeface="Arial"/>
              </a:rPr>
              <a:t>KIN7518-P3-[GROUP]</a:t>
            </a:r>
          </a:p>
        </p:txBody>
      </p:sp>
      <p:sp>
        <p:nvSpPr>
          <p:cNvPr id="12" name="TextBox 12"/>
          <p:cNvSpPr txBox="1"/>
          <p:nvPr/>
        </p:nvSpPr>
        <p:spPr>
          <a:xfrm>
            <a:off x="935355" y="1854518"/>
            <a:ext cx="2035540"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Consolas"/>
                <a:ea typeface="Microsoft YaHei"/>
                <a:cs typeface="Consolas"/>
              </a:rPr>
              <a:t>KIN7518-P3-[GROUP]/</a:t>
            </a:r>
          </a:p>
        </p:txBody>
      </p:sp>
      <p:sp>
        <p:nvSpPr>
          <p:cNvPr id="13" name="TextBox 13"/>
          <p:cNvSpPr txBox="1"/>
          <p:nvPr/>
        </p:nvSpPr>
        <p:spPr>
          <a:xfrm>
            <a:off x="935355" y="2187892"/>
            <a:ext cx="1089136" cy="274320"/>
          </a:xfrm>
          <a:prstGeom prst="rect">
            <a:avLst/>
          </a:prstGeom>
          <a:noFill/>
          <a:ln>
            <a:noFill/>
          </a:ln>
        </p:spPr>
        <p:txBody>
          <a:bodyPr wrap="none" lIns="0" tIns="0" rIns="0" bIns="0" anchor="t" anchorCtr="0">
            <a:spAutoFit/>
          </a:bodyPr>
          <a:lstStyle/>
          <a:p>
            <a:pPr algn="l"/>
            <a:r>
              <a:rPr lang="zh-CN" sz="1350" dirty="0">
                <a:solidFill>
                  <a:srgbClr val="10B981"/>
                </a:solidFill>
                <a:latin typeface="Consolas"/>
                <a:ea typeface="Microsoft YaHei"/>
                <a:cs typeface="Consolas"/>
              </a:rPr>
              <a:t>README.md</a:t>
            </a:r>
          </a:p>
        </p:txBody>
      </p:sp>
      <p:sp>
        <p:nvSpPr>
          <p:cNvPr id="14" name="TextBox 14"/>
          <p:cNvSpPr txBox="1"/>
          <p:nvPr/>
        </p:nvSpPr>
        <p:spPr>
          <a:xfrm>
            <a:off x="935355" y="2521268"/>
            <a:ext cx="576501" cy="274320"/>
          </a:xfrm>
          <a:prstGeom prst="rect">
            <a:avLst/>
          </a:prstGeom>
          <a:noFill/>
          <a:ln>
            <a:noFill/>
          </a:ln>
        </p:spPr>
        <p:txBody>
          <a:bodyPr wrap="none" lIns="0" tIns="0" rIns="0" bIns="0" anchor="t" anchorCtr="0">
            <a:spAutoFit/>
          </a:bodyPr>
          <a:lstStyle/>
          <a:p>
            <a:pPr algn="l"/>
            <a:r>
              <a:rPr lang="zh-CN" sz="1350" dirty="0">
                <a:solidFill>
                  <a:srgbClr val="4A90D9"/>
                </a:solidFill>
                <a:latin typeface="Consolas"/>
                <a:ea typeface="Microsoft YaHei"/>
                <a:cs typeface="Consolas"/>
              </a:rPr>
              <a:t>code/</a:t>
            </a:r>
          </a:p>
        </p:txBody>
      </p:sp>
      <p:sp>
        <p:nvSpPr>
          <p:cNvPr id="15" name="TextBox 15"/>
          <p:cNvSpPr txBox="1"/>
          <p:nvPr/>
        </p:nvSpPr>
        <p:spPr>
          <a:xfrm>
            <a:off x="935355" y="2854642"/>
            <a:ext cx="1463754" cy="274320"/>
          </a:xfrm>
          <a:prstGeom prst="rect">
            <a:avLst/>
          </a:prstGeom>
          <a:noFill/>
          <a:ln>
            <a:noFill/>
          </a:ln>
        </p:spPr>
        <p:txBody>
          <a:bodyPr wrap="none" lIns="0" tIns="0" rIns="0" bIns="0" anchor="t" anchorCtr="0">
            <a:spAutoFit/>
          </a:bodyPr>
          <a:lstStyle/>
          <a:p>
            <a:pPr algn="l"/>
            <a:r>
              <a:rPr lang="zh-CN" sz="1350" dirty="0">
                <a:solidFill>
                  <a:srgbClr val="D97757"/>
                </a:solidFill>
                <a:latin typeface="Consolas"/>
                <a:ea typeface="Microsoft YaHei"/>
                <a:cs typeface="Consolas"/>
              </a:rPr>
              <a:t>visualizations/</a:t>
            </a:r>
          </a:p>
        </p:txBody>
      </p:sp>
      <p:sp>
        <p:nvSpPr>
          <p:cNvPr id="16" name="TextBox 16"/>
          <p:cNvSpPr txBox="1"/>
          <p:nvPr/>
        </p:nvSpPr>
        <p:spPr>
          <a:xfrm>
            <a:off x="935355" y="3188018"/>
            <a:ext cx="793385" cy="274320"/>
          </a:xfrm>
          <a:prstGeom prst="rect">
            <a:avLst/>
          </a:prstGeom>
          <a:noFill/>
          <a:ln>
            <a:noFill/>
          </a:ln>
        </p:spPr>
        <p:txBody>
          <a:bodyPr wrap="none" lIns="0" tIns="0" rIns="0" bIns="0" anchor="t" anchorCtr="0">
            <a:spAutoFit/>
          </a:bodyPr>
          <a:lstStyle/>
          <a:p>
            <a:pPr algn="l"/>
            <a:r>
              <a:rPr lang="zh-CN" sz="1350" dirty="0">
                <a:solidFill>
                  <a:srgbClr val="4A90D9"/>
                </a:solidFill>
                <a:latin typeface="Consolas"/>
                <a:ea typeface="Microsoft YaHei"/>
                <a:cs typeface="Consolas"/>
              </a:rPr>
              <a:t>report/</a:t>
            </a:r>
          </a:p>
        </p:txBody>
      </p:sp>
      <p:sp>
        <p:nvSpPr>
          <p:cNvPr id="17" name="TextBox 17"/>
          <p:cNvSpPr txBox="1"/>
          <p:nvPr/>
        </p:nvSpPr>
        <p:spPr>
          <a:xfrm>
            <a:off x="935355" y="3521392"/>
            <a:ext cx="1020128" cy="274320"/>
          </a:xfrm>
          <a:prstGeom prst="rect">
            <a:avLst/>
          </a:prstGeom>
          <a:noFill/>
          <a:ln>
            <a:noFill/>
          </a:ln>
        </p:spPr>
        <p:txBody>
          <a:bodyPr wrap="none" lIns="0" tIns="0" rIns="0" bIns="0" anchor="t" anchorCtr="0">
            <a:spAutoFit/>
          </a:bodyPr>
          <a:lstStyle/>
          <a:p>
            <a:pPr algn="l"/>
            <a:r>
              <a:rPr lang="zh-CN" sz="1350" dirty="0">
                <a:solidFill>
                  <a:srgbClr val="64748B"/>
                </a:solidFill>
                <a:latin typeface="Consolas"/>
                <a:ea typeface="Microsoft YaHei"/>
                <a:cs typeface="Consolas"/>
              </a:rPr>
              <a:t>.gitignore</a:t>
            </a:r>
          </a:p>
        </p:txBody>
      </p:sp>
      <p:sp>
        <p:nvSpPr>
          <p:cNvPr id="18" name="TextBox 18"/>
          <p:cNvSpPr txBox="1"/>
          <p:nvPr/>
        </p:nvSpPr>
        <p:spPr>
          <a:xfrm>
            <a:off x="939165" y="3982402"/>
            <a:ext cx="923782"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Consolas"/>
                <a:ea typeface="Microsoft YaHei"/>
                <a:cs typeface="Consolas"/>
              </a:rPr>
              <a:t># .gitignore</a:t>
            </a:r>
          </a:p>
        </p:txBody>
      </p:sp>
      <p:sp>
        <p:nvSpPr>
          <p:cNvPr id="19" name="TextBox 19"/>
          <p:cNvSpPr txBox="1"/>
          <p:nvPr/>
        </p:nvSpPr>
        <p:spPr>
          <a:xfrm>
            <a:off x="939165" y="4220528"/>
            <a:ext cx="494395" cy="213360"/>
          </a:xfrm>
          <a:prstGeom prst="rect">
            <a:avLst/>
          </a:prstGeom>
          <a:noFill/>
          <a:ln>
            <a:noFill/>
          </a:ln>
        </p:spPr>
        <p:txBody>
          <a:bodyPr wrap="none" lIns="0" tIns="0" rIns="0" bIns="0" anchor="t" anchorCtr="0">
            <a:spAutoFit/>
          </a:bodyPr>
          <a:lstStyle/>
          <a:p>
            <a:pPr algn="l"/>
            <a:r>
              <a:rPr lang="zh-CN" sz="1050" dirty="0">
                <a:solidFill>
                  <a:srgbClr val="EF4444"/>
                </a:solidFill>
                <a:latin typeface="Consolas"/>
                <a:ea typeface="Microsoft YaHei"/>
                <a:cs typeface="Consolas"/>
              </a:rPr>
              <a:t>*.xlsx</a:t>
            </a:r>
          </a:p>
        </p:txBody>
      </p:sp>
      <p:sp>
        <p:nvSpPr>
          <p:cNvPr id="20" name="TextBox 20"/>
          <p:cNvSpPr txBox="1"/>
          <p:nvPr/>
        </p:nvSpPr>
        <p:spPr>
          <a:xfrm>
            <a:off x="939165" y="4411028"/>
            <a:ext cx="448389" cy="213360"/>
          </a:xfrm>
          <a:prstGeom prst="rect">
            <a:avLst/>
          </a:prstGeom>
          <a:noFill/>
          <a:ln>
            <a:noFill/>
          </a:ln>
        </p:spPr>
        <p:txBody>
          <a:bodyPr wrap="none" lIns="0" tIns="0" rIns="0" bIns="0" anchor="t" anchorCtr="0">
            <a:spAutoFit/>
          </a:bodyPr>
          <a:lstStyle/>
          <a:p>
            <a:pPr algn="l"/>
            <a:r>
              <a:rPr lang="zh-CN" sz="1050" dirty="0">
                <a:solidFill>
                  <a:srgbClr val="EF4444"/>
                </a:solidFill>
                <a:latin typeface="Consolas"/>
                <a:ea typeface="Microsoft YaHei"/>
                <a:cs typeface="Consolas"/>
              </a:rPr>
              <a:t>*.csv</a:t>
            </a:r>
          </a:p>
        </p:txBody>
      </p:sp>
      <p:sp>
        <p:nvSpPr>
          <p:cNvPr id="21" name="TextBox 21"/>
          <p:cNvSpPr txBox="1"/>
          <p:nvPr/>
        </p:nvSpPr>
        <p:spPr>
          <a:xfrm>
            <a:off x="939165" y="4601528"/>
            <a:ext cx="494395" cy="213360"/>
          </a:xfrm>
          <a:prstGeom prst="rect">
            <a:avLst/>
          </a:prstGeom>
          <a:noFill/>
          <a:ln>
            <a:noFill/>
          </a:ln>
        </p:spPr>
        <p:txBody>
          <a:bodyPr wrap="none" lIns="0" tIns="0" rIns="0" bIns="0" anchor="t" anchorCtr="0">
            <a:spAutoFit/>
          </a:bodyPr>
          <a:lstStyle/>
          <a:p>
            <a:pPr algn="l"/>
            <a:r>
              <a:rPr lang="zh-CN" sz="1050" dirty="0">
                <a:solidFill>
                  <a:srgbClr val="EF4444"/>
                </a:solidFill>
                <a:latin typeface="Consolas"/>
                <a:ea typeface="Microsoft YaHei"/>
                <a:cs typeface="Consolas"/>
              </a:rPr>
              <a:t>*.json</a:t>
            </a:r>
          </a:p>
        </p:txBody>
      </p:sp>
      <p:sp>
        <p:nvSpPr>
          <p:cNvPr id="22" name="TextBox 22"/>
          <p:cNvSpPr txBox="1"/>
          <p:nvPr/>
        </p:nvSpPr>
        <p:spPr>
          <a:xfrm>
            <a:off x="939165" y="4792028"/>
            <a:ext cx="448389" cy="213360"/>
          </a:xfrm>
          <a:prstGeom prst="rect">
            <a:avLst/>
          </a:prstGeom>
          <a:noFill/>
          <a:ln>
            <a:noFill/>
          </a:ln>
        </p:spPr>
        <p:txBody>
          <a:bodyPr wrap="none" lIns="0" tIns="0" rIns="0" bIns="0" anchor="t" anchorCtr="0">
            <a:spAutoFit/>
          </a:bodyPr>
          <a:lstStyle/>
          <a:p>
            <a:pPr algn="l"/>
            <a:r>
              <a:rPr lang="zh-CN" sz="1050" dirty="0">
                <a:solidFill>
                  <a:srgbClr val="EF4444"/>
                </a:solidFill>
                <a:latin typeface="Consolas"/>
                <a:ea typeface="Microsoft YaHei"/>
                <a:cs typeface="Consolas"/>
              </a:rPr>
              <a:t>*.pdf</a:t>
            </a:r>
          </a:p>
        </p:txBody>
      </p:sp>
      <p:sp>
        <p:nvSpPr>
          <p:cNvPr id="23" name="Rectangle 23"/>
          <p:cNvSpPr/>
          <p:nvPr/>
        </p:nvSpPr>
        <p:spPr>
          <a:xfrm>
            <a:off x="5715000" y="1285875"/>
            <a:ext cx="5905500" cy="904875"/>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24" name="Rectangle 24"/>
          <p:cNvSpPr/>
          <p:nvPr/>
        </p:nvSpPr>
        <p:spPr>
          <a:xfrm>
            <a:off x="5715000" y="1285875"/>
            <a:ext cx="5905500" cy="47625"/>
          </a:xfrm>
          <a:prstGeom prst="rect">
            <a:avLst/>
          </a:prstGeom>
          <a:solidFill>
            <a:srgbClr val="10B981"/>
          </a:solidFill>
          <a:ln>
            <a:noFill/>
          </a:ln>
        </p:spPr>
        <p:txBody>
          <a:bodyPr/>
          <a:lstStyle/>
          <a:p>
            <a:endParaRPr lang="en-US"/>
          </a:p>
        </p:txBody>
      </p:sp>
      <p:sp>
        <p:nvSpPr>
          <p:cNvPr id="25" name="Freeform 25"/>
          <p:cNvSpPr/>
          <p:nvPr/>
        </p:nvSpPr>
        <p:spPr>
          <a:xfrm>
            <a:off x="5905500" y="1493044"/>
            <a:ext cx="266700" cy="216694"/>
          </a:xfrm>
          <a:custGeom>
            <a:avLst/>
            <a:gdLst/>
            <a:ahLst/>
            <a:cxnLst/>
            <a:rect l="l" t="t" r="r" b="b"/>
            <a:pathLst>
              <a:path w="266700" h="216694">
                <a:moveTo>
                  <a:pt x="0" y="0"/>
                </a:moveTo>
                <a:lnTo>
                  <a:pt x="100012" y="0"/>
                </a:lnTo>
                <a:lnTo>
                  <a:pt x="150019" y="50006"/>
                </a:lnTo>
                <a:lnTo>
                  <a:pt x="266700" y="50006"/>
                </a:lnTo>
                <a:lnTo>
                  <a:pt x="266700" y="216694"/>
                </a:lnTo>
                <a:lnTo>
                  <a:pt x="0" y="216694"/>
                </a:lnTo>
                <a:lnTo>
                  <a:pt x="0" y="0"/>
                </a:lnTo>
                <a:close/>
              </a:path>
            </a:pathLst>
          </a:custGeom>
          <a:solidFill>
            <a:srgbClr val="10B981"/>
          </a:solidFill>
          <a:ln>
            <a:noFill/>
          </a:ln>
        </p:spPr>
        <p:txBody>
          <a:bodyPr/>
          <a:lstStyle/>
          <a:p>
            <a:endParaRPr lang="en-US"/>
          </a:p>
        </p:txBody>
      </p:sp>
      <p:sp>
        <p:nvSpPr>
          <p:cNvPr id="26" name="TextBox 26"/>
          <p:cNvSpPr txBox="1"/>
          <p:nvPr/>
        </p:nvSpPr>
        <p:spPr>
          <a:xfrm>
            <a:off x="6269355" y="1492568"/>
            <a:ext cx="1141878" cy="274320"/>
          </a:xfrm>
          <a:prstGeom prst="rect">
            <a:avLst/>
          </a:prstGeom>
          <a:noFill/>
          <a:ln>
            <a:noFill/>
          </a:ln>
        </p:spPr>
        <p:txBody>
          <a:bodyPr wrap="none" lIns="0" tIns="0" rIns="0" bIns="0" anchor="t" anchorCtr="0">
            <a:spAutoFit/>
          </a:bodyPr>
          <a:lstStyle/>
          <a:p>
            <a:pPr algn="l"/>
            <a:r>
              <a:rPr lang="zh-CN" sz="1350" b="1" dirty="0">
                <a:solidFill>
                  <a:srgbClr val="10B981"/>
                </a:solidFill>
                <a:latin typeface="Arial"/>
                <a:ea typeface="Microsoft YaHei"/>
                <a:cs typeface="Arial"/>
              </a:rPr>
              <a:t>README.md</a:t>
            </a:r>
          </a:p>
        </p:txBody>
      </p:sp>
      <p:sp>
        <p:nvSpPr>
          <p:cNvPr id="27" name="TextBox 27"/>
          <p:cNvSpPr txBox="1"/>
          <p:nvPr/>
        </p:nvSpPr>
        <p:spPr>
          <a:xfrm>
            <a:off x="5891212" y="1783556"/>
            <a:ext cx="4300537" cy="228600"/>
          </a:xfrm>
          <a:prstGeom prst="rect">
            <a:avLst/>
          </a:prstGeom>
          <a:noFill/>
          <a:ln>
            <a:noFill/>
          </a:ln>
        </p:spPr>
        <p:txBody>
          <a:bodyPr wrap="none" lIns="0" tIns="0" rIns="0" bIns="0" anchor="t" anchorCtr="0">
            <a:spAutoFit/>
          </a:bodyPr>
          <a:lstStyle/>
          <a:p>
            <a:pPr algn="l"/>
            <a:r>
              <a:rPr lang="zh-CN" sz="1125" dirty="0">
                <a:solidFill>
                  <a:srgbClr val="64748B"/>
                </a:solidFill>
                <a:latin typeface="Arial"/>
                <a:ea typeface="Microsoft YaHei"/>
                <a:cs typeface="Arial"/>
              </a:rPr>
              <a:t>Project overview, team members, RQs, key findings.</a:t>
            </a:r>
          </a:p>
        </p:txBody>
      </p:sp>
      <p:sp>
        <p:nvSpPr>
          <p:cNvPr id="28" name="TextBox 28"/>
          <p:cNvSpPr txBox="1"/>
          <p:nvPr/>
        </p:nvSpPr>
        <p:spPr>
          <a:xfrm>
            <a:off x="5891212" y="1974056"/>
            <a:ext cx="3955494" cy="228600"/>
          </a:xfrm>
          <a:prstGeom prst="rect">
            <a:avLst/>
          </a:prstGeom>
          <a:noFill/>
          <a:ln>
            <a:noFill/>
          </a:ln>
        </p:spPr>
        <p:txBody>
          <a:bodyPr wrap="none" lIns="0" tIns="0" rIns="0" bIns="0" anchor="t" anchorCtr="0">
            <a:spAutoFit/>
          </a:bodyPr>
          <a:lstStyle/>
          <a:p>
            <a:pPr algn="l"/>
            <a:r>
              <a:rPr lang="zh-CN" sz="1125" dirty="0">
                <a:solidFill>
                  <a:srgbClr val="64748B"/>
                </a:solidFill>
                <a:latin typeface="Arial"/>
                <a:ea typeface="Microsoft YaHei"/>
                <a:cs typeface="Arial"/>
              </a:rPr>
              <a:t>The front page of your project. Keep it updated.</a:t>
            </a:r>
          </a:p>
        </p:txBody>
      </p:sp>
      <p:sp>
        <p:nvSpPr>
          <p:cNvPr id="29" name="Rectangle 29"/>
          <p:cNvSpPr/>
          <p:nvPr/>
        </p:nvSpPr>
        <p:spPr>
          <a:xfrm>
            <a:off x="5715000" y="2333625"/>
            <a:ext cx="5905500" cy="76200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30" name="Rectangle 30"/>
          <p:cNvSpPr/>
          <p:nvPr/>
        </p:nvSpPr>
        <p:spPr>
          <a:xfrm>
            <a:off x="5715000" y="2333625"/>
            <a:ext cx="5905500" cy="47625"/>
          </a:xfrm>
          <a:prstGeom prst="rect">
            <a:avLst/>
          </a:prstGeom>
          <a:solidFill>
            <a:srgbClr val="4A90D9"/>
          </a:solidFill>
          <a:ln>
            <a:noFill/>
          </a:ln>
        </p:spPr>
        <p:txBody>
          <a:bodyPr/>
          <a:lstStyle/>
          <a:p>
            <a:endParaRPr lang="en-US"/>
          </a:p>
        </p:txBody>
      </p:sp>
      <p:sp>
        <p:nvSpPr>
          <p:cNvPr id="31" name="Freeform 31"/>
          <p:cNvSpPr/>
          <p:nvPr/>
        </p:nvSpPr>
        <p:spPr>
          <a:xfrm>
            <a:off x="5905500" y="2540794"/>
            <a:ext cx="266700" cy="216694"/>
          </a:xfrm>
          <a:custGeom>
            <a:avLst/>
            <a:gdLst/>
            <a:ahLst/>
            <a:cxnLst/>
            <a:rect l="l" t="t" r="r" b="b"/>
            <a:pathLst>
              <a:path w="266700" h="216694">
                <a:moveTo>
                  <a:pt x="0" y="0"/>
                </a:moveTo>
                <a:lnTo>
                  <a:pt x="100012" y="0"/>
                </a:lnTo>
                <a:lnTo>
                  <a:pt x="150019" y="50006"/>
                </a:lnTo>
                <a:lnTo>
                  <a:pt x="266700" y="50006"/>
                </a:lnTo>
                <a:lnTo>
                  <a:pt x="266700" y="216694"/>
                </a:lnTo>
                <a:lnTo>
                  <a:pt x="0" y="216694"/>
                </a:lnTo>
                <a:lnTo>
                  <a:pt x="0" y="0"/>
                </a:lnTo>
                <a:close/>
              </a:path>
            </a:pathLst>
          </a:custGeom>
          <a:solidFill>
            <a:srgbClr val="4A90D9"/>
          </a:solidFill>
          <a:ln>
            <a:noFill/>
          </a:ln>
        </p:spPr>
        <p:txBody>
          <a:bodyPr/>
          <a:lstStyle/>
          <a:p>
            <a:endParaRPr lang="en-US"/>
          </a:p>
        </p:txBody>
      </p:sp>
      <p:sp>
        <p:nvSpPr>
          <p:cNvPr id="32" name="TextBox 32"/>
          <p:cNvSpPr txBox="1"/>
          <p:nvPr/>
        </p:nvSpPr>
        <p:spPr>
          <a:xfrm>
            <a:off x="6269355" y="2540318"/>
            <a:ext cx="603611" cy="274320"/>
          </a:xfrm>
          <a:prstGeom prst="rect">
            <a:avLst/>
          </a:prstGeom>
          <a:noFill/>
          <a:ln>
            <a:noFill/>
          </a:ln>
        </p:spPr>
        <p:txBody>
          <a:bodyPr wrap="none" lIns="0" tIns="0" rIns="0" bIns="0" anchor="t" anchorCtr="0">
            <a:spAutoFit/>
          </a:bodyPr>
          <a:lstStyle/>
          <a:p>
            <a:pPr algn="l"/>
            <a:r>
              <a:rPr lang="zh-CN" sz="1350" b="1" dirty="0">
                <a:solidFill>
                  <a:srgbClr val="4A90D9"/>
                </a:solidFill>
                <a:latin typeface="Arial"/>
                <a:ea typeface="Microsoft YaHei"/>
                <a:cs typeface="Arial"/>
              </a:rPr>
              <a:t>code/</a:t>
            </a:r>
          </a:p>
        </p:txBody>
      </p:sp>
      <p:sp>
        <p:nvSpPr>
          <p:cNvPr id="33" name="TextBox 33"/>
          <p:cNvSpPr txBox="1"/>
          <p:nvPr/>
        </p:nvSpPr>
        <p:spPr>
          <a:xfrm>
            <a:off x="5891212" y="2831306"/>
            <a:ext cx="4054078" cy="228600"/>
          </a:xfrm>
          <a:prstGeom prst="rect">
            <a:avLst/>
          </a:prstGeom>
          <a:noFill/>
          <a:ln>
            <a:noFill/>
          </a:ln>
        </p:spPr>
        <p:txBody>
          <a:bodyPr wrap="none" lIns="0" tIns="0" rIns="0" bIns="0" anchor="t" anchorCtr="0">
            <a:spAutoFit/>
          </a:bodyPr>
          <a:lstStyle/>
          <a:p>
            <a:pPr algn="l"/>
            <a:r>
              <a:rPr lang="zh-CN" sz="1125" dirty="0">
                <a:solidFill>
                  <a:srgbClr val="64748B"/>
                </a:solidFill>
                <a:latin typeface="Arial"/>
                <a:ea typeface="Microsoft YaHei"/>
                <a:cs typeface="Arial"/>
              </a:rPr>
              <a:t>Analysis scripts, data cleaning scripts, any code.</a:t>
            </a:r>
          </a:p>
        </p:txBody>
      </p:sp>
      <p:sp>
        <p:nvSpPr>
          <p:cNvPr id="34" name="Rectangle 34"/>
          <p:cNvSpPr/>
          <p:nvPr/>
        </p:nvSpPr>
        <p:spPr>
          <a:xfrm>
            <a:off x="5715000" y="3238500"/>
            <a:ext cx="5905500" cy="76200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35" name="Rectangle 35"/>
          <p:cNvSpPr/>
          <p:nvPr/>
        </p:nvSpPr>
        <p:spPr>
          <a:xfrm>
            <a:off x="5715000" y="3238500"/>
            <a:ext cx="5905500" cy="47625"/>
          </a:xfrm>
          <a:prstGeom prst="rect">
            <a:avLst/>
          </a:prstGeom>
          <a:solidFill>
            <a:srgbClr val="D97757"/>
          </a:solidFill>
          <a:ln>
            <a:noFill/>
          </a:ln>
        </p:spPr>
        <p:txBody>
          <a:bodyPr/>
          <a:lstStyle/>
          <a:p>
            <a:endParaRPr lang="en-US"/>
          </a:p>
        </p:txBody>
      </p:sp>
      <p:sp>
        <p:nvSpPr>
          <p:cNvPr id="36" name="Freeform 36"/>
          <p:cNvSpPr/>
          <p:nvPr/>
        </p:nvSpPr>
        <p:spPr>
          <a:xfrm>
            <a:off x="5905500" y="3445669"/>
            <a:ext cx="266700" cy="216694"/>
          </a:xfrm>
          <a:custGeom>
            <a:avLst/>
            <a:gdLst/>
            <a:ahLst/>
            <a:cxnLst/>
            <a:rect l="l" t="t" r="r" b="b"/>
            <a:pathLst>
              <a:path w="266700" h="216694">
                <a:moveTo>
                  <a:pt x="0" y="0"/>
                </a:moveTo>
                <a:lnTo>
                  <a:pt x="100012" y="0"/>
                </a:lnTo>
                <a:lnTo>
                  <a:pt x="150019" y="50006"/>
                </a:lnTo>
                <a:lnTo>
                  <a:pt x="266700" y="50006"/>
                </a:lnTo>
                <a:lnTo>
                  <a:pt x="266700" y="216694"/>
                </a:lnTo>
                <a:lnTo>
                  <a:pt x="0" y="216694"/>
                </a:lnTo>
                <a:lnTo>
                  <a:pt x="0" y="0"/>
                </a:lnTo>
                <a:close/>
              </a:path>
            </a:pathLst>
          </a:custGeom>
          <a:solidFill>
            <a:srgbClr val="D97757"/>
          </a:solidFill>
          <a:ln>
            <a:noFill/>
          </a:ln>
        </p:spPr>
        <p:txBody>
          <a:bodyPr/>
          <a:lstStyle/>
          <a:p>
            <a:endParaRPr lang="en-US"/>
          </a:p>
        </p:txBody>
      </p:sp>
      <p:sp>
        <p:nvSpPr>
          <p:cNvPr id="37" name="TextBox 37"/>
          <p:cNvSpPr txBox="1"/>
          <p:nvPr/>
        </p:nvSpPr>
        <p:spPr>
          <a:xfrm>
            <a:off x="6269355" y="3445192"/>
            <a:ext cx="1535228" cy="274320"/>
          </a:xfrm>
          <a:prstGeom prst="rect">
            <a:avLst/>
          </a:prstGeom>
          <a:noFill/>
          <a:ln>
            <a:noFill/>
          </a:ln>
        </p:spPr>
        <p:txBody>
          <a:bodyPr wrap="none" lIns="0" tIns="0" rIns="0" bIns="0" anchor="t" anchorCtr="0">
            <a:spAutoFit/>
          </a:bodyPr>
          <a:lstStyle/>
          <a:p>
            <a:pPr algn="l"/>
            <a:r>
              <a:rPr lang="zh-CN" sz="1350" b="1" dirty="0">
                <a:solidFill>
                  <a:srgbClr val="D97757"/>
                </a:solidFill>
                <a:latin typeface="Arial"/>
                <a:ea typeface="Microsoft YaHei"/>
                <a:cs typeface="Arial"/>
              </a:rPr>
              <a:t>visualizations/</a:t>
            </a:r>
          </a:p>
        </p:txBody>
      </p:sp>
      <p:sp>
        <p:nvSpPr>
          <p:cNvPr id="38" name="TextBox 38"/>
          <p:cNvSpPr txBox="1"/>
          <p:nvPr/>
        </p:nvSpPr>
        <p:spPr>
          <a:xfrm>
            <a:off x="5891212" y="3736181"/>
            <a:ext cx="3659743" cy="228600"/>
          </a:xfrm>
          <a:prstGeom prst="rect">
            <a:avLst/>
          </a:prstGeom>
          <a:noFill/>
          <a:ln>
            <a:noFill/>
          </a:ln>
        </p:spPr>
        <p:txBody>
          <a:bodyPr wrap="none" lIns="0" tIns="0" rIns="0" bIns="0" anchor="t" anchorCtr="0">
            <a:spAutoFit/>
          </a:bodyPr>
          <a:lstStyle/>
          <a:p>
            <a:pPr algn="l"/>
            <a:r>
              <a:rPr lang="zh-CN" sz="1125" dirty="0">
                <a:solidFill>
                  <a:srgbClr val="64748B"/>
                </a:solidFill>
                <a:latin typeface="Arial"/>
                <a:ea typeface="Microsoft YaHei"/>
                <a:cs typeface="Arial"/>
              </a:rPr>
              <a:t>Charts and figures as images, with captions.</a:t>
            </a:r>
          </a:p>
        </p:txBody>
      </p:sp>
      <p:sp>
        <p:nvSpPr>
          <p:cNvPr id="39" name="Rectangle 39"/>
          <p:cNvSpPr/>
          <p:nvPr/>
        </p:nvSpPr>
        <p:spPr>
          <a:xfrm>
            <a:off x="5715000" y="4143375"/>
            <a:ext cx="5905500" cy="76200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40" name="Rectangle 40"/>
          <p:cNvSpPr/>
          <p:nvPr/>
        </p:nvSpPr>
        <p:spPr>
          <a:xfrm>
            <a:off x="5715000" y="4143375"/>
            <a:ext cx="5905500" cy="47625"/>
          </a:xfrm>
          <a:prstGeom prst="rect">
            <a:avLst/>
          </a:prstGeom>
          <a:solidFill>
            <a:srgbClr val="4A90D9"/>
          </a:solidFill>
          <a:ln>
            <a:noFill/>
          </a:ln>
        </p:spPr>
        <p:txBody>
          <a:bodyPr/>
          <a:lstStyle/>
          <a:p>
            <a:endParaRPr lang="en-US"/>
          </a:p>
        </p:txBody>
      </p:sp>
      <p:sp>
        <p:nvSpPr>
          <p:cNvPr id="41" name="Freeform 41"/>
          <p:cNvSpPr/>
          <p:nvPr/>
        </p:nvSpPr>
        <p:spPr>
          <a:xfrm>
            <a:off x="5905500" y="4350544"/>
            <a:ext cx="266700" cy="216694"/>
          </a:xfrm>
          <a:custGeom>
            <a:avLst/>
            <a:gdLst/>
            <a:ahLst/>
            <a:cxnLst/>
            <a:rect l="l" t="t" r="r" b="b"/>
            <a:pathLst>
              <a:path w="266700" h="216694">
                <a:moveTo>
                  <a:pt x="0" y="0"/>
                </a:moveTo>
                <a:lnTo>
                  <a:pt x="100012" y="0"/>
                </a:lnTo>
                <a:lnTo>
                  <a:pt x="150019" y="50006"/>
                </a:lnTo>
                <a:lnTo>
                  <a:pt x="266700" y="50006"/>
                </a:lnTo>
                <a:lnTo>
                  <a:pt x="266700" y="216694"/>
                </a:lnTo>
                <a:lnTo>
                  <a:pt x="0" y="216694"/>
                </a:lnTo>
                <a:lnTo>
                  <a:pt x="0" y="0"/>
                </a:lnTo>
                <a:close/>
              </a:path>
            </a:pathLst>
          </a:custGeom>
          <a:solidFill>
            <a:srgbClr val="4A90D9"/>
          </a:solidFill>
          <a:ln>
            <a:noFill/>
          </a:ln>
        </p:spPr>
        <p:txBody>
          <a:bodyPr/>
          <a:lstStyle/>
          <a:p>
            <a:endParaRPr lang="en-US"/>
          </a:p>
        </p:txBody>
      </p:sp>
      <p:sp>
        <p:nvSpPr>
          <p:cNvPr id="42" name="TextBox 42"/>
          <p:cNvSpPr txBox="1"/>
          <p:nvPr/>
        </p:nvSpPr>
        <p:spPr>
          <a:xfrm>
            <a:off x="6269355" y="4350068"/>
            <a:ext cx="831340" cy="274320"/>
          </a:xfrm>
          <a:prstGeom prst="rect">
            <a:avLst/>
          </a:prstGeom>
          <a:noFill/>
          <a:ln>
            <a:noFill/>
          </a:ln>
        </p:spPr>
        <p:txBody>
          <a:bodyPr wrap="none" lIns="0" tIns="0" rIns="0" bIns="0" anchor="t" anchorCtr="0">
            <a:spAutoFit/>
          </a:bodyPr>
          <a:lstStyle/>
          <a:p>
            <a:pPr algn="l"/>
            <a:r>
              <a:rPr lang="zh-CN" sz="1350" b="1" dirty="0">
                <a:solidFill>
                  <a:srgbClr val="4A90D9"/>
                </a:solidFill>
                <a:latin typeface="Arial"/>
                <a:ea typeface="Microsoft YaHei"/>
                <a:cs typeface="Arial"/>
              </a:rPr>
              <a:t>report/</a:t>
            </a:r>
          </a:p>
        </p:txBody>
      </p:sp>
      <p:sp>
        <p:nvSpPr>
          <p:cNvPr id="43" name="TextBox 43"/>
          <p:cNvSpPr txBox="1"/>
          <p:nvPr/>
        </p:nvSpPr>
        <p:spPr>
          <a:xfrm>
            <a:off x="5891212" y="4641056"/>
            <a:ext cx="3963710" cy="228600"/>
          </a:xfrm>
          <a:prstGeom prst="rect">
            <a:avLst/>
          </a:prstGeom>
          <a:noFill/>
          <a:ln>
            <a:noFill/>
          </a:ln>
        </p:spPr>
        <p:txBody>
          <a:bodyPr wrap="none" lIns="0" tIns="0" rIns="0" bIns="0" anchor="t" anchorCtr="0">
            <a:spAutoFit/>
          </a:bodyPr>
          <a:lstStyle/>
          <a:p>
            <a:pPr algn="l"/>
            <a:r>
              <a:rPr lang="zh-CN" sz="1125" dirty="0">
                <a:solidFill>
                  <a:srgbClr val="64748B"/>
                </a:solidFill>
                <a:latin typeface="Arial"/>
                <a:ea typeface="Microsoft YaHei"/>
                <a:cs typeface="Arial"/>
              </a:rPr>
              <a:t>Report drafts in markdown, presentation notes.</a:t>
            </a:r>
          </a:p>
        </p:txBody>
      </p:sp>
      <p:sp>
        <p:nvSpPr>
          <p:cNvPr id="44" name="Rectangle 44"/>
          <p:cNvSpPr/>
          <p:nvPr/>
        </p:nvSpPr>
        <p:spPr>
          <a:xfrm>
            <a:off x="571500" y="5429250"/>
            <a:ext cx="11049000" cy="619125"/>
          </a:xfrm>
          <a:prstGeom prst="rect">
            <a:avLst/>
          </a:prstGeom>
          <a:solidFill>
            <a:srgbClr val="D97757">
              <a:alpha val="6000"/>
            </a:srgbClr>
          </a:solidFill>
          <a:ln w="9525">
            <a:solidFill>
              <a:srgbClr val="D97757"/>
            </a:solidFill>
          </a:ln>
        </p:spPr>
        <p:txBody>
          <a:bodyPr/>
          <a:lstStyle/>
          <a:p>
            <a:endParaRPr lang="en-US"/>
          </a:p>
        </p:txBody>
      </p:sp>
      <p:sp>
        <p:nvSpPr>
          <p:cNvPr id="45" name="TextBox 45"/>
          <p:cNvSpPr txBox="1"/>
          <p:nvPr/>
        </p:nvSpPr>
        <p:spPr>
          <a:xfrm>
            <a:off x="4276095" y="5529739"/>
            <a:ext cx="3639811" cy="259080"/>
          </a:xfrm>
          <a:prstGeom prst="rect">
            <a:avLst/>
          </a:prstGeom>
          <a:noFill/>
          <a:ln>
            <a:noFill/>
          </a:ln>
        </p:spPr>
        <p:txBody>
          <a:bodyPr wrap="none" lIns="0" tIns="0" rIns="0" bIns="0" anchor="t" anchorCtr="0">
            <a:spAutoFit/>
          </a:bodyPr>
          <a:lstStyle/>
          <a:p>
            <a:pPr algn="ctr"/>
            <a:r>
              <a:rPr lang="zh-CN" sz="1275" b="1" dirty="0">
                <a:solidFill>
                  <a:srgbClr val="D97757"/>
                </a:solidFill>
                <a:latin typeface="Arial"/>
                <a:ea typeface="Microsoft YaHei"/>
                <a:cs typeface="Arial"/>
              </a:rPr>
              <a:t>This repo is public. Anyone can see it.</a:t>
            </a:r>
          </a:p>
        </p:txBody>
      </p:sp>
      <p:sp>
        <p:nvSpPr>
          <p:cNvPr id="46" name="TextBox 46"/>
          <p:cNvSpPr txBox="1"/>
          <p:nvPr/>
        </p:nvSpPr>
        <p:spPr>
          <a:xfrm>
            <a:off x="2540913" y="5784056"/>
            <a:ext cx="7110174" cy="228600"/>
          </a:xfrm>
          <a:prstGeom prst="rect">
            <a:avLst/>
          </a:prstGeom>
          <a:noFill/>
          <a:ln>
            <a:noFill/>
          </a:ln>
        </p:spPr>
        <p:txBody>
          <a:bodyPr wrap="none" lIns="0" tIns="0" rIns="0" bIns="0" anchor="t" anchorCtr="0">
            <a:spAutoFit/>
          </a:bodyPr>
          <a:lstStyle/>
          <a:p>
            <a:pPr algn="ctr"/>
            <a:r>
              <a:rPr lang="zh-CN" sz="1125" dirty="0">
                <a:solidFill>
                  <a:srgbClr val="64748B"/>
                </a:solidFill>
                <a:latin typeface="Arial"/>
                <a:ea typeface="Microsoft YaHei"/>
                <a:cs typeface="Arial"/>
              </a:rPr>
              <a:t>Treat it like a portfolio piece you would show a future employer or graduate committee.</a:t>
            </a:r>
          </a:p>
        </p:txBody>
      </p:sp>
      <p:sp>
        <p:nvSpPr>
          <p:cNvPr id="47" name="TextBox 47"/>
          <p:cNvSpPr txBox="1"/>
          <p:nvPr/>
        </p:nvSpPr>
        <p:spPr>
          <a:xfrm>
            <a:off x="5864138" y="6411278"/>
            <a:ext cx="463725"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13 / 15</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sp>
        <p:nvSpPr>
          <p:cNvPr id="3" name="Rectangle 3"/>
          <p:cNvSpPr/>
          <p:nvPr/>
        </p:nvSpPr>
        <p:spPr>
          <a:xfrm>
            <a:off x="0" y="0"/>
            <a:ext cx="12192000" cy="57150"/>
          </a:xfrm>
          <a:prstGeom prst="rect">
            <a:avLst/>
          </a:prstGeom>
          <a:solidFill>
            <a:srgbClr val="D97757"/>
          </a:solidFill>
          <a:ln>
            <a:noFill/>
          </a:ln>
        </p:spPr>
        <p:txBody>
          <a:bodyPr/>
          <a:lstStyle/>
          <a:p>
            <a:endParaRPr lang="en-US"/>
          </a:p>
        </p:txBody>
      </p:sp>
      <p:sp>
        <p:nvSpPr>
          <p:cNvPr id="4" name="TextBox 4"/>
          <p:cNvSpPr txBox="1"/>
          <p:nvPr/>
        </p:nvSpPr>
        <p:spPr>
          <a:xfrm>
            <a:off x="558165" y="410528"/>
            <a:ext cx="525066" cy="213360"/>
          </a:xfrm>
          <a:prstGeom prst="rect">
            <a:avLst/>
          </a:prstGeom>
          <a:noFill/>
          <a:ln>
            <a:noFill/>
          </a:ln>
        </p:spPr>
        <p:txBody>
          <a:bodyPr wrap="none" lIns="0" tIns="0" rIns="0" bIns="0" anchor="t" anchorCtr="0">
            <a:spAutoFit/>
          </a:bodyPr>
          <a:lstStyle/>
          <a:p>
            <a:pPr algn="l"/>
            <a:r>
              <a:rPr lang="zh-CN" sz="1050" dirty="0">
                <a:solidFill>
                  <a:srgbClr val="D97757"/>
                </a:solidFill>
                <a:latin typeface="Arial"/>
                <a:ea typeface="Microsoft YaHei"/>
                <a:cs typeface="Arial"/>
              </a:rPr>
              <a:t>REVIEW</a:t>
            </a:r>
          </a:p>
        </p:txBody>
      </p:sp>
      <p:sp>
        <p:nvSpPr>
          <p:cNvPr id="5" name="TextBox 5"/>
          <p:cNvSpPr txBox="1"/>
          <p:nvPr/>
        </p:nvSpPr>
        <p:spPr>
          <a:xfrm>
            <a:off x="541020" y="693420"/>
            <a:ext cx="8802053" cy="487680"/>
          </a:xfrm>
          <a:prstGeom prst="rect">
            <a:avLst/>
          </a:prstGeom>
          <a:noFill/>
          <a:ln>
            <a:noFill/>
          </a:ln>
        </p:spPr>
        <p:txBody>
          <a:bodyPr wrap="none" lIns="0" tIns="0" rIns="0" bIns="0" anchor="t" anchorCtr="0">
            <a:spAutoFit/>
          </a:bodyPr>
          <a:lstStyle/>
          <a:p>
            <a:pPr algn="l"/>
            <a:r>
              <a:rPr lang="zh-CN" sz="2400" b="1" dirty="0">
                <a:solidFill>
                  <a:srgbClr val="1A1A2E"/>
                </a:solidFill>
                <a:latin typeface="Arial"/>
                <a:ea typeface="Microsoft YaHei"/>
                <a:cs typeface="Arial"/>
              </a:rPr>
              <a:t>When I Open Your Repo, I Am Checking Four Things</a:t>
            </a:r>
          </a:p>
        </p:txBody>
      </p:sp>
      <p:sp>
        <p:nvSpPr>
          <p:cNvPr id="6" name="Rectangle 6"/>
          <p:cNvSpPr/>
          <p:nvPr/>
        </p:nvSpPr>
        <p:spPr>
          <a:xfrm>
            <a:off x="571500" y="1333500"/>
            <a:ext cx="5334000" cy="200025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7" name="Rectangle 7"/>
          <p:cNvSpPr/>
          <p:nvPr/>
        </p:nvSpPr>
        <p:spPr>
          <a:xfrm>
            <a:off x="571500" y="1333500"/>
            <a:ext cx="5334000" cy="57150"/>
          </a:xfrm>
          <a:prstGeom prst="rect">
            <a:avLst/>
          </a:prstGeom>
          <a:solidFill>
            <a:srgbClr val="D97757"/>
          </a:solidFill>
          <a:ln>
            <a:noFill/>
          </a:ln>
        </p:spPr>
        <p:txBody>
          <a:bodyPr/>
          <a:lstStyle/>
          <a:p>
            <a:endParaRPr lang="en-US"/>
          </a:p>
        </p:txBody>
      </p:sp>
      <p:sp>
        <p:nvSpPr>
          <p:cNvPr id="8" name="Ellipse 8"/>
          <p:cNvSpPr/>
          <p:nvPr/>
        </p:nvSpPr>
        <p:spPr>
          <a:xfrm>
            <a:off x="762000" y="1571625"/>
            <a:ext cx="571500" cy="571500"/>
          </a:xfrm>
          <a:prstGeom prst="ellipse">
            <a:avLst/>
          </a:prstGeom>
          <a:solidFill>
            <a:srgbClr val="D97757">
              <a:alpha val="10000"/>
            </a:srgbClr>
          </a:solidFill>
          <a:ln>
            <a:noFill/>
          </a:ln>
        </p:spPr>
        <p:txBody>
          <a:bodyPr/>
          <a:lstStyle/>
          <a:p>
            <a:endParaRPr lang="en-US"/>
          </a:p>
        </p:txBody>
      </p:sp>
      <p:sp>
        <p:nvSpPr>
          <p:cNvPr id="9" name="TextBox 9"/>
          <p:cNvSpPr txBox="1"/>
          <p:nvPr/>
        </p:nvSpPr>
        <p:spPr>
          <a:xfrm>
            <a:off x="983485" y="1739265"/>
            <a:ext cx="128530" cy="365760"/>
          </a:xfrm>
          <a:prstGeom prst="rect">
            <a:avLst/>
          </a:prstGeom>
          <a:noFill/>
          <a:ln>
            <a:noFill/>
          </a:ln>
        </p:spPr>
        <p:txBody>
          <a:bodyPr wrap="none" lIns="0" tIns="0" rIns="0" bIns="0" anchor="t" anchorCtr="0">
            <a:spAutoFit/>
          </a:bodyPr>
          <a:lstStyle/>
          <a:p>
            <a:pPr algn="ctr"/>
            <a:r>
              <a:rPr lang="zh-CN" sz="1800" b="1" dirty="0">
                <a:solidFill>
                  <a:srgbClr val="D97757"/>
                </a:solidFill>
                <a:latin typeface="Arial"/>
                <a:ea typeface="Microsoft YaHei"/>
                <a:cs typeface="Arial"/>
              </a:rPr>
              <a:t>1</a:t>
            </a:r>
          </a:p>
        </p:txBody>
      </p:sp>
      <p:sp>
        <p:nvSpPr>
          <p:cNvPr id="10" name="TextBox 10"/>
          <p:cNvSpPr txBox="1"/>
          <p:nvPr/>
        </p:nvSpPr>
        <p:spPr>
          <a:xfrm>
            <a:off x="1455420" y="1726882"/>
            <a:ext cx="927521" cy="335280"/>
          </a:xfrm>
          <a:prstGeom prst="rect">
            <a:avLst/>
          </a:prstGeom>
          <a:noFill/>
          <a:ln>
            <a:noFill/>
          </a:ln>
        </p:spPr>
        <p:txBody>
          <a:bodyPr wrap="none" lIns="0" tIns="0" rIns="0" bIns="0" anchor="t" anchorCtr="0">
            <a:spAutoFit/>
          </a:bodyPr>
          <a:lstStyle/>
          <a:p>
            <a:pPr algn="l"/>
            <a:r>
              <a:rPr lang="zh-CN" sz="1650" b="1" dirty="0">
                <a:solidFill>
                  <a:srgbClr val="1A1A2E"/>
                </a:solidFill>
                <a:latin typeface="Arial"/>
                <a:ea typeface="Microsoft YaHei"/>
                <a:cs typeface="Arial"/>
              </a:rPr>
              <a:t>README</a:t>
            </a:r>
          </a:p>
        </p:txBody>
      </p:sp>
      <p:sp>
        <p:nvSpPr>
          <p:cNvPr id="11" name="TextBox 11"/>
          <p:cNvSpPr txBox="1"/>
          <p:nvPr/>
        </p:nvSpPr>
        <p:spPr>
          <a:xfrm>
            <a:off x="842010" y="2156460"/>
            <a:ext cx="2107311"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Clear project statement</a:t>
            </a:r>
          </a:p>
        </p:txBody>
      </p:sp>
      <p:sp>
        <p:nvSpPr>
          <p:cNvPr id="12" name="TextBox 12"/>
          <p:cNvSpPr txBox="1"/>
          <p:nvPr/>
        </p:nvSpPr>
        <p:spPr>
          <a:xfrm>
            <a:off x="842010" y="2394585"/>
            <a:ext cx="1791843"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Team members listed</a:t>
            </a:r>
          </a:p>
        </p:txBody>
      </p:sp>
      <p:sp>
        <p:nvSpPr>
          <p:cNvPr id="13" name="TextBox 13"/>
          <p:cNvSpPr txBox="1"/>
          <p:nvPr/>
        </p:nvSpPr>
        <p:spPr>
          <a:xfrm>
            <a:off x="842010" y="2632710"/>
            <a:ext cx="2361438"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Research questions defined</a:t>
            </a:r>
          </a:p>
        </p:txBody>
      </p:sp>
      <p:sp>
        <p:nvSpPr>
          <p:cNvPr id="14" name="TextBox 14"/>
          <p:cNvSpPr txBox="1"/>
          <p:nvPr/>
        </p:nvSpPr>
        <p:spPr>
          <a:xfrm>
            <a:off x="842010" y="2870835"/>
            <a:ext cx="2562987"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Analytical approach described</a:t>
            </a:r>
          </a:p>
        </p:txBody>
      </p:sp>
      <p:sp>
        <p:nvSpPr>
          <p:cNvPr id="15" name="Rectangle 15"/>
          <p:cNvSpPr/>
          <p:nvPr/>
        </p:nvSpPr>
        <p:spPr>
          <a:xfrm>
            <a:off x="6286500" y="1333500"/>
            <a:ext cx="5334000" cy="200025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16" name="Rectangle 16"/>
          <p:cNvSpPr/>
          <p:nvPr/>
        </p:nvSpPr>
        <p:spPr>
          <a:xfrm>
            <a:off x="6286500" y="1333500"/>
            <a:ext cx="5334000" cy="57150"/>
          </a:xfrm>
          <a:prstGeom prst="rect">
            <a:avLst/>
          </a:prstGeom>
          <a:solidFill>
            <a:srgbClr val="4A90D9"/>
          </a:solidFill>
          <a:ln>
            <a:noFill/>
          </a:ln>
        </p:spPr>
        <p:txBody>
          <a:bodyPr/>
          <a:lstStyle/>
          <a:p>
            <a:endParaRPr lang="en-US"/>
          </a:p>
        </p:txBody>
      </p:sp>
      <p:sp>
        <p:nvSpPr>
          <p:cNvPr id="17" name="Ellipse 17"/>
          <p:cNvSpPr/>
          <p:nvPr/>
        </p:nvSpPr>
        <p:spPr>
          <a:xfrm>
            <a:off x="6477000" y="1571625"/>
            <a:ext cx="571500" cy="571500"/>
          </a:xfrm>
          <a:prstGeom prst="ellipse">
            <a:avLst/>
          </a:prstGeom>
          <a:solidFill>
            <a:srgbClr val="4A90D9">
              <a:alpha val="10000"/>
            </a:srgbClr>
          </a:solidFill>
          <a:ln>
            <a:noFill/>
          </a:ln>
        </p:spPr>
        <p:txBody>
          <a:bodyPr/>
          <a:lstStyle/>
          <a:p>
            <a:endParaRPr lang="en-US"/>
          </a:p>
        </p:txBody>
      </p:sp>
      <p:sp>
        <p:nvSpPr>
          <p:cNvPr id="18" name="TextBox 18"/>
          <p:cNvSpPr txBox="1"/>
          <p:nvPr/>
        </p:nvSpPr>
        <p:spPr>
          <a:xfrm>
            <a:off x="6663981" y="1739265"/>
            <a:ext cx="197539" cy="365760"/>
          </a:xfrm>
          <a:prstGeom prst="rect">
            <a:avLst/>
          </a:prstGeom>
          <a:noFill/>
          <a:ln>
            <a:noFill/>
          </a:ln>
        </p:spPr>
        <p:txBody>
          <a:bodyPr wrap="none" lIns="0" tIns="0" rIns="0" bIns="0" anchor="t" anchorCtr="0">
            <a:spAutoFit/>
          </a:bodyPr>
          <a:lstStyle/>
          <a:p>
            <a:pPr algn="ctr"/>
            <a:r>
              <a:rPr lang="zh-CN" sz="1800" b="1" dirty="0">
                <a:solidFill>
                  <a:srgbClr val="4A90D9"/>
                </a:solidFill>
                <a:latin typeface="Arial"/>
                <a:ea typeface="Microsoft YaHei"/>
                <a:cs typeface="Arial"/>
              </a:rPr>
              <a:t>2</a:t>
            </a:r>
          </a:p>
        </p:txBody>
      </p:sp>
      <p:sp>
        <p:nvSpPr>
          <p:cNvPr id="19" name="TextBox 19"/>
          <p:cNvSpPr txBox="1"/>
          <p:nvPr/>
        </p:nvSpPr>
        <p:spPr>
          <a:xfrm>
            <a:off x="7170420" y="1726882"/>
            <a:ext cx="1028733" cy="335280"/>
          </a:xfrm>
          <a:prstGeom prst="rect">
            <a:avLst/>
          </a:prstGeom>
          <a:noFill/>
          <a:ln>
            <a:noFill/>
          </a:ln>
        </p:spPr>
        <p:txBody>
          <a:bodyPr wrap="none" lIns="0" tIns="0" rIns="0" bIns="0" anchor="t" anchorCtr="0">
            <a:spAutoFit/>
          </a:bodyPr>
          <a:lstStyle/>
          <a:p>
            <a:pPr algn="l"/>
            <a:r>
              <a:rPr lang="zh-CN" sz="1650" b="1" dirty="0">
                <a:solidFill>
                  <a:srgbClr val="1A1A2E"/>
                </a:solidFill>
                <a:latin typeface="Arial"/>
                <a:ea typeface="Microsoft YaHei"/>
                <a:cs typeface="Arial"/>
              </a:rPr>
              <a:t>Analysis</a:t>
            </a:r>
          </a:p>
        </p:txBody>
      </p:sp>
      <p:sp>
        <p:nvSpPr>
          <p:cNvPr id="20" name="TextBox 20"/>
          <p:cNvSpPr txBox="1"/>
          <p:nvPr/>
        </p:nvSpPr>
        <p:spPr>
          <a:xfrm>
            <a:off x="6557010" y="2156460"/>
            <a:ext cx="1467612"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Documented code</a:t>
            </a:r>
          </a:p>
        </p:txBody>
      </p:sp>
      <p:sp>
        <p:nvSpPr>
          <p:cNvPr id="21" name="TextBox 21"/>
          <p:cNvSpPr txBox="1"/>
          <p:nvPr/>
        </p:nvSpPr>
        <p:spPr>
          <a:xfrm>
            <a:off x="6557010" y="2394585"/>
            <a:ext cx="1923288"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Interpretable outputs</a:t>
            </a:r>
          </a:p>
        </p:txBody>
      </p:sp>
      <p:sp>
        <p:nvSpPr>
          <p:cNvPr id="22" name="TextBox 22"/>
          <p:cNvSpPr txBox="1"/>
          <p:nvPr/>
        </p:nvSpPr>
        <p:spPr>
          <a:xfrm>
            <a:off x="6557010" y="2632710"/>
            <a:ext cx="2414016"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Visualizations with captions</a:t>
            </a:r>
          </a:p>
        </p:txBody>
      </p:sp>
      <p:sp>
        <p:nvSpPr>
          <p:cNvPr id="23" name="TextBox 23"/>
          <p:cNvSpPr txBox="1"/>
          <p:nvPr/>
        </p:nvSpPr>
        <p:spPr>
          <a:xfrm>
            <a:off x="6557010" y="2870835"/>
            <a:ext cx="3044952"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Decisions explained, not just shown</a:t>
            </a:r>
          </a:p>
        </p:txBody>
      </p:sp>
      <p:sp>
        <p:nvSpPr>
          <p:cNvPr id="24" name="Rectangle 24"/>
          <p:cNvSpPr/>
          <p:nvPr/>
        </p:nvSpPr>
        <p:spPr>
          <a:xfrm>
            <a:off x="571500" y="3571875"/>
            <a:ext cx="5334000" cy="200025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25" name="Rectangle 25"/>
          <p:cNvSpPr/>
          <p:nvPr/>
        </p:nvSpPr>
        <p:spPr>
          <a:xfrm>
            <a:off x="571500" y="3571875"/>
            <a:ext cx="5334000" cy="57150"/>
          </a:xfrm>
          <a:prstGeom prst="rect">
            <a:avLst/>
          </a:prstGeom>
          <a:solidFill>
            <a:srgbClr val="10B981"/>
          </a:solidFill>
          <a:ln>
            <a:noFill/>
          </a:ln>
        </p:spPr>
        <p:txBody>
          <a:bodyPr/>
          <a:lstStyle/>
          <a:p>
            <a:endParaRPr lang="en-US"/>
          </a:p>
        </p:txBody>
      </p:sp>
      <p:sp>
        <p:nvSpPr>
          <p:cNvPr id="26" name="Ellipse 26"/>
          <p:cNvSpPr/>
          <p:nvPr/>
        </p:nvSpPr>
        <p:spPr>
          <a:xfrm>
            <a:off x="762000" y="3810000"/>
            <a:ext cx="571500" cy="571500"/>
          </a:xfrm>
          <a:prstGeom prst="ellipse">
            <a:avLst/>
          </a:prstGeom>
          <a:solidFill>
            <a:srgbClr val="10B981">
              <a:alpha val="10000"/>
            </a:srgbClr>
          </a:solidFill>
          <a:ln>
            <a:noFill/>
          </a:ln>
        </p:spPr>
        <p:txBody>
          <a:bodyPr/>
          <a:lstStyle/>
          <a:p>
            <a:endParaRPr lang="en-US"/>
          </a:p>
        </p:txBody>
      </p:sp>
      <p:sp>
        <p:nvSpPr>
          <p:cNvPr id="27" name="TextBox 27"/>
          <p:cNvSpPr txBox="1"/>
          <p:nvPr/>
        </p:nvSpPr>
        <p:spPr>
          <a:xfrm>
            <a:off x="948981" y="3977640"/>
            <a:ext cx="197539" cy="365760"/>
          </a:xfrm>
          <a:prstGeom prst="rect">
            <a:avLst/>
          </a:prstGeom>
          <a:noFill/>
          <a:ln>
            <a:noFill/>
          </a:ln>
        </p:spPr>
        <p:txBody>
          <a:bodyPr wrap="none" lIns="0" tIns="0" rIns="0" bIns="0" anchor="t" anchorCtr="0">
            <a:spAutoFit/>
          </a:bodyPr>
          <a:lstStyle/>
          <a:p>
            <a:pPr algn="ctr"/>
            <a:r>
              <a:rPr lang="zh-CN" sz="1800" b="1" dirty="0">
                <a:solidFill>
                  <a:srgbClr val="10B981"/>
                </a:solidFill>
                <a:latin typeface="Arial"/>
                <a:ea typeface="Microsoft YaHei"/>
                <a:cs typeface="Arial"/>
              </a:rPr>
              <a:t>3</a:t>
            </a:r>
          </a:p>
        </p:txBody>
      </p:sp>
      <p:sp>
        <p:nvSpPr>
          <p:cNvPr id="28" name="TextBox 28"/>
          <p:cNvSpPr txBox="1"/>
          <p:nvPr/>
        </p:nvSpPr>
        <p:spPr>
          <a:xfrm>
            <a:off x="1455420" y="3965258"/>
            <a:ext cx="1901692" cy="335280"/>
          </a:xfrm>
          <a:prstGeom prst="rect">
            <a:avLst/>
          </a:prstGeom>
          <a:noFill/>
          <a:ln>
            <a:noFill/>
          </a:ln>
        </p:spPr>
        <p:txBody>
          <a:bodyPr wrap="none" lIns="0" tIns="0" rIns="0" bIns="0" anchor="t" anchorCtr="0">
            <a:spAutoFit/>
          </a:bodyPr>
          <a:lstStyle/>
          <a:p>
            <a:pPr algn="l"/>
            <a:r>
              <a:rPr lang="zh-CN" sz="1650" b="1" dirty="0">
                <a:solidFill>
                  <a:srgbClr val="1A1A2E"/>
                </a:solidFill>
                <a:latin typeface="Arial"/>
                <a:ea typeface="Microsoft YaHei"/>
                <a:cs typeface="Arial"/>
              </a:rPr>
              <a:t>Commit History</a:t>
            </a:r>
          </a:p>
        </p:txBody>
      </p:sp>
      <p:sp>
        <p:nvSpPr>
          <p:cNvPr id="29" name="TextBox 29"/>
          <p:cNvSpPr txBox="1"/>
          <p:nvPr/>
        </p:nvSpPr>
        <p:spPr>
          <a:xfrm>
            <a:off x="842010" y="4394835"/>
            <a:ext cx="3193923"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Contributions from multiple members</a:t>
            </a:r>
          </a:p>
        </p:txBody>
      </p:sp>
      <p:sp>
        <p:nvSpPr>
          <p:cNvPr id="30" name="TextBox 30"/>
          <p:cNvSpPr txBox="1"/>
          <p:nvPr/>
        </p:nvSpPr>
        <p:spPr>
          <a:xfrm>
            <a:off x="842010" y="4632960"/>
            <a:ext cx="2457831"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Meaningful commit messages</a:t>
            </a:r>
          </a:p>
        </p:txBody>
      </p:sp>
      <p:sp>
        <p:nvSpPr>
          <p:cNvPr id="31" name="TextBox 31"/>
          <p:cNvSpPr txBox="1"/>
          <p:nvPr/>
        </p:nvSpPr>
        <p:spPr>
          <a:xfrm>
            <a:off x="842010" y="4871085"/>
            <a:ext cx="3053715"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Branch-and-merge workflow visible</a:t>
            </a:r>
          </a:p>
        </p:txBody>
      </p:sp>
      <p:sp>
        <p:nvSpPr>
          <p:cNvPr id="32" name="TextBox 32"/>
          <p:cNvSpPr txBox="1"/>
          <p:nvPr/>
        </p:nvSpPr>
        <p:spPr>
          <a:xfrm>
            <a:off x="842010" y="5109210"/>
            <a:ext cx="2308860"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Not "update" or "changes"</a:t>
            </a:r>
          </a:p>
        </p:txBody>
      </p:sp>
      <p:sp>
        <p:nvSpPr>
          <p:cNvPr id="33" name="Rectangle 33"/>
          <p:cNvSpPr/>
          <p:nvPr/>
        </p:nvSpPr>
        <p:spPr>
          <a:xfrm>
            <a:off x="6286500" y="3571875"/>
            <a:ext cx="5334000" cy="2000250"/>
          </a:xfrm>
          <a:prstGeom prst="rect">
            <a:avLst/>
          </a:prstGeom>
          <a:solidFill>
            <a:srgbClr val="F8FAFC"/>
          </a:solidFill>
          <a:ln w="9525">
            <a:solidFill>
              <a:srgbClr val="E2E8F0"/>
            </a:solidFill>
          </a:ln>
          <a:effectLst>
            <a:outerShdw blurRad="228600" dist="57150" dir="10799427" algn="tl" rotWithShape="0">
              <a:srgbClr val="000000">
                <a:alpha val="12000"/>
              </a:srgbClr>
            </a:outerShdw>
          </a:effectLst>
        </p:spPr>
        <p:txBody>
          <a:bodyPr/>
          <a:lstStyle/>
          <a:p>
            <a:endParaRPr lang="en-US"/>
          </a:p>
        </p:txBody>
      </p:sp>
      <p:sp>
        <p:nvSpPr>
          <p:cNvPr id="34" name="Rectangle 34"/>
          <p:cNvSpPr/>
          <p:nvPr/>
        </p:nvSpPr>
        <p:spPr>
          <a:xfrm>
            <a:off x="6286500" y="3571875"/>
            <a:ext cx="5334000" cy="57150"/>
          </a:xfrm>
          <a:prstGeom prst="rect">
            <a:avLst/>
          </a:prstGeom>
          <a:solidFill>
            <a:srgbClr val="64748B"/>
          </a:solidFill>
          <a:ln>
            <a:noFill/>
          </a:ln>
        </p:spPr>
        <p:txBody>
          <a:bodyPr/>
          <a:lstStyle/>
          <a:p>
            <a:endParaRPr lang="en-US"/>
          </a:p>
        </p:txBody>
      </p:sp>
      <p:sp>
        <p:nvSpPr>
          <p:cNvPr id="35" name="Ellipse 35"/>
          <p:cNvSpPr/>
          <p:nvPr/>
        </p:nvSpPr>
        <p:spPr>
          <a:xfrm>
            <a:off x="6477000" y="3810000"/>
            <a:ext cx="571500" cy="571500"/>
          </a:xfrm>
          <a:prstGeom prst="ellipse">
            <a:avLst/>
          </a:prstGeom>
          <a:solidFill>
            <a:srgbClr val="64748B">
              <a:alpha val="10000"/>
            </a:srgbClr>
          </a:solidFill>
          <a:ln>
            <a:noFill/>
          </a:ln>
        </p:spPr>
        <p:txBody>
          <a:bodyPr/>
          <a:lstStyle/>
          <a:p>
            <a:endParaRPr lang="en-US"/>
          </a:p>
        </p:txBody>
      </p:sp>
      <p:sp>
        <p:nvSpPr>
          <p:cNvPr id="36" name="TextBox 36"/>
          <p:cNvSpPr txBox="1"/>
          <p:nvPr/>
        </p:nvSpPr>
        <p:spPr>
          <a:xfrm>
            <a:off x="6663981" y="3977640"/>
            <a:ext cx="197539" cy="365760"/>
          </a:xfrm>
          <a:prstGeom prst="rect">
            <a:avLst/>
          </a:prstGeom>
          <a:noFill/>
          <a:ln>
            <a:noFill/>
          </a:ln>
        </p:spPr>
        <p:txBody>
          <a:bodyPr wrap="none" lIns="0" tIns="0" rIns="0" bIns="0" anchor="t" anchorCtr="0">
            <a:spAutoFit/>
          </a:bodyPr>
          <a:lstStyle/>
          <a:p>
            <a:pPr algn="ctr"/>
            <a:r>
              <a:rPr lang="zh-CN" sz="1800" b="1" dirty="0">
                <a:solidFill>
                  <a:srgbClr val="64748B"/>
                </a:solidFill>
                <a:latin typeface="Arial"/>
                <a:ea typeface="Microsoft YaHei"/>
                <a:cs typeface="Arial"/>
              </a:rPr>
              <a:t>4</a:t>
            </a:r>
          </a:p>
        </p:txBody>
      </p:sp>
      <p:sp>
        <p:nvSpPr>
          <p:cNvPr id="37" name="TextBox 37"/>
          <p:cNvSpPr txBox="1"/>
          <p:nvPr/>
        </p:nvSpPr>
        <p:spPr>
          <a:xfrm>
            <a:off x="7170420" y="3965258"/>
            <a:ext cx="1636009" cy="335280"/>
          </a:xfrm>
          <a:prstGeom prst="rect">
            <a:avLst/>
          </a:prstGeom>
          <a:noFill/>
          <a:ln>
            <a:noFill/>
          </a:ln>
        </p:spPr>
        <p:txBody>
          <a:bodyPr wrap="none" lIns="0" tIns="0" rIns="0" bIns="0" anchor="t" anchorCtr="0">
            <a:spAutoFit/>
          </a:bodyPr>
          <a:lstStyle/>
          <a:p>
            <a:pPr algn="l"/>
            <a:r>
              <a:rPr lang="zh-CN" sz="1650" b="1" dirty="0">
                <a:solidFill>
                  <a:srgbClr val="1A1A2E"/>
                </a:solidFill>
                <a:latin typeface="Arial"/>
                <a:ea typeface="Microsoft YaHei"/>
                <a:cs typeface="Arial"/>
              </a:rPr>
              <a:t>Organization</a:t>
            </a:r>
          </a:p>
        </p:txBody>
      </p:sp>
      <p:sp>
        <p:nvSpPr>
          <p:cNvPr id="38" name="TextBox 38"/>
          <p:cNvSpPr txBox="1"/>
          <p:nvPr/>
        </p:nvSpPr>
        <p:spPr>
          <a:xfrm>
            <a:off x="6557010" y="4394835"/>
            <a:ext cx="1975866"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Clean folder structure</a:t>
            </a:r>
          </a:p>
        </p:txBody>
      </p:sp>
      <p:sp>
        <p:nvSpPr>
          <p:cNvPr id="39" name="TextBox 39"/>
          <p:cNvSpPr txBox="1"/>
          <p:nvPr/>
        </p:nvSpPr>
        <p:spPr>
          <a:xfrm>
            <a:off x="6557010" y="4632960"/>
            <a:ext cx="2273808"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No stray or orphaned files</a:t>
            </a:r>
          </a:p>
        </p:txBody>
      </p:sp>
      <p:sp>
        <p:nvSpPr>
          <p:cNvPr id="40" name="TextBox 40"/>
          <p:cNvSpPr txBox="1"/>
          <p:nvPr/>
        </p:nvSpPr>
        <p:spPr>
          <a:xfrm>
            <a:off x="6557010" y="4871085"/>
            <a:ext cx="2475357"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An outsider could navigate it</a:t>
            </a:r>
          </a:p>
        </p:txBody>
      </p:sp>
      <p:sp>
        <p:nvSpPr>
          <p:cNvPr id="41" name="TextBox 41"/>
          <p:cNvSpPr txBox="1"/>
          <p:nvPr/>
        </p:nvSpPr>
        <p:spPr>
          <a:xfrm>
            <a:off x="6557010" y="5109210"/>
            <a:ext cx="2265045" cy="243840"/>
          </a:xfrm>
          <a:prstGeom prst="rect">
            <a:avLst/>
          </a:prstGeom>
          <a:noFill/>
          <a:ln>
            <a:noFill/>
          </a:ln>
        </p:spPr>
        <p:txBody>
          <a:bodyPr wrap="none" lIns="0" tIns="0" rIns="0" bIns="0" anchor="t" anchorCtr="0">
            <a:spAutoFit/>
          </a:bodyPr>
          <a:lstStyle/>
          <a:p>
            <a:pPr algn="l"/>
            <a:r>
              <a:rPr lang="zh-CN" sz="1200" dirty="0">
                <a:solidFill>
                  <a:srgbClr val="64748B"/>
                </a:solidFill>
                <a:latin typeface="Arial"/>
                <a:ea typeface="Microsoft YaHei"/>
                <a:cs typeface="Arial"/>
              </a:rPr>
              <a:t>Professional presentation</a:t>
            </a:r>
          </a:p>
        </p:txBody>
      </p:sp>
      <p:sp>
        <p:nvSpPr>
          <p:cNvPr id="42" name="TextBox 42"/>
          <p:cNvSpPr txBox="1"/>
          <p:nvPr/>
        </p:nvSpPr>
        <p:spPr>
          <a:xfrm>
            <a:off x="3797856" y="5879306"/>
            <a:ext cx="4596289" cy="228600"/>
          </a:xfrm>
          <a:prstGeom prst="rect">
            <a:avLst/>
          </a:prstGeom>
          <a:noFill/>
          <a:ln>
            <a:noFill/>
          </a:ln>
        </p:spPr>
        <p:txBody>
          <a:bodyPr wrap="none" lIns="0" tIns="0" rIns="0" bIns="0" anchor="t" anchorCtr="0">
            <a:spAutoFit/>
          </a:bodyPr>
          <a:lstStyle/>
          <a:p>
            <a:pPr algn="ctr"/>
            <a:r>
              <a:rPr lang="zh-CN" sz="1125" dirty="0">
                <a:solidFill>
                  <a:srgbClr val="64748B"/>
                </a:solidFill>
                <a:latin typeface="Arial"/>
                <a:ea typeface="Microsoft YaHei"/>
                <a:cs typeface="Arial"/>
              </a:rPr>
              <a:t>Your repo link is what I receive on Friday. Make it count.</a:t>
            </a:r>
          </a:p>
        </p:txBody>
      </p:sp>
      <p:sp>
        <p:nvSpPr>
          <p:cNvPr id="43" name="TextBox 43"/>
          <p:cNvSpPr txBox="1"/>
          <p:nvPr/>
        </p:nvSpPr>
        <p:spPr>
          <a:xfrm>
            <a:off x="5864138" y="6411278"/>
            <a:ext cx="463725"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14 / 15</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1A1A2E"/>
              </a:gs>
              <a:gs pos="50000">
                <a:srgbClr val="16213E"/>
              </a:gs>
              <a:gs pos="100000">
                <a:srgbClr val="0F0F1A"/>
              </a:gs>
            </a:gsLst>
            <a:lin ang="2700000" scaled="1"/>
          </a:gradFill>
          <a:ln>
            <a:noFill/>
          </a:ln>
        </p:spPr>
        <p:txBody>
          <a:bodyPr/>
          <a:lstStyle/>
          <a:p>
            <a:endParaRPr lang="en-US"/>
          </a:p>
        </p:txBody>
      </p:sp>
      <p:sp>
        <p:nvSpPr>
          <p:cNvPr id="3" name="Line 3"/>
          <p:cNvSpPr/>
          <p:nvPr/>
        </p:nvSpPr>
        <p:spPr>
          <a:xfrm>
            <a:off x="0" y="1714500"/>
            <a:ext cx="12192000" cy="9525"/>
          </a:xfrm>
          <a:custGeom>
            <a:avLst/>
            <a:gdLst/>
            <a:ahLst/>
            <a:cxnLst/>
            <a:rect l="l" t="t" r="r" b="b"/>
            <a:pathLst>
              <a:path w="12192000" h="9525">
                <a:moveTo>
                  <a:pt x="0" y="0"/>
                </a:moveTo>
                <a:lnTo>
                  <a:pt x="12192000" y="0"/>
                </a:lnTo>
              </a:path>
            </a:pathLst>
          </a:custGeom>
          <a:noFill/>
          <a:ln w="9525">
            <a:solidFill>
              <a:srgbClr val="FFFFFF">
                <a:alpha val="2000"/>
              </a:srgbClr>
            </a:solidFill>
          </a:ln>
        </p:spPr>
        <p:txBody>
          <a:bodyPr/>
          <a:lstStyle/>
          <a:p>
            <a:endParaRPr lang="en-US"/>
          </a:p>
        </p:txBody>
      </p:sp>
      <p:sp>
        <p:nvSpPr>
          <p:cNvPr id="4" name="Line 4"/>
          <p:cNvSpPr/>
          <p:nvPr/>
        </p:nvSpPr>
        <p:spPr>
          <a:xfrm>
            <a:off x="0" y="3429000"/>
            <a:ext cx="12192000" cy="9525"/>
          </a:xfrm>
          <a:custGeom>
            <a:avLst/>
            <a:gdLst/>
            <a:ahLst/>
            <a:cxnLst/>
            <a:rect l="l" t="t" r="r" b="b"/>
            <a:pathLst>
              <a:path w="12192000" h="9525">
                <a:moveTo>
                  <a:pt x="0" y="0"/>
                </a:moveTo>
                <a:lnTo>
                  <a:pt x="12192000" y="0"/>
                </a:lnTo>
              </a:path>
            </a:pathLst>
          </a:custGeom>
          <a:noFill/>
          <a:ln w="9525">
            <a:solidFill>
              <a:srgbClr val="FFFFFF">
                <a:alpha val="2000"/>
              </a:srgbClr>
            </a:solidFill>
          </a:ln>
        </p:spPr>
        <p:txBody>
          <a:bodyPr/>
          <a:lstStyle/>
          <a:p>
            <a:endParaRPr lang="en-US"/>
          </a:p>
        </p:txBody>
      </p:sp>
      <p:sp>
        <p:nvSpPr>
          <p:cNvPr id="5" name="Line 5"/>
          <p:cNvSpPr/>
          <p:nvPr/>
        </p:nvSpPr>
        <p:spPr>
          <a:xfrm>
            <a:off x="0" y="5143500"/>
            <a:ext cx="12192000" cy="9525"/>
          </a:xfrm>
          <a:custGeom>
            <a:avLst/>
            <a:gdLst/>
            <a:ahLst/>
            <a:cxnLst/>
            <a:rect l="l" t="t" r="r" b="b"/>
            <a:pathLst>
              <a:path w="12192000" h="9525">
                <a:moveTo>
                  <a:pt x="0" y="0"/>
                </a:moveTo>
                <a:lnTo>
                  <a:pt x="12192000" y="0"/>
                </a:lnTo>
              </a:path>
            </a:pathLst>
          </a:custGeom>
          <a:noFill/>
          <a:ln w="9525">
            <a:solidFill>
              <a:srgbClr val="FFFFFF">
                <a:alpha val="2000"/>
              </a:srgbClr>
            </a:solidFill>
          </a:ln>
        </p:spPr>
        <p:txBody>
          <a:bodyPr/>
          <a:lstStyle/>
          <a:p>
            <a:endParaRPr lang="en-US"/>
          </a:p>
        </p:txBody>
      </p:sp>
      <p:sp>
        <p:nvSpPr>
          <p:cNvPr id="6" name="Line 6"/>
          <p:cNvSpPr/>
          <p:nvPr/>
        </p:nvSpPr>
        <p:spPr>
          <a:xfrm>
            <a:off x="3048000" y="0"/>
            <a:ext cx="9525" cy="6858000"/>
          </a:xfrm>
          <a:custGeom>
            <a:avLst/>
            <a:gdLst/>
            <a:ahLst/>
            <a:cxnLst/>
            <a:rect l="l" t="t" r="r" b="b"/>
            <a:pathLst>
              <a:path w="9525" h="6858000">
                <a:moveTo>
                  <a:pt x="0" y="0"/>
                </a:moveTo>
                <a:lnTo>
                  <a:pt x="0" y="6858000"/>
                </a:lnTo>
              </a:path>
            </a:pathLst>
          </a:custGeom>
          <a:noFill/>
          <a:ln w="9525">
            <a:solidFill>
              <a:srgbClr val="FFFFFF">
                <a:alpha val="2000"/>
              </a:srgbClr>
            </a:solidFill>
          </a:ln>
        </p:spPr>
        <p:txBody>
          <a:bodyPr/>
          <a:lstStyle/>
          <a:p>
            <a:endParaRPr lang="en-US"/>
          </a:p>
        </p:txBody>
      </p:sp>
      <p:sp>
        <p:nvSpPr>
          <p:cNvPr id="7" name="Line 7"/>
          <p:cNvSpPr/>
          <p:nvPr/>
        </p:nvSpPr>
        <p:spPr>
          <a:xfrm>
            <a:off x="6096000" y="0"/>
            <a:ext cx="9525" cy="6858000"/>
          </a:xfrm>
          <a:custGeom>
            <a:avLst/>
            <a:gdLst/>
            <a:ahLst/>
            <a:cxnLst/>
            <a:rect l="l" t="t" r="r" b="b"/>
            <a:pathLst>
              <a:path w="9525" h="6858000">
                <a:moveTo>
                  <a:pt x="0" y="0"/>
                </a:moveTo>
                <a:lnTo>
                  <a:pt x="0" y="6858000"/>
                </a:lnTo>
              </a:path>
            </a:pathLst>
          </a:custGeom>
          <a:noFill/>
          <a:ln w="9525">
            <a:solidFill>
              <a:srgbClr val="FFFFFF">
                <a:alpha val="2000"/>
              </a:srgbClr>
            </a:solidFill>
          </a:ln>
        </p:spPr>
        <p:txBody>
          <a:bodyPr/>
          <a:lstStyle/>
          <a:p>
            <a:endParaRPr lang="en-US"/>
          </a:p>
        </p:txBody>
      </p:sp>
      <p:sp>
        <p:nvSpPr>
          <p:cNvPr id="8" name="Line 8"/>
          <p:cNvSpPr/>
          <p:nvPr/>
        </p:nvSpPr>
        <p:spPr>
          <a:xfrm>
            <a:off x="9144000" y="0"/>
            <a:ext cx="9525" cy="6858000"/>
          </a:xfrm>
          <a:custGeom>
            <a:avLst/>
            <a:gdLst/>
            <a:ahLst/>
            <a:cxnLst/>
            <a:rect l="l" t="t" r="r" b="b"/>
            <a:pathLst>
              <a:path w="9525" h="6858000">
                <a:moveTo>
                  <a:pt x="0" y="0"/>
                </a:moveTo>
                <a:lnTo>
                  <a:pt x="0" y="6858000"/>
                </a:lnTo>
              </a:path>
            </a:pathLst>
          </a:custGeom>
          <a:noFill/>
          <a:ln w="9525">
            <a:solidFill>
              <a:srgbClr val="FFFFFF">
                <a:alpha val="2000"/>
              </a:srgbClr>
            </a:solidFill>
          </a:ln>
        </p:spPr>
        <p:txBody>
          <a:bodyPr/>
          <a:lstStyle/>
          <a:p>
            <a:endParaRPr lang="en-US"/>
          </a:p>
        </p:txBody>
      </p:sp>
      <p:sp>
        <p:nvSpPr>
          <p:cNvPr id="9" name="Ellipse 9"/>
          <p:cNvSpPr/>
          <p:nvPr/>
        </p:nvSpPr>
        <p:spPr>
          <a:xfrm>
            <a:off x="476250" y="190500"/>
            <a:ext cx="4762500" cy="3429000"/>
          </a:xfrm>
          <a:prstGeom prst="ellipse">
            <a:avLst/>
          </a:prstGeom>
          <a:gradFill>
            <a:gsLst>
              <a:gs pos="0">
                <a:srgbClr val="4A90D9">
                  <a:alpha val="15000"/>
                </a:srgbClr>
              </a:gs>
              <a:gs pos="100000">
                <a:srgbClr val="4A90D9">
                  <a:alpha val="0"/>
                </a:srgbClr>
              </a:gs>
            </a:gsLst>
            <a:path path="circle">
              <a:fillToRect l="50000" t="50000" r="50000" b="50000"/>
            </a:path>
          </a:gradFill>
          <a:ln>
            <a:noFill/>
          </a:ln>
        </p:spPr>
        <p:txBody>
          <a:bodyPr/>
          <a:lstStyle/>
          <a:p>
            <a:endParaRPr lang="en-US"/>
          </a:p>
        </p:txBody>
      </p:sp>
      <p:sp>
        <p:nvSpPr>
          <p:cNvPr id="10" name="Ellipse 10"/>
          <p:cNvSpPr/>
          <p:nvPr/>
        </p:nvSpPr>
        <p:spPr>
          <a:xfrm>
            <a:off x="6667500" y="2857500"/>
            <a:ext cx="5334000" cy="3810000"/>
          </a:xfrm>
          <a:prstGeom prst="ellipse">
            <a:avLst/>
          </a:prstGeom>
          <a:gradFill>
            <a:gsLst>
              <a:gs pos="0">
                <a:srgbClr val="D97757">
                  <a:alpha val="20000"/>
                </a:srgbClr>
              </a:gs>
              <a:gs pos="100000">
                <a:srgbClr val="D97757">
                  <a:alpha val="0"/>
                </a:srgbClr>
              </a:gs>
            </a:gsLst>
            <a:path path="circle">
              <a:fillToRect l="50000" t="50000" r="50000" b="50000"/>
            </a:path>
          </a:gradFill>
          <a:ln>
            <a:noFill/>
          </a:ln>
        </p:spPr>
        <p:txBody>
          <a:bodyPr/>
          <a:lstStyle/>
          <a:p>
            <a:endParaRPr lang="en-US"/>
          </a:p>
        </p:txBody>
      </p:sp>
      <p:sp>
        <p:nvSpPr>
          <p:cNvPr id="11" name="Freeform 11"/>
          <p:cNvSpPr/>
          <p:nvPr/>
        </p:nvSpPr>
        <p:spPr>
          <a:xfrm>
            <a:off x="1428750" y="1111250"/>
            <a:ext cx="1905000" cy="603250"/>
          </a:xfrm>
          <a:custGeom>
            <a:avLst/>
            <a:gdLst/>
            <a:ahLst/>
            <a:cxnLst/>
            <a:rect l="l" t="t" r="r" b="b"/>
            <a:pathLst>
              <a:path w="1905000" h="603250">
                <a:moveTo>
                  <a:pt x="0" y="317500"/>
                </a:moveTo>
                <a:cubicBezTo>
                  <a:pt x="635000" y="0"/>
                  <a:pt x="1270000" y="95250"/>
                  <a:pt x="1905000" y="603250"/>
                </a:cubicBezTo>
              </a:path>
            </a:pathLst>
          </a:custGeom>
          <a:noFill/>
          <a:ln w="9525">
            <a:solidFill>
              <a:srgbClr val="4A90D9">
                <a:alpha val="30000"/>
              </a:srgbClr>
            </a:solidFill>
          </a:ln>
        </p:spPr>
        <p:txBody>
          <a:bodyPr/>
          <a:lstStyle/>
          <a:p>
            <a:endParaRPr lang="en-US"/>
          </a:p>
        </p:txBody>
      </p:sp>
      <p:sp>
        <p:nvSpPr>
          <p:cNvPr id="12" name="Freeform 12"/>
          <p:cNvSpPr/>
          <p:nvPr/>
        </p:nvSpPr>
        <p:spPr>
          <a:xfrm>
            <a:off x="9048750" y="3492500"/>
            <a:ext cx="1428750" cy="508000"/>
          </a:xfrm>
          <a:custGeom>
            <a:avLst/>
            <a:gdLst/>
            <a:ahLst/>
            <a:cxnLst/>
            <a:rect l="l" t="t" r="r" b="b"/>
            <a:pathLst>
              <a:path w="1428750" h="508000">
                <a:moveTo>
                  <a:pt x="0" y="317500"/>
                </a:moveTo>
                <a:cubicBezTo>
                  <a:pt x="635000" y="0"/>
                  <a:pt x="1111250" y="63500"/>
                  <a:pt x="1428750" y="508000"/>
                </a:cubicBezTo>
              </a:path>
            </a:pathLst>
          </a:custGeom>
          <a:noFill/>
          <a:ln w="9525">
            <a:solidFill>
              <a:srgbClr val="4A90D9">
                <a:alpha val="30000"/>
              </a:srgbClr>
            </a:solidFill>
          </a:ln>
        </p:spPr>
        <p:txBody>
          <a:bodyPr/>
          <a:lstStyle/>
          <a:p>
            <a:endParaRPr lang="en-US"/>
          </a:p>
        </p:txBody>
      </p:sp>
      <p:sp>
        <p:nvSpPr>
          <p:cNvPr id="13" name="Ellipse 13"/>
          <p:cNvSpPr/>
          <p:nvPr/>
        </p:nvSpPr>
        <p:spPr>
          <a:xfrm>
            <a:off x="1381125" y="1381125"/>
            <a:ext cx="95250" cy="95250"/>
          </a:xfrm>
          <a:prstGeom prst="ellipse">
            <a:avLst/>
          </a:prstGeom>
          <a:solidFill>
            <a:srgbClr val="4A90D9">
              <a:alpha val="50000"/>
            </a:srgbClr>
          </a:solidFill>
          <a:ln>
            <a:noFill/>
          </a:ln>
        </p:spPr>
        <p:txBody>
          <a:bodyPr/>
          <a:lstStyle/>
          <a:p>
            <a:endParaRPr lang="en-US"/>
          </a:p>
        </p:txBody>
      </p:sp>
      <p:sp>
        <p:nvSpPr>
          <p:cNvPr id="14" name="Ellipse 14"/>
          <p:cNvSpPr/>
          <p:nvPr/>
        </p:nvSpPr>
        <p:spPr>
          <a:xfrm>
            <a:off x="3267075" y="1647825"/>
            <a:ext cx="133350" cy="133350"/>
          </a:xfrm>
          <a:prstGeom prst="ellipse">
            <a:avLst/>
          </a:prstGeom>
          <a:solidFill>
            <a:srgbClr val="4A90D9">
              <a:alpha val="50000"/>
            </a:srgbClr>
          </a:solidFill>
          <a:ln>
            <a:noFill/>
          </a:ln>
        </p:spPr>
        <p:txBody>
          <a:bodyPr/>
          <a:lstStyle/>
          <a:p>
            <a:endParaRPr lang="en-US"/>
          </a:p>
        </p:txBody>
      </p:sp>
      <p:sp>
        <p:nvSpPr>
          <p:cNvPr id="15" name="Ellipse 15"/>
          <p:cNvSpPr/>
          <p:nvPr/>
        </p:nvSpPr>
        <p:spPr>
          <a:xfrm>
            <a:off x="8991600" y="3752850"/>
            <a:ext cx="114300" cy="114300"/>
          </a:xfrm>
          <a:prstGeom prst="ellipse">
            <a:avLst/>
          </a:prstGeom>
          <a:solidFill>
            <a:srgbClr val="D97757">
              <a:alpha val="60000"/>
            </a:srgbClr>
          </a:solidFill>
          <a:ln>
            <a:noFill/>
          </a:ln>
        </p:spPr>
        <p:txBody>
          <a:bodyPr/>
          <a:lstStyle/>
          <a:p>
            <a:endParaRPr lang="en-US"/>
          </a:p>
        </p:txBody>
      </p:sp>
      <p:sp>
        <p:nvSpPr>
          <p:cNvPr id="16" name="Ellipse 16"/>
          <p:cNvSpPr/>
          <p:nvPr/>
        </p:nvSpPr>
        <p:spPr>
          <a:xfrm>
            <a:off x="10401300" y="3924300"/>
            <a:ext cx="152400" cy="152400"/>
          </a:xfrm>
          <a:prstGeom prst="ellipse">
            <a:avLst/>
          </a:prstGeom>
          <a:solidFill>
            <a:srgbClr val="D97757">
              <a:alpha val="60000"/>
            </a:srgbClr>
          </a:solidFill>
          <a:ln>
            <a:noFill/>
          </a:ln>
        </p:spPr>
        <p:txBody>
          <a:bodyPr/>
          <a:lstStyle/>
          <a:p>
            <a:endParaRPr lang="en-US"/>
          </a:p>
        </p:txBody>
      </p:sp>
      <p:sp>
        <p:nvSpPr>
          <p:cNvPr id="17" name="TextBox 17"/>
          <p:cNvSpPr txBox="1"/>
          <p:nvPr/>
        </p:nvSpPr>
        <p:spPr>
          <a:xfrm>
            <a:off x="5572506" y="632460"/>
            <a:ext cx="1046988" cy="243840"/>
          </a:xfrm>
          <a:prstGeom prst="rect">
            <a:avLst/>
          </a:prstGeom>
          <a:noFill/>
          <a:ln>
            <a:noFill/>
          </a:ln>
        </p:spPr>
        <p:txBody>
          <a:bodyPr wrap="none" lIns="0" tIns="0" rIns="0" bIns="0" anchor="t" anchorCtr="0">
            <a:spAutoFit/>
          </a:bodyPr>
          <a:lstStyle/>
          <a:p>
            <a:pPr algn="ctr"/>
            <a:r>
              <a:rPr lang="zh-CN" sz="1200" dirty="0">
                <a:solidFill>
                  <a:srgbClr val="D97757"/>
                </a:solidFill>
                <a:latin typeface="Arial"/>
                <a:ea typeface="Microsoft YaHei"/>
                <a:cs typeface="Arial"/>
              </a:rPr>
              <a:t>DELIVERABLE</a:t>
            </a:r>
          </a:p>
        </p:txBody>
      </p:sp>
      <p:sp>
        <p:nvSpPr>
          <p:cNvPr id="18" name="TextBox 18"/>
          <p:cNvSpPr txBox="1"/>
          <p:nvPr/>
        </p:nvSpPr>
        <p:spPr>
          <a:xfrm>
            <a:off x="4232442" y="993458"/>
            <a:ext cx="3727116" cy="640080"/>
          </a:xfrm>
          <a:prstGeom prst="rect">
            <a:avLst/>
          </a:prstGeom>
          <a:noFill/>
          <a:ln>
            <a:noFill/>
          </a:ln>
        </p:spPr>
        <p:txBody>
          <a:bodyPr wrap="none" lIns="0" tIns="0" rIns="0" bIns="0" anchor="t" anchorCtr="0">
            <a:spAutoFit/>
          </a:bodyPr>
          <a:lstStyle/>
          <a:p>
            <a:pPr algn="ctr"/>
            <a:r>
              <a:rPr lang="zh-CN" sz="3150" b="1" dirty="0">
                <a:solidFill>
                  <a:srgbClr val="FFFFFF"/>
                </a:solidFill>
                <a:latin typeface="Arial"/>
                <a:ea typeface="Microsoft YaHei"/>
                <a:cs typeface="Arial"/>
              </a:rPr>
              <a:t>Public Repo Link</a:t>
            </a:r>
          </a:p>
        </p:txBody>
      </p:sp>
      <p:sp>
        <p:nvSpPr>
          <p:cNvPr id="19" name="TextBox 19"/>
          <p:cNvSpPr txBox="1"/>
          <p:nvPr/>
        </p:nvSpPr>
        <p:spPr>
          <a:xfrm>
            <a:off x="3954682" y="1469708"/>
            <a:ext cx="4282635" cy="640080"/>
          </a:xfrm>
          <a:prstGeom prst="rect">
            <a:avLst/>
          </a:prstGeom>
          <a:noFill/>
          <a:ln>
            <a:noFill/>
          </a:ln>
        </p:spPr>
        <p:txBody>
          <a:bodyPr wrap="none" lIns="0" tIns="0" rIns="0" bIns="0" anchor="t" anchorCtr="0">
            <a:spAutoFit/>
          </a:bodyPr>
          <a:lstStyle/>
          <a:p>
            <a:pPr algn="ctr"/>
            <a:r>
              <a:rPr lang="zh-CN" sz="3150" b="1" dirty="0">
                <a:solidFill>
                  <a:srgbClr val="D97757"/>
                </a:solidFill>
                <a:latin typeface="Arial"/>
                <a:ea typeface="Microsoft YaHei"/>
                <a:cs typeface="Arial"/>
              </a:rPr>
              <a:t>by Friday, April 10</a:t>
            </a:r>
          </a:p>
        </p:txBody>
      </p:sp>
      <p:sp>
        <p:nvSpPr>
          <p:cNvPr id="20" name="Rectangle 20"/>
          <p:cNvSpPr/>
          <p:nvPr/>
        </p:nvSpPr>
        <p:spPr>
          <a:xfrm>
            <a:off x="4667250" y="2000250"/>
            <a:ext cx="2857500" cy="28575"/>
          </a:xfrm>
          <a:prstGeom prst="rect">
            <a:avLst/>
          </a:prstGeom>
          <a:gradFill>
            <a:gsLst>
              <a:gs pos="0">
                <a:srgbClr val="D97757"/>
              </a:gs>
              <a:gs pos="100000">
                <a:srgbClr val="E8956F"/>
              </a:gs>
            </a:gsLst>
            <a:lin ang="0" scaled="1"/>
          </a:gradFill>
          <a:ln>
            <a:noFill/>
          </a:ln>
        </p:spPr>
        <p:txBody>
          <a:bodyPr/>
          <a:lstStyle/>
          <a:p>
            <a:endParaRPr lang="en-US"/>
          </a:p>
        </p:txBody>
      </p:sp>
      <p:sp>
        <p:nvSpPr>
          <p:cNvPr id="21" name="TextBox 21"/>
          <p:cNvSpPr txBox="1"/>
          <p:nvPr/>
        </p:nvSpPr>
        <p:spPr>
          <a:xfrm>
            <a:off x="3782139" y="2362200"/>
            <a:ext cx="4627721" cy="304800"/>
          </a:xfrm>
          <a:prstGeom prst="rect">
            <a:avLst/>
          </a:prstGeom>
          <a:noFill/>
          <a:ln>
            <a:noFill/>
          </a:ln>
        </p:spPr>
        <p:txBody>
          <a:bodyPr wrap="none" lIns="0" tIns="0" rIns="0" bIns="0" anchor="t" anchorCtr="0">
            <a:spAutoFit/>
          </a:bodyPr>
          <a:lstStyle/>
          <a:p>
            <a:pPr algn="ctr"/>
            <a:r>
              <a:rPr lang="zh-CN" sz="1500" dirty="0">
                <a:solidFill>
                  <a:srgbClr val="FFFFFF">
                    <a:alpha val="90000"/>
                  </a:srgbClr>
                </a:solidFill>
                <a:latin typeface="Arial"/>
                <a:ea typeface="Microsoft YaHei"/>
                <a:cs typeface="Arial"/>
              </a:rPr>
              <a:t>Email Dr. Q the link. CC all group members.</a:t>
            </a:r>
          </a:p>
        </p:txBody>
      </p:sp>
      <p:sp>
        <p:nvSpPr>
          <p:cNvPr id="22" name="TextBox 22"/>
          <p:cNvSpPr txBox="1"/>
          <p:nvPr/>
        </p:nvSpPr>
        <p:spPr>
          <a:xfrm>
            <a:off x="3880437" y="2711768"/>
            <a:ext cx="4431125" cy="274320"/>
          </a:xfrm>
          <a:prstGeom prst="rect">
            <a:avLst/>
          </a:prstGeom>
          <a:noFill/>
          <a:ln>
            <a:noFill/>
          </a:ln>
        </p:spPr>
        <p:txBody>
          <a:bodyPr wrap="none" lIns="0" tIns="0" rIns="0" bIns="0" anchor="t" anchorCtr="0">
            <a:spAutoFit/>
          </a:bodyPr>
          <a:lstStyle/>
          <a:p>
            <a:pPr algn="ctr"/>
            <a:r>
              <a:rPr lang="zh-CN" sz="1350" dirty="0">
                <a:solidFill>
                  <a:srgbClr val="FFFFFF">
                    <a:alpha val="70000"/>
                  </a:srgbClr>
                </a:solidFill>
                <a:latin typeface="Arial"/>
                <a:ea typeface="Microsoft YaHei"/>
                <a:cs typeface="Arial"/>
              </a:rPr>
              <a:t>Plan lives in the repo. No separate plan email.</a:t>
            </a:r>
          </a:p>
        </p:txBody>
      </p:sp>
      <p:sp>
        <p:nvSpPr>
          <p:cNvPr id="23" name="Rectangle 23"/>
          <p:cNvSpPr/>
          <p:nvPr/>
        </p:nvSpPr>
        <p:spPr>
          <a:xfrm>
            <a:off x="2762250" y="3238500"/>
            <a:ext cx="6667500" cy="1333500"/>
          </a:xfrm>
          <a:prstGeom prst="rect">
            <a:avLst/>
          </a:prstGeom>
          <a:solidFill>
            <a:srgbClr val="FFFFFF">
              <a:alpha val="5000"/>
            </a:srgbClr>
          </a:solidFill>
          <a:ln w="9525">
            <a:solidFill>
              <a:srgbClr val="FFFFFF">
                <a:alpha val="10000"/>
              </a:srgbClr>
            </a:solidFill>
          </a:ln>
        </p:spPr>
        <p:txBody>
          <a:bodyPr/>
          <a:lstStyle/>
          <a:p>
            <a:endParaRPr lang="en-US"/>
          </a:p>
        </p:txBody>
      </p:sp>
      <p:sp>
        <p:nvSpPr>
          <p:cNvPr id="24" name="TextBox 24"/>
          <p:cNvSpPr txBox="1"/>
          <p:nvPr/>
        </p:nvSpPr>
        <p:spPr>
          <a:xfrm>
            <a:off x="5566466" y="3426142"/>
            <a:ext cx="105906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Resources</a:t>
            </a:r>
          </a:p>
        </p:txBody>
      </p:sp>
      <p:sp>
        <p:nvSpPr>
          <p:cNvPr id="25" name="Freeform 25"/>
          <p:cNvSpPr/>
          <p:nvPr/>
        </p:nvSpPr>
        <p:spPr>
          <a:xfrm>
            <a:off x="3238500" y="3790950"/>
            <a:ext cx="228600" cy="185738"/>
          </a:xfrm>
          <a:custGeom>
            <a:avLst/>
            <a:gdLst/>
            <a:ahLst/>
            <a:cxnLst/>
            <a:rect l="l" t="t" r="r" b="b"/>
            <a:pathLst>
              <a:path w="228600" h="185738">
                <a:moveTo>
                  <a:pt x="0" y="0"/>
                </a:moveTo>
                <a:lnTo>
                  <a:pt x="51232" y="0"/>
                </a:lnTo>
                <a:cubicBezTo>
                  <a:pt x="64169" y="0"/>
                  <a:pt x="76577" y="5139"/>
                  <a:pt x="85725" y="14288"/>
                </a:cubicBezTo>
                <a:cubicBezTo>
                  <a:pt x="94873" y="23436"/>
                  <a:pt x="100012" y="35843"/>
                  <a:pt x="100012" y="48781"/>
                </a:cubicBezTo>
                <a:lnTo>
                  <a:pt x="100012" y="128588"/>
                </a:lnTo>
                <a:lnTo>
                  <a:pt x="128588" y="128588"/>
                </a:lnTo>
                <a:lnTo>
                  <a:pt x="128588" y="48781"/>
                </a:lnTo>
                <a:cubicBezTo>
                  <a:pt x="128588" y="35843"/>
                  <a:pt x="133727" y="23436"/>
                  <a:pt x="142875" y="14288"/>
                </a:cubicBezTo>
                <a:cubicBezTo>
                  <a:pt x="152023" y="5139"/>
                  <a:pt x="164431" y="0"/>
                  <a:pt x="177368" y="0"/>
                </a:cubicBezTo>
                <a:lnTo>
                  <a:pt x="228600" y="0"/>
                </a:lnTo>
                <a:lnTo>
                  <a:pt x="228600" y="157162"/>
                </a:lnTo>
                <a:lnTo>
                  <a:pt x="157162" y="157162"/>
                </a:lnTo>
                <a:lnTo>
                  <a:pt x="128588" y="185738"/>
                </a:lnTo>
                <a:lnTo>
                  <a:pt x="100012" y="185738"/>
                </a:lnTo>
                <a:lnTo>
                  <a:pt x="71438" y="157162"/>
                </a:lnTo>
                <a:lnTo>
                  <a:pt x="0" y="157162"/>
                </a:lnTo>
                <a:lnTo>
                  <a:pt x="0" y="0"/>
                </a:lnTo>
                <a:close/>
              </a:path>
            </a:pathLst>
          </a:custGeom>
          <a:solidFill>
            <a:srgbClr val="4A90D9"/>
          </a:solidFill>
          <a:ln>
            <a:noFill/>
          </a:ln>
        </p:spPr>
        <p:txBody>
          <a:bodyPr/>
          <a:lstStyle/>
          <a:p>
            <a:endParaRPr lang="en-US"/>
          </a:p>
        </p:txBody>
      </p:sp>
      <p:sp>
        <p:nvSpPr>
          <p:cNvPr id="26" name="TextBox 26"/>
          <p:cNvSpPr txBox="1"/>
          <p:nvPr/>
        </p:nvSpPr>
        <p:spPr>
          <a:xfrm>
            <a:off x="3556635" y="3804285"/>
            <a:ext cx="3193923" cy="243840"/>
          </a:xfrm>
          <a:prstGeom prst="rect">
            <a:avLst/>
          </a:prstGeom>
          <a:noFill/>
          <a:ln>
            <a:noFill/>
          </a:ln>
        </p:spPr>
        <p:txBody>
          <a:bodyPr wrap="none" lIns="0" tIns="0" rIns="0" bIns="0" anchor="t" anchorCtr="0">
            <a:spAutoFit/>
          </a:bodyPr>
          <a:lstStyle/>
          <a:p>
            <a:pPr algn="l"/>
            <a:r>
              <a:rPr lang="zh-CN" sz="1200" dirty="0">
                <a:solidFill>
                  <a:srgbClr val="FFFFFF">
                    <a:alpha val="80000"/>
                  </a:srgbClr>
                </a:solidFill>
                <a:latin typeface="Arial"/>
                <a:ea typeface="Microsoft YaHei"/>
                <a:cs typeface="Arial"/>
              </a:rPr>
              <a:t>Pre-watch video (re-watch anytime)</a:t>
            </a:r>
          </a:p>
        </p:txBody>
      </p:sp>
      <p:sp>
        <p:nvSpPr>
          <p:cNvPr id="27" name="Freeform 27"/>
          <p:cNvSpPr/>
          <p:nvPr/>
        </p:nvSpPr>
        <p:spPr>
          <a:xfrm>
            <a:off x="3238500" y="4076700"/>
            <a:ext cx="228600" cy="185738"/>
          </a:xfrm>
          <a:custGeom>
            <a:avLst/>
            <a:gdLst/>
            <a:ahLst/>
            <a:cxnLst/>
            <a:rect l="l" t="t" r="r" b="b"/>
            <a:pathLst>
              <a:path w="228600" h="185738">
                <a:moveTo>
                  <a:pt x="0" y="0"/>
                </a:moveTo>
                <a:lnTo>
                  <a:pt x="51232" y="0"/>
                </a:lnTo>
                <a:cubicBezTo>
                  <a:pt x="64169" y="0"/>
                  <a:pt x="76577" y="5139"/>
                  <a:pt x="85725" y="14288"/>
                </a:cubicBezTo>
                <a:cubicBezTo>
                  <a:pt x="94873" y="23436"/>
                  <a:pt x="100012" y="35843"/>
                  <a:pt x="100012" y="48781"/>
                </a:cubicBezTo>
                <a:lnTo>
                  <a:pt x="100012" y="128588"/>
                </a:lnTo>
                <a:lnTo>
                  <a:pt x="128588" y="128588"/>
                </a:lnTo>
                <a:lnTo>
                  <a:pt x="128588" y="48781"/>
                </a:lnTo>
                <a:cubicBezTo>
                  <a:pt x="128588" y="35843"/>
                  <a:pt x="133727" y="23436"/>
                  <a:pt x="142875" y="14288"/>
                </a:cubicBezTo>
                <a:cubicBezTo>
                  <a:pt x="152023" y="5139"/>
                  <a:pt x="164431" y="0"/>
                  <a:pt x="177368" y="0"/>
                </a:cubicBezTo>
                <a:lnTo>
                  <a:pt x="228600" y="0"/>
                </a:lnTo>
                <a:lnTo>
                  <a:pt x="228600" y="157162"/>
                </a:lnTo>
                <a:lnTo>
                  <a:pt x="157162" y="157162"/>
                </a:lnTo>
                <a:lnTo>
                  <a:pt x="128588" y="185738"/>
                </a:lnTo>
                <a:lnTo>
                  <a:pt x="100012" y="185738"/>
                </a:lnTo>
                <a:lnTo>
                  <a:pt x="71438" y="157162"/>
                </a:lnTo>
                <a:lnTo>
                  <a:pt x="0" y="157162"/>
                </a:lnTo>
                <a:lnTo>
                  <a:pt x="0" y="0"/>
                </a:lnTo>
                <a:close/>
              </a:path>
            </a:pathLst>
          </a:custGeom>
          <a:solidFill>
            <a:srgbClr val="10B981"/>
          </a:solidFill>
          <a:ln>
            <a:noFill/>
          </a:ln>
        </p:spPr>
        <p:txBody>
          <a:bodyPr/>
          <a:lstStyle/>
          <a:p>
            <a:endParaRPr lang="en-US"/>
          </a:p>
        </p:txBody>
      </p:sp>
      <p:sp>
        <p:nvSpPr>
          <p:cNvPr id="28" name="TextBox 28"/>
          <p:cNvSpPr txBox="1"/>
          <p:nvPr/>
        </p:nvSpPr>
        <p:spPr>
          <a:xfrm>
            <a:off x="3556635" y="4090035"/>
            <a:ext cx="4622292" cy="243840"/>
          </a:xfrm>
          <a:prstGeom prst="rect">
            <a:avLst/>
          </a:prstGeom>
          <a:noFill/>
          <a:ln>
            <a:noFill/>
          </a:ln>
        </p:spPr>
        <p:txBody>
          <a:bodyPr wrap="none" lIns="0" tIns="0" rIns="0" bIns="0" anchor="t" anchorCtr="0">
            <a:spAutoFit/>
          </a:bodyPr>
          <a:lstStyle/>
          <a:p>
            <a:pPr algn="l"/>
            <a:r>
              <a:rPr lang="zh-CN" sz="1200" dirty="0">
                <a:solidFill>
                  <a:srgbClr val="FFFFFF">
                    <a:alpha val="80000"/>
                  </a:srgbClr>
                </a:solidFill>
                <a:latin typeface="Arial"/>
                <a:ea typeface="Microsoft YaHei"/>
                <a:cs typeface="Arial"/>
              </a:rPr>
              <a:t>Pro Git book: git-scm.com/book (free, chapters 1-3)</a:t>
            </a:r>
          </a:p>
        </p:txBody>
      </p:sp>
      <p:sp>
        <p:nvSpPr>
          <p:cNvPr id="29" name="Freeform 29"/>
          <p:cNvSpPr/>
          <p:nvPr/>
        </p:nvSpPr>
        <p:spPr>
          <a:xfrm>
            <a:off x="3238500" y="4362450"/>
            <a:ext cx="228600" cy="185738"/>
          </a:xfrm>
          <a:custGeom>
            <a:avLst/>
            <a:gdLst/>
            <a:ahLst/>
            <a:cxnLst/>
            <a:rect l="l" t="t" r="r" b="b"/>
            <a:pathLst>
              <a:path w="228600" h="185738">
                <a:moveTo>
                  <a:pt x="0" y="0"/>
                </a:moveTo>
                <a:lnTo>
                  <a:pt x="51232" y="0"/>
                </a:lnTo>
                <a:cubicBezTo>
                  <a:pt x="64169" y="0"/>
                  <a:pt x="76577" y="5139"/>
                  <a:pt x="85725" y="14288"/>
                </a:cubicBezTo>
                <a:cubicBezTo>
                  <a:pt x="94873" y="23436"/>
                  <a:pt x="100012" y="35843"/>
                  <a:pt x="100012" y="48781"/>
                </a:cubicBezTo>
                <a:lnTo>
                  <a:pt x="100012" y="128588"/>
                </a:lnTo>
                <a:lnTo>
                  <a:pt x="128588" y="128588"/>
                </a:lnTo>
                <a:lnTo>
                  <a:pt x="128588" y="48781"/>
                </a:lnTo>
                <a:cubicBezTo>
                  <a:pt x="128588" y="35843"/>
                  <a:pt x="133727" y="23436"/>
                  <a:pt x="142875" y="14288"/>
                </a:cubicBezTo>
                <a:cubicBezTo>
                  <a:pt x="152023" y="5139"/>
                  <a:pt x="164431" y="0"/>
                  <a:pt x="177368" y="0"/>
                </a:cubicBezTo>
                <a:lnTo>
                  <a:pt x="228600" y="0"/>
                </a:lnTo>
                <a:lnTo>
                  <a:pt x="228600" y="157162"/>
                </a:lnTo>
                <a:lnTo>
                  <a:pt x="157162" y="157162"/>
                </a:lnTo>
                <a:lnTo>
                  <a:pt x="128588" y="185738"/>
                </a:lnTo>
                <a:lnTo>
                  <a:pt x="100012" y="185738"/>
                </a:lnTo>
                <a:lnTo>
                  <a:pt x="71438" y="157162"/>
                </a:lnTo>
                <a:lnTo>
                  <a:pt x="0" y="157162"/>
                </a:lnTo>
                <a:lnTo>
                  <a:pt x="0" y="0"/>
                </a:lnTo>
                <a:close/>
              </a:path>
            </a:pathLst>
          </a:custGeom>
          <a:solidFill>
            <a:srgbClr val="D97757"/>
          </a:solidFill>
          <a:ln>
            <a:noFill/>
          </a:ln>
        </p:spPr>
        <p:txBody>
          <a:bodyPr/>
          <a:lstStyle/>
          <a:p>
            <a:endParaRPr lang="en-US"/>
          </a:p>
        </p:txBody>
      </p:sp>
      <p:sp>
        <p:nvSpPr>
          <p:cNvPr id="30" name="TextBox 30"/>
          <p:cNvSpPr txBox="1"/>
          <p:nvPr/>
        </p:nvSpPr>
        <p:spPr>
          <a:xfrm>
            <a:off x="3556635" y="4375785"/>
            <a:ext cx="2589276" cy="243840"/>
          </a:xfrm>
          <a:prstGeom prst="rect">
            <a:avLst/>
          </a:prstGeom>
          <a:noFill/>
          <a:ln>
            <a:noFill/>
          </a:ln>
        </p:spPr>
        <p:txBody>
          <a:bodyPr wrap="none" lIns="0" tIns="0" rIns="0" bIns="0" anchor="t" anchorCtr="0">
            <a:spAutoFit/>
          </a:bodyPr>
          <a:lstStyle/>
          <a:p>
            <a:pPr algn="l"/>
            <a:r>
              <a:rPr lang="zh-CN" sz="1200" dirty="0">
                <a:solidFill>
                  <a:srgbClr val="FFFFFF">
                    <a:alpha val="80000"/>
                  </a:srgbClr>
                </a:solidFill>
                <a:latin typeface="Arial"/>
                <a:ea typeface="Microsoft YaHei"/>
                <a:cs typeface="Arial"/>
              </a:rPr>
              <a:t>GitHub Docs: docs.github.com</a:t>
            </a:r>
          </a:p>
        </p:txBody>
      </p:sp>
      <p:sp>
        <p:nvSpPr>
          <p:cNvPr id="31" name="Rectangle 31"/>
          <p:cNvSpPr/>
          <p:nvPr/>
        </p:nvSpPr>
        <p:spPr>
          <a:xfrm>
            <a:off x="3238500" y="4857750"/>
            <a:ext cx="5715000" cy="523875"/>
          </a:xfrm>
          <a:prstGeom prst="rect">
            <a:avLst/>
          </a:prstGeom>
          <a:solidFill>
            <a:srgbClr val="D97757">
              <a:alpha val="15000"/>
            </a:srgbClr>
          </a:solidFill>
          <a:ln w="9525">
            <a:solidFill>
              <a:srgbClr val="D97757"/>
            </a:solidFill>
          </a:ln>
        </p:spPr>
        <p:txBody>
          <a:bodyPr/>
          <a:lstStyle/>
          <a:p>
            <a:endParaRPr lang="en-US"/>
          </a:p>
        </p:txBody>
      </p:sp>
      <p:sp>
        <p:nvSpPr>
          <p:cNvPr id="32" name="Freeform 32"/>
          <p:cNvSpPr/>
          <p:nvPr/>
        </p:nvSpPr>
        <p:spPr>
          <a:xfrm>
            <a:off x="3478099" y="4981575"/>
            <a:ext cx="282803" cy="268960"/>
          </a:xfrm>
          <a:custGeom>
            <a:avLst/>
            <a:gdLst/>
            <a:ahLst/>
            <a:cxnLst/>
            <a:rect l="l" t="t" r="r" b="b"/>
            <a:pathLst>
              <a:path w="282803" h="268960">
                <a:moveTo>
                  <a:pt x="159261" y="0"/>
                </a:moveTo>
                <a:lnTo>
                  <a:pt x="123542" y="0"/>
                </a:lnTo>
                <a:lnTo>
                  <a:pt x="96984" y="81739"/>
                </a:lnTo>
                <a:lnTo>
                  <a:pt x="11038" y="81739"/>
                </a:lnTo>
                <a:lnTo>
                  <a:pt x="0" y="115710"/>
                </a:lnTo>
                <a:lnTo>
                  <a:pt x="69532" y="166227"/>
                </a:lnTo>
                <a:lnTo>
                  <a:pt x="42973" y="247965"/>
                </a:lnTo>
                <a:lnTo>
                  <a:pt x="71871" y="268960"/>
                </a:lnTo>
                <a:lnTo>
                  <a:pt x="141402" y="218443"/>
                </a:lnTo>
                <a:lnTo>
                  <a:pt x="210933" y="268960"/>
                </a:lnTo>
                <a:lnTo>
                  <a:pt x="239830" y="247965"/>
                </a:lnTo>
                <a:lnTo>
                  <a:pt x="213271" y="166227"/>
                </a:lnTo>
                <a:lnTo>
                  <a:pt x="282803" y="115709"/>
                </a:lnTo>
                <a:lnTo>
                  <a:pt x="271764" y="81739"/>
                </a:lnTo>
                <a:lnTo>
                  <a:pt x="185819" y="81739"/>
                </a:lnTo>
                <a:lnTo>
                  <a:pt x="159261" y="0"/>
                </a:lnTo>
                <a:close/>
              </a:path>
            </a:pathLst>
          </a:custGeom>
          <a:solidFill>
            <a:srgbClr val="D97757"/>
          </a:solidFill>
          <a:ln>
            <a:noFill/>
          </a:ln>
        </p:spPr>
        <p:txBody>
          <a:bodyPr/>
          <a:lstStyle/>
          <a:p>
            <a:endParaRPr lang="en-US"/>
          </a:p>
        </p:txBody>
      </p:sp>
      <p:sp>
        <p:nvSpPr>
          <p:cNvPr id="33" name="TextBox 33"/>
          <p:cNvSpPr txBox="1"/>
          <p:nvPr/>
        </p:nvSpPr>
        <p:spPr>
          <a:xfrm>
            <a:off x="3888105" y="4997768"/>
            <a:ext cx="2787734"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Star Dr. Q's q-skills repo:</a:t>
            </a:r>
          </a:p>
        </p:txBody>
      </p:sp>
      <p:sp>
        <p:nvSpPr>
          <p:cNvPr id="34" name="TextBox 34"/>
          <p:cNvSpPr txBox="1"/>
          <p:nvPr/>
        </p:nvSpPr>
        <p:spPr>
          <a:xfrm>
            <a:off x="3890010" y="5185410"/>
            <a:ext cx="2484120" cy="243840"/>
          </a:xfrm>
          <a:prstGeom prst="rect">
            <a:avLst/>
          </a:prstGeom>
          <a:noFill/>
          <a:ln>
            <a:noFill/>
          </a:ln>
        </p:spPr>
        <p:txBody>
          <a:bodyPr wrap="none" lIns="0" tIns="0" rIns="0" bIns="0" anchor="t" anchorCtr="0">
            <a:spAutoFit/>
          </a:bodyPr>
          <a:lstStyle/>
          <a:p>
            <a:pPr algn="l"/>
            <a:r>
              <a:rPr lang="zh-CN" sz="1200" dirty="0">
                <a:solidFill>
                  <a:srgbClr val="D97757"/>
                </a:solidFill>
                <a:latin typeface="Arial"/>
                <a:ea typeface="Microsoft YaHei"/>
                <a:cs typeface="Arial"/>
              </a:rPr>
              <a:t>github.com/TyrealQ/q-skills</a:t>
            </a:r>
          </a:p>
        </p:txBody>
      </p:sp>
      <p:sp>
        <p:nvSpPr>
          <p:cNvPr id="35" name="Rectangle 35"/>
          <p:cNvSpPr/>
          <p:nvPr/>
        </p:nvSpPr>
        <p:spPr>
          <a:xfrm>
            <a:off x="571500" y="5810250"/>
            <a:ext cx="11049000" cy="9525"/>
          </a:xfrm>
          <a:prstGeom prst="rect">
            <a:avLst/>
          </a:prstGeom>
          <a:solidFill>
            <a:srgbClr val="FFFFFF">
              <a:alpha val="10000"/>
            </a:srgbClr>
          </a:solidFill>
          <a:ln>
            <a:noFill/>
          </a:ln>
        </p:spPr>
        <p:txBody>
          <a:bodyPr/>
          <a:lstStyle/>
          <a:p>
            <a:endParaRPr lang="en-US"/>
          </a:p>
        </p:txBody>
      </p:sp>
      <p:sp>
        <p:nvSpPr>
          <p:cNvPr id="36" name="TextBox 36"/>
          <p:cNvSpPr txBox="1"/>
          <p:nvPr/>
        </p:nvSpPr>
        <p:spPr>
          <a:xfrm>
            <a:off x="558165" y="6077902"/>
            <a:ext cx="2219611"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rial"/>
                <a:ea typeface="Microsoft YaHei"/>
                <a:cs typeface="Arial"/>
              </a:rPr>
              <a:t>KIN 7518 Social Issues in Sport</a:t>
            </a:r>
          </a:p>
        </p:txBody>
      </p:sp>
      <p:sp>
        <p:nvSpPr>
          <p:cNvPr id="37" name="TextBox 37"/>
          <p:cNvSpPr txBox="1"/>
          <p:nvPr/>
        </p:nvSpPr>
        <p:spPr>
          <a:xfrm>
            <a:off x="5875639" y="6077902"/>
            <a:ext cx="440722"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Dr. Q</a:t>
            </a:r>
          </a:p>
        </p:txBody>
      </p:sp>
      <p:sp>
        <p:nvSpPr>
          <p:cNvPr id="38" name="TextBox 38"/>
          <p:cNvSpPr txBox="1"/>
          <p:nvPr/>
        </p:nvSpPr>
        <p:spPr>
          <a:xfrm>
            <a:off x="10587371" y="6077902"/>
            <a:ext cx="1046464" cy="213360"/>
          </a:xfrm>
          <a:prstGeom prst="rect">
            <a:avLst/>
          </a:prstGeom>
          <a:noFill/>
          <a:ln>
            <a:noFill/>
          </a:ln>
        </p:spPr>
        <p:txBody>
          <a:bodyPr wrap="none" lIns="0" tIns="0" rIns="0" bIns="0" anchor="t" anchorCtr="0">
            <a:spAutoFit/>
          </a:bodyPr>
          <a:lstStyle/>
          <a:p>
            <a:pPr algn="r"/>
            <a:r>
              <a:rPr lang="zh-CN" sz="1050" dirty="0">
                <a:solidFill>
                  <a:srgbClr val="64748B"/>
                </a:solidFill>
                <a:latin typeface="Arial"/>
                <a:ea typeface="Microsoft YaHei"/>
                <a:cs typeface="Arial"/>
              </a:rPr>
              <a:t>yqian@lsu.edu</a:t>
            </a:r>
          </a:p>
        </p:txBody>
      </p:sp>
      <p:sp>
        <p:nvSpPr>
          <p:cNvPr id="39" name="TextBox 39"/>
          <p:cNvSpPr txBox="1"/>
          <p:nvPr/>
        </p:nvSpPr>
        <p:spPr>
          <a:xfrm>
            <a:off x="5864138" y="6411278"/>
            <a:ext cx="463725"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rial"/>
                <a:ea typeface="Microsoft YaHei"/>
                <a:cs typeface="Arial"/>
              </a:rPr>
              <a:t>15 / 15</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13872</Words>
  <Application>Microsoft Office PowerPoint</Application>
  <PresentationFormat>Widescreen</PresentationFormat>
  <Paragraphs>454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Yizhou Qian</cp:lastModifiedBy>
  <cp:revision>2</cp:revision>
  <dcterms:created xsi:type="dcterms:W3CDTF">2013-01-27T09:14:16Z</dcterms:created>
  <dcterms:modified xsi:type="dcterms:W3CDTF">2026-04-07T18:42:42Z</dcterms:modified>
  <cp:category/>
</cp:coreProperties>
</file>